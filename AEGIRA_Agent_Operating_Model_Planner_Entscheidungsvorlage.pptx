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Operating Model Planner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Entscheidungsvorlage — Option B (Azure-native) plus Claude-Code-Harness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657600" cy="0"/>
          </a:xfrm>
          <a:prstGeom prst="line">
            <a:avLst/>
          </a:prstGeom>
          <a:noFill/>
          <a:ln w="19050">
            <a:solidFill>
              <a:srgbClr val="E6B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Vorgelegt: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Mai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Vorgelegt durch: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exmachinAI GmbH · Michael Veil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HITL-PM / Steering Committee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bauen einen ZGPM-konformen Planner als Azure-native App, der portable Agent-Harnesses für Claude Code erzeugt — kompiliert in einem Repository auf GitHub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2679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679192" cy="731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276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Multi-Agenten-Planner (Azure) erzeugt aus Projektaufträgen ZGPM-konforme Pläne und kompiliert sie zu portablen Claude-Code-Harnesses.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679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463040"/>
            <a:ext cx="2679192" cy="731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6276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64992" y="2029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4231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spezialisierte Agenten plus HITL-PM, McKinsey-MECE-Treue, ZGPM-Methodik, 13 Pflicht-Patterns, 25 ausgeschlossene Anti-Patterns.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1463040"/>
            <a:ext cx="2679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1463040"/>
            <a:ext cx="2679192" cy="731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16276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27064" y="2029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7064" y="24231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Solo-Builder und PMOs erhalten methodisch saubere Pläne, ohne Excel-Kämpfe — Harness läuft sofort in Claude Code, Support durch Cowork.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Empfehlung statt drei Optionen — wir bauen Option B, weil sie das Solo-Builder-Problem strukturell löst.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Bauen — Option B, schrittweise: erst MCP, dann Harness, dann Planner-App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4206240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Planning Agent 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 Multi-Agent-Planner, der portable Claude-Code-Harnesses produziert.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54864" cy="9144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90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4924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Strukturelles Problem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4924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Solo-Builder fehlt das Projektteam. Multi-Agent-Planning ersetzt Kick-off, Architektur-Workshop, Rollenklärung.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450592"/>
            <a:ext cx="54864" cy="9144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5237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4924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Methodische Verteidigung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49240" y="28163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ZGPM × McKinsey × AEGIRA-Constitution sind nicht beliebig kopierbar — sie sind das eigentliche Asset.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483864"/>
            <a:ext cx="54864" cy="9144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5570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49240" y="3529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Plattform-Hebel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49240" y="384962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als Runtime + Cowork als Concierge erschließt sofort eine reife Distribution ohne eigene Infrastruktur.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voneinander unabhängige Begründungen tragen dieselbe Empfehlung. Risiko bleibt: Token-Kosten, Cowork-Reife.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Kräfte erzeugen ein Zeitfenster — wer den Plan-zu-Harness-Compiler zuerst hat, prägt den Markt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109728" cy="9144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EVENT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02.12.2027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08960" y="1572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0896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GPAI-Pflichten greifen. Unternehmen suchen audit-fähige Trust-Infrastruktur — kein „later”.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8412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14600"/>
            <a:ext cx="109728" cy="9144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MARKT-LÜCKE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2624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Solo-Builder ohne Team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08960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Agentic-AI-Welt startet technisch. Projektplan-Disziplin fehlt. „Agenten organisieren” &gt; „Agenten bauen”.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66160"/>
            <a:ext cx="109728" cy="9144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675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reif für Skill+Subagent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0896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Plugin-/Skill-Architektur stabilisiert. Cowork als Concierge erschließt non-developer Personas.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Zeitfenster ~18 Monate. Danach reife Anbieter und/oder regulatorischer Druck verschließen die Lücke.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Entscheidungen heute — sie tragen den Rest des Programms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7772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Bauen wir Option B als Azure-native App und portablen Claude-Code-Harness?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20840" y="1828800"/>
            <a:ext cx="1783080" cy="2743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GO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77440"/>
            <a:ext cx="7772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06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5146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Akzeptieren wir Claude Code als Runtime und Cowork als Concierge — kein Eigen-Runtime, kein LangGraph?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2834640"/>
            <a:ext cx="1783080" cy="2743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YES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83280"/>
            <a:ext cx="7772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118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35204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Genehmigen wir Apache-2.0 als Lizenz und privat-only Repos zum Start?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20840" y="3840480"/>
            <a:ext cx="1783080" cy="2743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JA = grünes Licht für Phase 1 (4 Wochen MCP + Harness-Template). Phase 2 (Azure-App) folgt nach Review.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Wege wurden geprüft — Option B gewinnt auf vier von fünf Dimensionen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06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KURZBESCHREIBUNG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550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(1–5)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83080"/>
            <a:ext cx="73152" cy="777240"/>
          </a:xfrm>
          <a:prstGeom prst="rect">
            <a:avLst/>
          </a:prstGeom>
          <a:solidFill>
            <a:srgbClr val="5B6B8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ZGPM-Compiler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bleibt Single Source. Ein Compiler liest die Tabelle, erzeugt Harness.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89280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565392" y="189280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189280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894576" y="189280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059168" y="189280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0116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65392" y="20116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9984" y="20116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94576" y="20116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9168" y="20116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213055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6565392" y="213055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6729984" y="213055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894576" y="213055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059168" y="213055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22494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6565392" y="22494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6729984" y="22494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6894576" y="22494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7059168" y="224942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236829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Shape 32"/>
          <p:cNvSpPr/>
          <p:nvPr/>
        </p:nvSpPr>
        <p:spPr>
          <a:xfrm>
            <a:off x="6565392" y="236829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984" y="236829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6894576" y="236829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7059168" y="236829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2651760"/>
            <a:ext cx="8412480" cy="777240"/>
          </a:xfrm>
          <a:prstGeom prst="rect">
            <a:avLst/>
          </a:prstGeom>
          <a:solidFill>
            <a:srgbClr val="FFEFE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2651760"/>
            <a:ext cx="73152" cy="77724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2743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Planning Board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06040" y="2743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Agenten + HITL-PM erzeugen Plan kollaborativ. Azure-native App.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2761488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5392" y="2761488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44" name="Shape 42"/>
          <p:cNvSpPr/>
          <p:nvPr/>
        </p:nvSpPr>
        <p:spPr>
          <a:xfrm>
            <a:off x="6729984" y="2761488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45" name="Shape 43"/>
          <p:cNvSpPr/>
          <p:nvPr/>
        </p:nvSpPr>
        <p:spPr>
          <a:xfrm>
            <a:off x="6894576" y="2761488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46" name="Shape 44"/>
          <p:cNvSpPr/>
          <p:nvPr/>
        </p:nvSpPr>
        <p:spPr>
          <a:xfrm>
            <a:off x="7059168" y="2761488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47" name="Shape 45"/>
          <p:cNvSpPr/>
          <p:nvPr/>
        </p:nvSpPr>
        <p:spPr>
          <a:xfrm>
            <a:off x="6400800" y="2880360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48" name="Shape 46"/>
          <p:cNvSpPr/>
          <p:nvPr/>
        </p:nvSpPr>
        <p:spPr>
          <a:xfrm>
            <a:off x="6565392" y="2880360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49" name="Shape 47"/>
          <p:cNvSpPr/>
          <p:nvPr/>
        </p:nvSpPr>
        <p:spPr>
          <a:xfrm>
            <a:off x="6729984" y="2880360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0" name="Shape 48"/>
          <p:cNvSpPr/>
          <p:nvPr/>
        </p:nvSpPr>
        <p:spPr>
          <a:xfrm>
            <a:off x="6894576" y="2880360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1" name="Shape 49"/>
          <p:cNvSpPr/>
          <p:nvPr/>
        </p:nvSpPr>
        <p:spPr>
          <a:xfrm>
            <a:off x="7059168" y="2880360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2" name="Shape 50"/>
          <p:cNvSpPr/>
          <p:nvPr/>
        </p:nvSpPr>
        <p:spPr>
          <a:xfrm>
            <a:off x="6400800" y="2999232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3" name="Shape 51"/>
          <p:cNvSpPr/>
          <p:nvPr/>
        </p:nvSpPr>
        <p:spPr>
          <a:xfrm>
            <a:off x="6565392" y="2999232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4" name="Shape 52"/>
          <p:cNvSpPr/>
          <p:nvPr/>
        </p:nvSpPr>
        <p:spPr>
          <a:xfrm>
            <a:off x="6729984" y="2999232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5" name="Shape 53"/>
          <p:cNvSpPr/>
          <p:nvPr/>
        </p:nvSpPr>
        <p:spPr>
          <a:xfrm>
            <a:off x="6894576" y="2999232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6" name="Shape 54"/>
          <p:cNvSpPr/>
          <p:nvPr/>
        </p:nvSpPr>
        <p:spPr>
          <a:xfrm>
            <a:off x="7059168" y="2999232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7" name="Shape 55"/>
          <p:cNvSpPr/>
          <p:nvPr/>
        </p:nvSpPr>
        <p:spPr>
          <a:xfrm>
            <a:off x="6400800" y="3118104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8" name="Shape 56"/>
          <p:cNvSpPr/>
          <p:nvPr/>
        </p:nvSpPr>
        <p:spPr>
          <a:xfrm>
            <a:off x="6565392" y="3118104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59" name="Shape 57"/>
          <p:cNvSpPr/>
          <p:nvPr/>
        </p:nvSpPr>
        <p:spPr>
          <a:xfrm>
            <a:off x="6729984" y="3118104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60" name="Shape 58"/>
          <p:cNvSpPr/>
          <p:nvPr/>
        </p:nvSpPr>
        <p:spPr>
          <a:xfrm>
            <a:off x="6894576" y="311810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1" name="Shape 59"/>
          <p:cNvSpPr/>
          <p:nvPr/>
        </p:nvSpPr>
        <p:spPr>
          <a:xfrm>
            <a:off x="7059168" y="311810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2" name="Shape 60"/>
          <p:cNvSpPr/>
          <p:nvPr/>
        </p:nvSpPr>
        <p:spPr>
          <a:xfrm>
            <a:off x="6400800" y="3236976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63" name="Shape 61"/>
          <p:cNvSpPr/>
          <p:nvPr/>
        </p:nvSpPr>
        <p:spPr>
          <a:xfrm>
            <a:off x="6565392" y="3236976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64" name="Shape 62"/>
          <p:cNvSpPr/>
          <p:nvPr/>
        </p:nvSpPr>
        <p:spPr>
          <a:xfrm>
            <a:off x="6729984" y="3236976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65" name="Shape 63"/>
          <p:cNvSpPr/>
          <p:nvPr/>
        </p:nvSpPr>
        <p:spPr>
          <a:xfrm>
            <a:off x="6894576" y="3236976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66" name="Shape 64"/>
          <p:cNvSpPr/>
          <p:nvPr/>
        </p:nvSpPr>
        <p:spPr>
          <a:xfrm>
            <a:off x="7059168" y="323697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7" name="Shape 65"/>
          <p:cNvSpPr/>
          <p:nvPr/>
        </p:nvSpPr>
        <p:spPr>
          <a:xfrm>
            <a:off x="365760" y="35204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3520440"/>
            <a:ext cx="73152" cy="777240"/>
          </a:xfrm>
          <a:prstGeom prst="rect">
            <a:avLst/>
          </a:prstGeom>
          <a:solidFill>
            <a:srgbClr val="B89020"/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Living ZGPM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60604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Bi-direktionale Plan-Runtime-Kopplung. Live-Dashboard, Auto-Update.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00800" y="36301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2" name="Shape 70"/>
          <p:cNvSpPr/>
          <p:nvPr/>
        </p:nvSpPr>
        <p:spPr>
          <a:xfrm>
            <a:off x="6565392" y="36301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3" name="Shape 71"/>
          <p:cNvSpPr/>
          <p:nvPr/>
        </p:nvSpPr>
        <p:spPr>
          <a:xfrm>
            <a:off x="6729984" y="36301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4" name="Shape 72"/>
          <p:cNvSpPr/>
          <p:nvPr/>
        </p:nvSpPr>
        <p:spPr>
          <a:xfrm>
            <a:off x="6894576" y="36301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5" name="Shape 73"/>
          <p:cNvSpPr/>
          <p:nvPr/>
        </p:nvSpPr>
        <p:spPr>
          <a:xfrm>
            <a:off x="7059168" y="36301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6" name="Shape 74"/>
          <p:cNvSpPr/>
          <p:nvPr/>
        </p:nvSpPr>
        <p:spPr>
          <a:xfrm>
            <a:off x="6400800" y="37490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7" name="Shape 75"/>
          <p:cNvSpPr/>
          <p:nvPr/>
        </p:nvSpPr>
        <p:spPr>
          <a:xfrm>
            <a:off x="6565392" y="37490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8" name="Shape 76"/>
          <p:cNvSpPr/>
          <p:nvPr/>
        </p:nvSpPr>
        <p:spPr>
          <a:xfrm>
            <a:off x="6729984" y="37490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9" name="Shape 77"/>
          <p:cNvSpPr/>
          <p:nvPr/>
        </p:nvSpPr>
        <p:spPr>
          <a:xfrm>
            <a:off x="6894576" y="37490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0" name="Shape 78"/>
          <p:cNvSpPr/>
          <p:nvPr/>
        </p:nvSpPr>
        <p:spPr>
          <a:xfrm>
            <a:off x="7059168" y="37490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1" name="Shape 79"/>
          <p:cNvSpPr/>
          <p:nvPr/>
        </p:nvSpPr>
        <p:spPr>
          <a:xfrm>
            <a:off x="6400800" y="38679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2" name="Shape 80"/>
          <p:cNvSpPr/>
          <p:nvPr/>
        </p:nvSpPr>
        <p:spPr>
          <a:xfrm>
            <a:off x="6565392" y="38679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3" name="Shape 81"/>
          <p:cNvSpPr/>
          <p:nvPr/>
        </p:nvSpPr>
        <p:spPr>
          <a:xfrm>
            <a:off x="6729984" y="38679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4" name="Shape 82"/>
          <p:cNvSpPr/>
          <p:nvPr/>
        </p:nvSpPr>
        <p:spPr>
          <a:xfrm>
            <a:off x="6894576" y="38679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5" name="Shape 83"/>
          <p:cNvSpPr/>
          <p:nvPr/>
        </p:nvSpPr>
        <p:spPr>
          <a:xfrm>
            <a:off x="7059168" y="38679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6" name="Shape 84"/>
          <p:cNvSpPr/>
          <p:nvPr/>
        </p:nvSpPr>
        <p:spPr>
          <a:xfrm>
            <a:off x="6400800" y="39867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7" name="Shape 85"/>
          <p:cNvSpPr/>
          <p:nvPr/>
        </p:nvSpPr>
        <p:spPr>
          <a:xfrm>
            <a:off x="6565392" y="39867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8" name="Shape 86"/>
          <p:cNvSpPr/>
          <p:nvPr/>
        </p:nvSpPr>
        <p:spPr>
          <a:xfrm>
            <a:off x="6729984" y="398678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9" name="Shape 87"/>
          <p:cNvSpPr/>
          <p:nvPr/>
        </p:nvSpPr>
        <p:spPr>
          <a:xfrm>
            <a:off x="6894576" y="398678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0" name="Shape 88"/>
          <p:cNvSpPr/>
          <p:nvPr/>
        </p:nvSpPr>
        <p:spPr>
          <a:xfrm>
            <a:off x="7059168" y="398678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1" name="Shape 89"/>
          <p:cNvSpPr/>
          <p:nvPr/>
        </p:nvSpPr>
        <p:spPr>
          <a:xfrm>
            <a:off x="6400800" y="410565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2" name="Shape 90"/>
          <p:cNvSpPr/>
          <p:nvPr/>
        </p:nvSpPr>
        <p:spPr>
          <a:xfrm>
            <a:off x="6565392" y="410565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3" name="Shape 91"/>
          <p:cNvSpPr/>
          <p:nvPr/>
        </p:nvSpPr>
        <p:spPr>
          <a:xfrm>
            <a:off x="6729984" y="410565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4" name="Shape 92"/>
          <p:cNvSpPr/>
          <p:nvPr/>
        </p:nvSpPr>
        <p:spPr>
          <a:xfrm>
            <a:off x="6894576" y="410565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5" name="Shape 93"/>
          <p:cNvSpPr/>
          <p:nvPr/>
        </p:nvSpPr>
        <p:spPr>
          <a:xfrm>
            <a:off x="7059168" y="410565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6" name="Text 94"/>
          <p:cNvSpPr/>
          <p:nvPr/>
        </p:nvSpPr>
        <p:spPr>
          <a:xfrm>
            <a:off x="7315200" y="1892808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Solo-Builder-Wert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7315200" y="201168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7315200" y="213055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Methodische Treue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7315200" y="2249424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Time-to-MVP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7315200" y="2368296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Engineering-Aufwand (inv.)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2" name="Text 100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dominiert in Wert, Defensibility und Methodik. Option A bleibt als Spike sinnvoll, Option C kommt nach Validierung.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4" name="Text 102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Stufen — von Projektauftrag bis ausführbarer Harness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828800"/>
            <a:ext cx="1828800" cy="1280160"/>
          </a:xfrm>
          <a:prstGeom prst="rect">
            <a:avLst/>
          </a:prstGeom>
          <a:solidFill>
            <a:srgbClr val="5B6B85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294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Goal, Scope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18588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28900" y="1828800"/>
            <a:ext cx="182880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72034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ZGPM-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2034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· PVM · Aktivitäten · Risiken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75988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86300" y="1828800"/>
            <a:ext cx="1828800" cy="128016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774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HARNESS-ZIP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774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 · skills · commands · hooks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3388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43700" y="1828800"/>
            <a:ext cx="1828800" cy="12801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18" name="Text 16"/>
          <p:cNvSpPr/>
          <p:nvPr/>
        </p:nvSpPr>
        <p:spPr>
          <a:xfrm>
            <a:off x="683514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3514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HITL-PM · Subagenten · Outputs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289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(YAML)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63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Portables Zip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437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+ HITL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6791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(Azure-native)  </a:t>
            </a:r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erzeugt Stages 2 + 3.  </a:t>
            </a:r>
            <a:pPr indent="0" marL="0">
              <a:buNone/>
            </a:pPr>
            <a:r>
              <a:rPr lang="en-US" sz="105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</a:t>
            </a:r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führt Stage 4 aus.  </a:t>
            </a:r>
            <a:pPr indent="0" marL="0">
              <a:buNone/>
            </a:pPr>
            <a:r>
              <a:rPr lang="en-US" sz="1050" b="1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 </a:t>
            </a:r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installiert + supportet den Übergang Zip → Run.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Trennung Planungs-Phase ↔ Ausführungs-Phase. Plan ist Single Source, Harness ist portabel, Runtime ist Claude Code.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Bausteine — getrennt entwickelbar, miteinander kompatibel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26791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679192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219456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65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Web-App. 5 Planungs-Agenten plus HITL-PM. Erzeugt ZGPM-Plan, kompiliert Harness-Zip.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206240"/>
            <a:ext cx="2679192" cy="228600"/>
          </a:xfrm>
          <a:prstGeom prst="rect">
            <a:avLst/>
          </a:prstGeom>
          <a:solidFill>
            <a:srgbClr val="ECECE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206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Foundry · Container Apps · Cosmos · Key Vault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27832" y="1417320"/>
            <a:ext cx="26791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1417320"/>
            <a:ext cx="2679192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1463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64992" y="1627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Agent-Harness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64992" y="1965960"/>
            <a:ext cx="1371600" cy="219456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1965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PORTABLES ZIP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64992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 · skills · commands · hooks plus plan/, docs/. Läuft in Claude Code, ohne Cloud.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27832" y="4206240"/>
            <a:ext cx="2679192" cy="228600"/>
          </a:xfrm>
          <a:prstGeom prst="rect">
            <a:avLst/>
          </a:prstGeom>
          <a:solidFill>
            <a:srgbClr val="ECECE5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4206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· MCP · CLAUDE.md · Subagents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9904" y="1417320"/>
            <a:ext cx="26791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417320"/>
            <a:ext cx="2679192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27064" y="1463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27064" y="1627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GitHub-PAT-MCP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27064" y="1965960"/>
            <a:ext cx="1371600" cy="219456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28" name="Text 26"/>
          <p:cNvSpPr/>
          <p:nvPr/>
        </p:nvSpPr>
        <p:spPr>
          <a:xfrm>
            <a:off x="6227064" y="1965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MCP-SERVER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27064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MCP-Server für GitHub via Fine-Grained-PAT. 19 Tools, Constitution-Safety-Guard.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9904" y="4206240"/>
            <a:ext cx="2679192" cy="228600"/>
          </a:xfrm>
          <a:prstGeom prst="rect">
            <a:avLst/>
          </a:prstGeom>
          <a:solidFill>
            <a:srgbClr val="ECECE5"/>
          </a:solidFill>
          <a:ln/>
        </p:spPr>
      </p:sp>
      <p:sp>
        <p:nvSpPr>
          <p:cNvPr id="31" name="Text 29"/>
          <p:cNvSpPr/>
          <p:nvPr/>
        </p:nvSpPr>
        <p:spPr>
          <a:xfrm>
            <a:off x="6227064" y="4206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· Octokit · Zod · MCP-SDK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 sind unabhängig deploybar. Reihenfolge: 3 (MCP) → 2 (Harness-Template) → 1 (Planner).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RUNTIME-MODELL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ist der Concierge — Claude Code ist die Maschine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solidFill>
            <a:srgbClr val="B8902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· Setup · 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B890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Geführte Installation von Claude 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109728" cy="109728"/>
          </a:xfrm>
          <a:prstGeom prst="ellipse">
            <a:avLst/>
          </a:prstGeom>
          <a:solidFill>
            <a:srgbClr val="B89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Token-Wizards mit sicherem Speichern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109728" cy="109728"/>
          </a:xfrm>
          <a:prstGeom prst="ellipse">
            <a:avLst/>
          </a:prstGeom>
          <a:solidFill>
            <a:srgbClr val="B89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MCP-Server-Verbindung per 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B8902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/install-harness — Zip → Setup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109728" cy="109728"/>
          </a:xfrm>
          <a:prstGeom prst="ellipse">
            <a:avLst/>
          </a:prstGeom>
          <a:solidFill>
            <a:srgbClr val="B8902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 — In-App-Hilfe je Element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09728" cy="109728"/>
          </a:xfrm>
          <a:prstGeom prst="ellipse">
            <a:avLst/>
          </a:prstGeom>
          <a:solidFill>
            <a:srgbClr val="B8902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Log-Analyse + Fix-Vorschläge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4340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343400" y="3154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846320" y="141732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417320"/>
            <a:ext cx="3931920" cy="41148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Subagenten · Tools · Hooks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331720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/run-harness führt den Plan aus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624328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Lädt CLAUDE.md als System-Prompt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916936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Registriert .claude/agents als Subagenten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209544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Aktiviert .claude/skills kontextuell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502152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Feuert .claude/hooks (deterministisch)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3794760"/>
            <a:ext cx="109728" cy="109728"/>
          </a:xfrm>
          <a:prstGeom prst="ellipse">
            <a:avLst/>
          </a:prstGeom>
          <a:solidFill>
            <a:srgbClr val="E6B32F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HITL-Approvals im Chat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Rollentrennung: nicht-technische User landen via Cowork direkt in einer korrekt konfigurierten Claude-Code-Session.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 · ZGPM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nutzen ZGPM als Vokabular — Meilenstein, Aktivität, PVM, Risiko-Ampel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KERN-KONZEPTE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bis Datum X — Verb im Perfekt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vor MS-Abschluss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596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Zeitabschnitt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Ergebnispfad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980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Vertikaler Stream (P · S · O · …)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364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Verantwortlichkeitsmatrix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Risiko-Ampel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 / Gelb / Grün — propagiert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5087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PVM-CODES (ORIGINAL ZGPM)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828800"/>
            <a:ext cx="365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führt aus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1828800"/>
            <a:ext cx="365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1828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leitet an + steuert Fortschritt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286000"/>
            <a:ext cx="365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steuert Fortschritt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20840" y="2286000"/>
            <a:ext cx="365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2743200"/>
            <a:ext cx="365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5780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entscheidet mit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20840" y="2743200"/>
            <a:ext cx="365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7804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beteiligt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200400"/>
            <a:ext cx="365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57800" y="3200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informiert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20840" y="3200400"/>
            <a:ext cx="365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178040" y="3200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verfügbar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4041648"/>
            <a:ext cx="3794760" cy="365760"/>
          </a:xfrm>
          <a:prstGeom prst="rect">
            <a:avLst/>
          </a:prstGeom>
          <a:solidFill>
            <a:srgbClr val="FFEFE8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PFLICHT: </a:t>
            </a:r>
            <a:pPr indent="0" marL="0">
              <a:buNone/>
            </a:pPr>
            <a:r>
              <a:rPr lang="en-US" sz="90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A je MS · genau 1 F/L · „e" nie ohne „E"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ZGPM bleibt PwC-Methodik (Glasner et al.). Wir bauen kein Excel nach — wir kompilieren YAML-Pläne nach denselben Regeln.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METHODISCHER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Schichten — keine ersetzt die andere, alle bindend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13716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AEGIRA-CONSTITUTION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Top-Norm (gewinnt bei Konflikt)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0" y="15727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Trust-Infrastructure · keine 100%-Claims · Rechtsräume DE/EU27/UK/CH · AIMS-Maturity · Produktlinie · Forcing Event 02.12.2027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14600"/>
            <a:ext cx="137160" cy="9144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METHODENTREUE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Strukturqualität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0" y="26243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MECE-Strukturierung · Pyramid Principle in MS-Statussen · Hypothesis-driven Aktivitäten · Action-Title-Slides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8412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66160"/>
            <a:ext cx="137160" cy="914400"/>
          </a:xfrm>
          <a:prstGeom prst="rect">
            <a:avLst/>
          </a:prstGeom>
          <a:solidFill>
            <a:srgbClr val="B89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ZGPM (PwC, Glasner et al.)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950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Projekt-Vokabular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0" y="36758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· PVM · Aktivitäten · Risiko-Ampel · Phase · Ergebnispfad · Konsistenz-Regeln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Konflikt: Constitution &gt; McKinsey &gt; ZGPM. Reviewer-Agent enforced die Hierarchie automatisch.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AGENT-ARCHITEKTUR · PLANUNG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spezialisierte Agenten + HITL-PM — Orchestrator-Worker-Pattern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554480"/>
            <a:ext cx="18288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PMO-AGENT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Orchestrator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2940" y="3017520"/>
            <a:ext cx="1783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B3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8660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aus MSP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-3017520" cy="640080"/>
          </a:xfrm>
          <a:prstGeom prst="line">
            <a:avLst/>
          </a:prstGeom>
          <a:noFill/>
          <a:ln w="9525">
            <a:solidFill>
              <a:srgbClr val="8A93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4620" y="3017520"/>
            <a:ext cx="1783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B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034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Skill-Mapping-Agent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0340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SKILL.md-Stubs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-1005840" cy="640080"/>
          </a:xfrm>
          <a:prstGeom prst="line">
            <a:avLst/>
          </a:prstGeom>
          <a:noFill/>
          <a:ln w="9525">
            <a:solidFill>
              <a:srgbClr val="8A93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6300" y="3017520"/>
            <a:ext cx="1783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B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202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2020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PRL + MRL befüllen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377440"/>
            <a:ext cx="1005840" cy="640080"/>
          </a:xfrm>
          <a:prstGeom prst="line">
            <a:avLst/>
          </a:prstGeom>
          <a:noFill/>
          <a:ln w="9525">
            <a:solidFill>
              <a:srgbClr val="8A93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7980" y="3017520"/>
            <a:ext cx="1783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370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43700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Konsistenz-Loop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377440"/>
            <a:ext cx="3017520" cy="640080"/>
          </a:xfrm>
          <a:prstGeom prst="line">
            <a:avLst/>
          </a:prstGeom>
          <a:noFill/>
          <a:ln w="9525">
            <a:solidFill>
              <a:srgbClr val="8A93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417320"/>
            <a:ext cx="2834640" cy="868680"/>
          </a:xfrm>
          <a:prstGeom prst="rect">
            <a:avLst/>
          </a:prstGeom>
          <a:solidFill>
            <a:srgbClr val="FCFAF6"/>
          </a:solidFill>
          <a:ln w="19050">
            <a:solidFill>
              <a:srgbClr val="E6B32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4360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HITL-PM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1755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Approval an MS-Grenzen, roter Ampel, Constitution-Treffer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Reviewer-Agent ist der Quality-Gate: Konsistenz-Regeln, MECE-Check, Anti-Pattern-Scan. Max 3 Iterationen, dann HITL.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BEST PRACTICES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Prinzipien aus Anthropic + Cognition — bindend für jeden Harness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943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490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over Sophistication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4904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Einfachstes System, das funktioniert. Komplexität nur, wenn messbar besser.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0824"/>
            <a:ext cx="5943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2082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0939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0939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sichtbar, persistiert, auditierbar.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2432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24328"/>
            <a:ext cx="5943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243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Agent-Computer Interface (ACI)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Tool-Definition = Prompt. Poka-Yoke. Absolute Pfade, nicht relativ.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27832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27832"/>
            <a:ext cx="5943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278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300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Context — full traces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3300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Subagenten erhalten den ganzen Trace, nicht nur Einzelnachrichten.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31336"/>
            <a:ext cx="5943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8313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904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carry implicit Decisions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3904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nur wenn Entscheidungen nicht kollidieren. Sonst sequenziell.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Anthropic „Building Effective Agents” (12/2024) · „Multi-Agent Research System” (06/2025) · Cognition „Don't Build Multi-Agents” (06/2025)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AUSGESCHLOSSEN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Muster, die der Reviewer-Agent hart blockt — kein HITL-Override ohne Begründung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 Peer-to-Peer-Agent-„Diskussion"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682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 Parallele Subagenten ohne geteilten Kontext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 Subagenten schreiben Code in geteilte Dateien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  Vage Delegations-Instruktionen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  Overspawning (50 Subagenten für simple Queries)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  Routing im Prompt statt im Code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A7  Relative Pfade in stateful Agenten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  Diffs statt Whole-File-Rewrite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A9  JSON-escaped Code in Tool-Args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438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A10 Single-Call macht Guardrails + Core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A11 Keine Retry/Checkpoint-Logik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877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A12 Sequenzielle Tool-Calls, wo parallel möglich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A13 Versteckte Reasoning-Schritte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14630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A14 Tools ohne Beispiele + Edge-Cases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1682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A15 Subagenten erben Skills automatisch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7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A16 Lange/spezifische Search-Queries als Default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21214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A17 Endlos-Loops ohne Stop-Condition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23408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A18 Framework-Nutzung ohne SDK-Verständnis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25603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A19 Token-Budget ohne Validation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2779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A20 Multi-Agent ohne Wert-Kosten-Rechnung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29992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A21 Async ohne State-Konsistenz-Modell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3218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A22 Process-Eval statt End-State-Eval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3438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A23 Tool-Set-Überlappung ohne Abgrenzung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3657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A24 Skills zu breit triggernd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3877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A25 „Long-Context = unlimited" Annahme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8412480" cy="228600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2976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durch Reviewer-Agent + Pre-Tool-Hook + CI-Check im Compiler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PATTERN-WAHL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oder Single-Threaded? — Decision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141732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die Aufgabe breitensuche-artig &amp; klar parallelisierbar?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-2103120" cy="548640"/>
          </a:xfrm>
          <a:prstGeom prst="line">
            <a:avLst/>
          </a:prstGeom>
          <a:noFill/>
          <a:ln w="12700">
            <a:solidFill>
              <a:srgbClr val="8A93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2514600"/>
            <a:ext cx="3200400" cy="64008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Planungs-Phase (5 Agenten)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Research/Discovery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Cross-MS-Parallelisierung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2103120" cy="548640"/>
          </a:xfrm>
          <a:prstGeom prst="line">
            <a:avLst/>
          </a:prstGeom>
          <a:noFill/>
          <a:ln w="12700">
            <a:solidFill>
              <a:srgbClr val="8A9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4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514600"/>
            <a:ext cx="3200400" cy="640080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Sequenziell + Tool-Use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3520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Aktivitäten innerhalb eines 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Code-Implementierung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Tight-Dependency-Tasks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Cognition-Lehre: bei tight dependencies single-threaded. Anthropic-Lehre: bei Research breitensuche-Multi-Agent. Wir wenden beides an.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· ACI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nicht-verhandelbare Regeln für jedes Tool im Harness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721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Snake-Case + Service-Prefix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github_create_issue, nicht create_issue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41732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4173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14721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 mit Gut/Schlecht-Beispielen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66360" y="1691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Edge-Cases, Abgrenzung zu Geschwister-Tools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1168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0116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0665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korrekt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22860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· destructive · idempotent · openWorld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01168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01168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0116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20665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Input-Validation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66360" y="22860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(TS), Pydantic (Py) — kein any/dict[str, Any]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60604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60604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6060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26609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überall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0120" y="28803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· offset · has_more · next_offset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260604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60604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26060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66360" y="26609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Markdown Output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28803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Markdown, JSON für Programme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20040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20040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200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32552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Character-Limit 25k mit Truncation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0120" y="3474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Inkl. Hinweis auf nächsten Schritt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320040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320040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3200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66360" y="32552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Errors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66360" y="3474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Error-Pfad sagt, was zu tun ist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79476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79476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7947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0120" y="3849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Pfade überall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60120" y="4069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SWE-bench-Lehre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0" y="379476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3794760"/>
            <a:ext cx="502920" cy="5303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0" y="37947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166360" y="3849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Tool: _test mit Happy + Fehler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66360" y="4069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Compiler validiert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Tool-Doku ist Prompt-Doku. Anthropic-Erfahrung aus SWE-bench: Tool-Engineering schlägt Prompt-Engineering.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Phasen — Spike → Beta → GA, je 4–8 Wochen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377440"/>
            <a:ext cx="8229600" cy="54864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2304288"/>
            <a:ext cx="237744" cy="237744"/>
          </a:xfrm>
          <a:prstGeom prst="ellipse">
            <a:avLst/>
          </a:prstGeom>
          <a:solidFill>
            <a:srgbClr val="E6B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517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51760"/>
            <a:ext cx="2651760" cy="73152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Spike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 1–4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 live, Harness-Template, ein End-to-End-Demo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53128" y="2304288"/>
            <a:ext cx="237744" cy="237744"/>
          </a:xfrm>
          <a:prstGeom prst="ellipse">
            <a:avLst/>
          </a:prstGeom>
          <a:solidFill>
            <a:srgbClr val="B890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517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651760"/>
            <a:ext cx="2651760" cy="73152"/>
          </a:xfrm>
          <a:prstGeom prst="rect">
            <a:avLst/>
          </a:prstGeom>
          <a:solidFill>
            <a:srgbClr val="B8902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Beta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154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 5–12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3429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Planner-App MVP, 5 Agenten, drei interne Pilot-Pläne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42048" y="2304288"/>
            <a:ext cx="237744" cy="237744"/>
          </a:xfrm>
          <a:prstGeom prst="ellipse">
            <a:avLst/>
          </a:prstGeom>
          <a:solidFill>
            <a:srgbClr val="5A93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6517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651760"/>
            <a:ext cx="2651760" cy="73152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GA + Marketplace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3154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A9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 13–20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2200" y="3429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Cowork-Plugin, Public Release, Eval-Suite vollständig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9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vor EU AI Act Enforcement (12/2027). Phase-1-Output ist sofort wertgenerierend — auch ohne Phase 2/3.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EFFORT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Indikative Schätzung — Aufwand und LLM-Token-Budget je Phase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9748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ENG-WOCHEN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LLM-TOKENS/RUN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CLOUD-€/MONAT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Spike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8620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4068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9516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solidFill>
            <a:srgbClr val="F1F1E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Beta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7480" y="2331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620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500k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068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GA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9748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PW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862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1.5M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4068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9516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337560"/>
            <a:ext cx="8412480" cy="457200"/>
          </a:xfrm>
          <a:prstGeom prst="rect">
            <a:avLst/>
          </a:prstGeom>
          <a:solidFill>
            <a:srgbClr val="F1F1E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· steady state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9748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PW/M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8620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1M/Run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4068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800 €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951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703320"/>
            <a:ext cx="8412480" cy="594360"/>
          </a:xfrm>
          <a:prstGeom prst="rect">
            <a:avLst/>
          </a:prstGeom>
          <a:solidFill>
            <a:srgbClr val="FFEFE8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ANNAHMEN  </a:t>
            </a:r>
            <a:pPr indent="0" marL="0">
              <a:buNone/>
            </a:pPr>
            <a:r>
              <a:rPr lang="en-US" sz="900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PW = 1 Personenwoche · LLM-Pricing nach Sonnet-Tarif Mai 2026 · Cloud = Azure-AI-Foundry + Cosmos + Container Apps · Eval-Token-Budget separat (≈ 10× Run-Tokens).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Phase 1–3 ≈ 20 PW + ≈ 1.000 € Cloud-Sunk-Cost. Betriebskosten skalieren mit Run-Anzahl, nicht Nutzer-Anzahl.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Sieben adressierte Risiken — alle haben einen klaren Mitigation-Pfad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91440" cy="365760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Token-Kosten skalieren nicht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34840" y="1417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Token-Budget-Hook · Tiered Models · Cache · Per-Run-Cap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47088"/>
            <a:ext cx="91440" cy="3657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847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Cowork-Reife / Plugin-API-Stabilität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18470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Plugin-Manifest-Versionierung · Fallback zu Claude-Code-Direct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76856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76856"/>
            <a:ext cx="91440" cy="3657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76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2768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Subagents Skill-Inheritance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34840" y="22768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Explizite Skill-Injection beim Spawn (Anthropic-Pattern)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06624"/>
            <a:ext cx="91440" cy="3657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0662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706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GitHub-PAT-Verlust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27066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· max. 90 Tage · Constitution-Safety-Guard für Zone 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36392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136392"/>
            <a:ext cx="9144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136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136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Compliance des Planners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34840" y="31363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Article-13/50-Transparenz im UI · GPAI-Doku · DPIA in Phase 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566160"/>
            <a:ext cx="9144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566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zur Anthropic-Plattform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34840" y="3566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Plan-YAML als Export-Pfad · Excel-Re-Export · open Format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995928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995928"/>
            <a:ext cx="9144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9959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995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PwC-Marken-/IP-Konflikt um ZGPM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434840" y="39959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Methodik-Hinweis statt Marke · keine PwC-Suggestion · Apache-2.0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rotes Risiko ohne Mitigation. R1 (Token-Kosten) ist der größte Hebel — daher Hook-Pflicht von Tag 1.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JA heute — danach beginnt Phase 1 in dieser Woche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BENÖTIGTE ENTSCHEIDUNGEN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28600" cy="228600"/>
          </a:xfrm>
          <a:prstGeom prst="rect">
            <a:avLst/>
          </a:prstGeom>
          <a:solidFill>
            <a:srgbClr val="FCFAF6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Option B bauen (GO)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228600" cy="228600"/>
          </a:xfrm>
          <a:prstGeom prst="rect">
            <a:avLst/>
          </a:prstGeom>
          <a:solidFill>
            <a:srgbClr val="FCFAF6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Claude Code + Cowork als Runtime/Concierge (YES)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228600" cy="228600"/>
          </a:xfrm>
          <a:prstGeom prst="rect">
            <a:avLst/>
          </a:prstGeom>
          <a:solidFill>
            <a:srgbClr val="FCFAF6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Apache-2.0 + Private Repos (YES)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3840480" cy="0"/>
          </a:xfrm>
          <a:prstGeom prst="line">
            <a:avLst/>
          </a:prstGeom>
          <a:noFill/>
          <a:ln w="12700">
            <a:solidFill>
              <a:srgbClr val="8A93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Unterschrift HITL-PM · Datum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114800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 (Phase 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WOCHE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GitHub-Repo anlegen + Skeleton pushen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GitHub-PAT-MCP fertig + getestet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Harness-Template + 5 Agenten-Stubs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End-to-End-Demo (Dummy-Plan)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3703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9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· GO/NO-GO für Phase 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drei Entscheidungen JA: Phase 1 startet heute. Phase-2-GO/NO-GO am Ende Woche 4 nach Demo + Review.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Vorlage stützt sich auf folgende Primärquellen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48640" cy="457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914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17320" y="13990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Building Effective Agents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0" y="13990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2024 · Workflows vs Agents · 5 Patterns · 3 Kern-Prinzipien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914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013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17320" y="17830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How we built our multi-agent research system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 · Orchestrator-Worker · 8 Prompt-Prinzipien · Production-Lessons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914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854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417320" y="21671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— Don't Build Multi-Agents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21671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 · Share Context · Actions = Decisions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914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694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SEKUNDÄR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17320" y="25511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Claude Code Best Practices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2551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· Skill · Hook · Cowork Mai 2026 Update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953512"/>
            <a:ext cx="914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9535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417320" y="29352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ZGPM — Glasner et 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29352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Excel-Tool v2 · MSP · PVM · 25 Aktivitäten-Sheets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914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337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417320" y="33192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— MECE, Pyramid Principle, Hypothesis-driven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33192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Strukturqualität für Pläne und Slide-Logik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721608"/>
            <a:ext cx="914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721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417320" y="37033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Constitution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37033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Top-Norm · Trust-Infrastructure · Eingefrorene Eckpfeiler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105656"/>
            <a:ext cx="914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1056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417320" y="40873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Spec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92240" y="40873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Tool/Resource/Prompt-Konventionen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54456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B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URLs im Repo-Dokument docs/04_agent-best-practices.md §Quellen.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AEGIRA · Agent Operating Model Planner · Entscheidungsvorlage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9600" y="48188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AEGIRA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AEGIRA Agent Operating Model Planner — Entscheidungsvorlage</dc:title>
  <dc:subject>Decision document for Option B (Azure-native Planner + Claude-Code-Harness)</dc:subject>
  <dc:creator>exmachinAI GmbH</dc:creator>
  <cp:lastModifiedBy>exmachinAI GmbH</cp:lastModifiedBy>
  <cp:revision>1</cp:revision>
  <dcterms:created xsi:type="dcterms:W3CDTF">2026-05-28T13:32:11Z</dcterms:created>
  <dcterms:modified xsi:type="dcterms:W3CDTF">2026-05-28T13:32:11Z</dcterms:modified>
</cp:coreProperties>
</file>