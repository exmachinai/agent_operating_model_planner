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308592" y="1536192"/>
            <a:ext cx="1463040" cy="6400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08592" y="1536192"/>
            <a:ext cx="640080" cy="17373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71632" y="2176272"/>
            <a:ext cx="548640" cy="15544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48672" y="3273552"/>
            <a:ext cx="1371600" cy="45720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91472" y="3273552"/>
            <a:ext cx="457200" cy="146304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863072" y="3730752"/>
            <a:ext cx="457200" cy="12801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91472" y="4736592"/>
            <a:ext cx="1371600" cy="27432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0" y="13716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201168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3108960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356616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45720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484632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76656"/>
            <a:ext cx="2718423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13350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AI TRUST PLATFORM · exmachinAI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88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ADCFC"/>
                </a:solidFill>
                <a:latin typeface="Inter"/>
                <a:cs typeface="Inter"/>
              </a:rPr>
              <a:t>Agent Operating Model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Inter"/>
                <a:cs typeface="Inter"/>
              </a:rPr>
              <a:t>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26280"/>
            <a:ext cx="8138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Von der Projektidee zum lauffähigen Agententeam — Schritt für Schritt.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70832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93A6"/>
                </a:solidFill>
                <a:latin typeface="Inter"/>
                <a:cs typeface="Inter"/>
              </a:rPr>
              <a:t>Für Anwender ohne Programmiererfahrung  ·  ZGPM-konform  ·  Stand 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Wie du diesen Guide liest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Dieser Guide richtet sich an Anwender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ohne Programmiererfahrung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. Jeder der neun Schritte folgt demselben Aufbau — sobald du das Muster einmal kennst, findest du dich überall sofort zurecht.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77440"/>
            <a:ext cx="68580" cy="7863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34056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in diesem Schritt erreicht wird.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31012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310128"/>
            <a:ext cx="68580" cy="7863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66744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du tust — meist nur lesen, klicken, bestätigen.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4281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42816"/>
            <a:ext cx="68580" cy="786384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99432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Welche Agenten im Hintergrund für dich arbeiten.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17550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75504"/>
            <a:ext cx="68580" cy="78638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Wo du entscheidest. Nichts geht ohne deine Freigabe weiter.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377440"/>
            <a:ext cx="46177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Zwei wiederkehrende Elemente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017520"/>
            <a:ext cx="406908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3017520"/>
            <a:ext cx="4069080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200400"/>
            <a:ext cx="4069080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315010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2631" y="315010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315010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3108960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086100"/>
            <a:ext cx="25146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56616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78040" y="3886200"/>
            <a:ext cx="347472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78040" y="411480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35478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543300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Skizze des echten Bildschirms zu jedem Schritt.</a:t>
            </a:r>
          </a:p>
        </p:txBody>
      </p:sp>
      <p:sp>
        <p:nvSpPr>
          <p:cNvPr id="39" name="Oval 38"/>
          <p:cNvSpPr/>
          <p:nvPr/>
        </p:nvSpPr>
        <p:spPr>
          <a:xfrm>
            <a:off x="709117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6549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9520" y="5175504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14131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8845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6277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709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1141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8573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5340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5"/>
                </a:solidFill>
                <a:latin typeface="Inter"/>
                <a:cs typeface="Inter"/>
              </a:rPr>
              <a:t>Die Punkte unten zeigen, wo im 9-Schritt-Weg du gerade bist.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du nach diesem Guide kannst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Projekt in eigenen Worten beschreiben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und vom System methodisch schärfen lassen.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präzises Projektverständnis freigeben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inkl. der dafür nötigen Agentenstruktur.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Einen ZGPM-Plan lesen und anpassen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Meilensteine, RACI, Risiken, Zeit, Kosten.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Leitplanken verstehen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was erlaubt ist — und was das System verweigert.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Den Agenten-Harness mitgestalten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Artefakte editieren, Struktur per Kommando verbessern.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lauffähiges Paket exportieren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als Zip mit Setup für Claude Cowork &amp; Claude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3</a:t>
            </a:r>
          </a:p>
        </p:txBody>
      </p:sp>
      <p:pic>
        <p:nvPicPr>
          <p:cNvPr id="37" name="Picture 3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ist der AEGIRA Planner?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104973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Ein </a:t>
            </a:r>
            <a:r>
              <a:rPr sz="1700" b="1" i="0">
                <a:solidFill>
                  <a:srgbClr val="FFFFFF"/>
                </a:solidFill>
                <a:latin typeface="Inter"/>
                <a:cs typeface="Inter"/>
              </a:rPr>
              <a:t>Project-to-Agent-Compiler</a:t>
            </a: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: 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Projektauftrag wird zum ZGPM-Plan:
Meilensteine, Rollen, Risiken.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1" y="3840480"/>
            <a:ext cx="329185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9704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B6B8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Der Plan wird zu einem Paket aus
CLAUDE.md, Skills und Agenten.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4968" y="3840480"/>
            <a:ext cx="329184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9367"/>
                </a:solidFill>
                <a:latin typeface="Inter"/>
                <a:cs typeface="Inter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Das Paket läuft auf deinem Rechner
in Claude Code / Cowork.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92040"/>
            <a:ext cx="10497312" cy="12344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Inter"/>
                <a:cs typeface="Inter"/>
              </a:rPr>
              <a:t>Warum?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292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E1735"/>
                </a:solidFill>
                <a:latin typeface="Inter"/>
                <a:cs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4</a:t>
            </a:r>
          </a:p>
        </p:txBody>
      </p:sp>
      <p:pic>
        <p:nvPicPr>
          <p:cNvPr id="26" name="Picture 2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MENTALE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Agenten sind digitale Mitarbeiter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Wenn Agenten wie Mitarbeiter arbeiten, brauchen sie, was jedes gute Team braucht: Rollen, Verantwortlichkeiten, Fähigkeiten und Governance. Genau dort setzt der Planner 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5B6B85"/>
                </a:solidFill>
                <a:latin typeface="Inter"/>
                <a:cs typeface="Inter"/>
              </a:rPr>
              <a:t>Üblicher Start: technisch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6722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8503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8046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9826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9369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A93A6"/>
                </a:solidFill>
                <a:latin typeface="Inter"/>
                <a:cs typeface="Inter"/>
              </a:rPr>
              <a:t>Ergebnis: technisch lauffähig, aber ohne organisatorische Klarheit.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AEGIRA-Start: organisatorisch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9077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032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Projektplan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6440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474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7014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Rollenmodell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3133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04164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3707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Skill-Matrix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982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6085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6040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RACI / PVM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651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51755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7093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Agentenstruktur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907792"/>
            <a:ext cx="1737360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ADCFC"/>
                </a:solidFill>
                <a:latin typeface="Inter"/>
                <a:cs typeface="Inter"/>
              </a:rPr>
              <a:t>Aus dem
Plan wird
die Technik
abgeleitet —
nicht
umgekehrt.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5</a:t>
            </a:r>
          </a:p>
        </p:txBody>
      </p:sp>
      <p:pic>
        <p:nvPicPr>
          <p:cNvPr id="36" name="Picture 3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Die Reise auf einen 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017520" cy="457200"/>
          </a:xfrm>
          <a:prstGeom prst="roundRect">
            <a:avLst>
              <a:gd name="adj" fmla="val 18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3824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3" y="1783080"/>
            <a:ext cx="438912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17830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9663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9694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969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1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8092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48121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8121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6379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86550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4948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24978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4978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3236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783080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17830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98864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86415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600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4703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1248" y="4572000"/>
            <a:ext cx="10479024" cy="0"/>
          </a:xfrm>
          <a:prstGeom prst="bentConnector3">
            <a:avLst/>
          </a:prstGeom>
          <a:ln w="25400">
            <a:solidFill>
              <a:srgbClr val="AFC6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Drei Makro-Phasen, neun Schritte. An jedem farbigen Übergang entscheidest </a:t>
            </a: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du</a:t>
            </a: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 — der Weg ist jederzeit umkehrbar.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6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DEIN PRINZIP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Du behältst die Kontrolle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Der Planner arbeitet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Human-in-the-Loop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: Agenten schlagen vor, du entscheidest. An drei Stellen darf das System dich nie übersteuern.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606040"/>
            <a:ext cx="512064" cy="51206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Jeder Phasenübergang wartet auf deine manuelle Bestätigung.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2606040"/>
            <a:ext cx="512064" cy="51206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Steht ein Risiko auf Rot, stoppt der Lauf. Nur du gibst ihn explizit frei.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7356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47888" y="260604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Skill-Aufnahme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 neue SKILL.md, die ins Harness kommt, braucht deinen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Du siehst die Agenten live denken und arbeiten — kein Spinner, der etwas verbirgt. Jede Aktion landet im Audit-Trail.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Umkehrbarkeit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Jede Planversion bleibt erhalten. Du kannst zurück, vergleichen und neu planen — nichts wird unwiderruflich überschrieben.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7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1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Beschreibe dein Projekt in eigenen Worten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Das System erfährt, was du vorhast — formlos, in deiner Sprache.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schreibst frei drauflos. Keine Fachbegriffe, keine Struktur nötig.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liest mit und bereitet die erste Rückfrage vor — nichts wird gespeichert ohne dich.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klickst „Weiter“, wenn deine Beschreibung steht.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zgpm.aegira.ai/projects/neu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735"/>
                </a:solidFill>
                <a:latin typeface="Inter"/>
                <a:cs typeface="Inter"/>
              </a:rPr>
              <a:t>Neues Projekt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269748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Erzähl in eigenen Worten, was entstehen soll.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063239"/>
            <a:ext cx="4919472" cy="1600200"/>
          </a:xfrm>
          <a:prstGeom prst="roundRect">
            <a:avLst>
              <a:gd name="adj" fmla="val 5000"/>
            </a:avLst>
          </a:prstGeom>
          <a:solidFill>
            <a:srgbClr val="F2F6FD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3218688"/>
            <a:ext cx="4553712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Ich möchte einen Newsletter automatisieren: Themen sammeln, Entwürfe schreiben, freigeben lassen und wöchentlich versenden. Qualität und Tonalität sollen stimmen, und ich will am Ende selbst freigeben.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47731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93A6"/>
                </a:solidFill>
                <a:latin typeface="Inter"/>
                <a:cs typeface="Inter"/>
              </a:rPr>
              <a:t>Beispielprojekt „Newsletter-Automatisierung“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0" y="473659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4732020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cs typeface="Inter"/>
              </a:rPr>
              <a:t>Weiter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2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Das Schärfungs-Interview (McKinsey-Methode)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der Idee wird ein präzises Verständnis: Projektart, Umfang,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beantwortest gezielte Rückfragen — eine nach der anderen.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fragt MECE und hypothesengeleitet nach und macht aktiv Vorschläge.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kannst jeden Vorschlag annehmen, ändern oder verwerfen.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9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zgpm.aegira.ai/projects/…/interview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005072" cy="713232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2505456"/>
            <a:ext cx="368503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Inter"/>
                <a:cs typeface="Inter"/>
              </a:rPr>
              <a:t>Soll der Versand vollautomatisch laufen oder erst nach deiner Freigabe?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1821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4768" y="317754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E2761"/>
                </a:solidFill>
                <a:latin typeface="Inter"/>
                <a:cs typeface="Inter"/>
              </a:rPr>
              <a:t>MECE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77456" y="31821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77456" y="317754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E2761"/>
                </a:solidFill>
                <a:latin typeface="Inter"/>
                <a:cs typeface="Inter"/>
              </a:rPr>
              <a:t>Hypothese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73567" y="3520439"/>
            <a:ext cx="3090672" cy="457200"/>
          </a:xfrm>
          <a:prstGeom prst="roundRect">
            <a:avLst>
              <a:gd name="adj" fmla="val 2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3520439"/>
            <a:ext cx="28163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0E1735"/>
                </a:solidFill>
                <a:latin typeface="Inter"/>
                <a:cs typeface="Inter"/>
              </a:rPr>
              <a:t>Erst nach meiner Freigabe.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4096512"/>
            <a:ext cx="4919472" cy="128016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20624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8703A"/>
                </a:solidFill>
                <a:latin typeface="Inter"/>
                <a:cs typeface="Inter"/>
              </a:rPr>
              <a:t>VORSCHLAG DES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443983"/>
            <a:ext cx="4553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Projektart: </a:t>
            </a:r>
            <a:r>
              <a:rPr sz="1050" b="0" i="0">
                <a:solidFill>
                  <a:srgbClr val="0E1735"/>
                </a:solidFill>
                <a:latin typeface="Inter"/>
                <a:cs typeface="Inter"/>
              </a:rPr>
              <a:t>Hybrid (Konzept + Technik). </a:t>
            </a: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Skills: </a:t>
            </a:r>
            <a:r>
              <a:rPr sz="1050" b="0" i="0">
                <a:solidFill>
                  <a:srgbClr val="0E1735"/>
                </a:solidFill>
                <a:latin typeface="Inter"/>
                <a:cs typeface="Inter"/>
              </a:rPr>
              <a:t>Themen-Research, Text-Entwurf, Tonalitäts-Check, Freigabe-Workflow, Versand.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7648" y="5047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504291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Annehmen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07808" y="5047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07808" y="5042916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Inter"/>
                <a:cs typeface="Inter"/>
              </a:rPr>
              <a:t>Ändern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3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Projektverständnis &amp; Agentenstruktur freigeben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pre-finale Zusammenfassung — plus die Agenten, die deinen Plan bauen.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liest, korrigierst Details und gibst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verdichtet alles und leitet ab, welche Planungs-Agenten nötig sind.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Ohne deine Freigabe startet keine Planung.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98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10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zgpm.aegira.ai/projects/…/verständnis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77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Projektverständnis (pre-final)</a:t>
            </a:r>
          </a:p>
        </p:txBody>
      </p:sp>
      <p:sp>
        <p:nvSpPr>
          <p:cNvPr id="45" name="Oval 44"/>
          <p:cNvSpPr/>
          <p:nvPr/>
        </p:nvSpPr>
        <p:spPr>
          <a:xfrm>
            <a:off x="6163056" y="2761488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26517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Ziel: wöchentlicher Newsletter, halb-automatisch</a:t>
            </a:r>
          </a:p>
        </p:txBody>
      </p:sp>
      <p:sp>
        <p:nvSpPr>
          <p:cNvPr id="47" name="Oval 46"/>
          <p:cNvSpPr/>
          <p:nvPr/>
        </p:nvSpPr>
        <p:spPr>
          <a:xfrm>
            <a:off x="6163056" y="3145536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30358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Art: Hybrid (Konzept + Technik)</a:t>
            </a:r>
          </a:p>
        </p:txBody>
      </p:sp>
      <p:sp>
        <p:nvSpPr>
          <p:cNvPr id="49" name="Oval 48"/>
          <p:cNvSpPr/>
          <p:nvPr/>
        </p:nvSpPr>
        <p:spPr>
          <a:xfrm>
            <a:off x="6163056" y="3529584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41985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5 Kernfähigkeiten identifiziert</a:t>
            </a:r>
          </a:p>
        </p:txBody>
      </p:sp>
      <p:sp>
        <p:nvSpPr>
          <p:cNvPr id="51" name="Oval 50"/>
          <p:cNvSpPr/>
          <p:nvPr/>
        </p:nvSpPr>
        <p:spPr>
          <a:xfrm>
            <a:off x="6163056" y="3913632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8039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Freigabe durch Mensch zwingend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16567" y="2377440"/>
            <a:ext cx="0" cy="2880360"/>
          </a:xfrm>
          <a:prstGeom prst="bentConnector3">
            <a:avLst/>
          </a:prstGeom>
          <a:ln w="12700">
            <a:solidFill>
              <a:srgbClr val="E3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99448" y="2377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Vorgeschlagene Agenten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99448" y="2761488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400032" y="2852928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7776" y="2752344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PMO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Orchestrierung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99448" y="3182112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400032" y="3273552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37776" y="3172968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Architecture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Rollen &amp; PVM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99448" y="3602736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00032" y="3694176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37776" y="3593592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Skill-Mapping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Fähigkeiten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99448" y="4023360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400032" y="4114800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37776" y="4014216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Risk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99448" y="4443984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00032" y="4535424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37776" y="4434840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Reviewer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Konsistenz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46920" y="4983479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46920" y="4978907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cs typeface="Inter"/>
              </a:rPr>
              <a:t>Freigeben 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4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Deine Projekte verwalten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Jedes Projekt bleibt erhalten — in jeder Phase, jederzeit auffindbar.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Öffnen, kopieren als Vorlage oder löschen — alles mit einem Klick.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speichert jede Phase als eigene Version und zeigt den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Löschen wird immer noch einmal von dir bestätigt.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64207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11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  ·  Meine Projekte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77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735"/>
                </a:solidFill>
                <a:latin typeface="Inter"/>
                <a:cs typeface="Inter"/>
              </a:rPr>
              <a:t>Meine Projekte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2359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235458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+ Neu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283463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83463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Newsletter-Automatisierung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33688" y="293522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3688" y="2930651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Inter"/>
                <a:cs typeface="Inter"/>
              </a:rPr>
              <a:t>planning</a:t>
            </a:r>
          </a:p>
        </p:txBody>
      </p:sp>
      <p:sp>
        <p:nvSpPr>
          <p:cNvPr id="51" name="Oval 50"/>
          <p:cNvSpPr/>
          <p:nvPr/>
        </p:nvSpPr>
        <p:spPr>
          <a:xfrm>
            <a:off x="10186416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6416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86416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88168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88168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88168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89920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0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789920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44768" y="338327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33832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Onboarding-Assistent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33688" y="34838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33688" y="3479291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reviewing</a:t>
            </a:r>
          </a:p>
        </p:txBody>
      </p:sp>
      <p:sp>
        <p:nvSpPr>
          <p:cNvPr id="64" name="Oval 63"/>
          <p:cNvSpPr/>
          <p:nvPr/>
        </p:nvSpPr>
        <p:spPr>
          <a:xfrm>
            <a:off x="10186416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6416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86416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88168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88168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488168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89920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89920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89920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44768" y="3931920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3192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Vertrags-Prüfer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33688" y="40325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33688" y="40279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approved</a:t>
            </a:r>
          </a:p>
        </p:txBody>
      </p:sp>
      <p:sp>
        <p:nvSpPr>
          <p:cNvPr id="77" name="Oval 76"/>
          <p:cNvSpPr/>
          <p:nvPr/>
        </p:nvSpPr>
        <p:spPr>
          <a:xfrm>
            <a:off x="10186416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86416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86416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88168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88168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88168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789920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0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789920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144768" y="448055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09360" y="448055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Markt-Report Bot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33688" y="458114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33688" y="457657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compiled</a:t>
            </a:r>
          </a:p>
        </p:txBody>
      </p:sp>
      <p:sp>
        <p:nvSpPr>
          <p:cNvPr id="90" name="Oval 89"/>
          <p:cNvSpPr/>
          <p:nvPr/>
        </p:nvSpPr>
        <p:spPr>
          <a:xfrm>
            <a:off x="10186416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6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86416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88168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88168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488168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89920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789920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789920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44768" y="5102352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JetBrains Mono"/>
                <a:cs typeface="JetBrains Mono"/>
              </a:rPr>
              <a:t>Status: planning → reviewing → approved → compiled → archived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5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Die Leitplanken: was geht — und was nicht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53212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532120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3423F"/>
                </a:solidFill>
                <a:latin typeface="Inter"/>
                <a:cs typeface="Inter"/>
              </a:rPr>
              <a:t>Was das System verweigert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95728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59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Waffen &amp; gefährliches Dual-Use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33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Bau, Beschaffung, Anleitung.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054096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175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Bio-, Chemie- &amp; Nuklear-Gefahren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91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Hilfe zu Herstellung oder Einsatz.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712463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12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7588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Diskriminierung &amp; unfaire Benachteiligung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5020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Pläne, die Menschen herabsetzen.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370831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3425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Malware, Exploits &amp; Spoofing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608575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 Schadcode, keine Täuschungs-Sites.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029199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1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99262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EU-AI-Act: verbotene Praktiken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26694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z. B. Social Scoring, manipulatives Profiling, biometrische Massenüberwachung.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783080"/>
            <a:ext cx="4754880" cy="3913632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9751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Was geht: Software &amp; Konzepte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77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Inter"/>
                <a:cs typeface="Inter"/>
              </a:rPr>
              <a:t>Der Planner unterscheidet zu Beginn die Projektart — und passt die Skills daran 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063240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3154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KONZEPT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39242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Methodik &amp; Dokumente: docx-, pptx-, markdown-, MECE- und Pyramid-Skills.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941064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403250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TECHNIK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27024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Architektur &amp; Code: Systemdesign, Tools, Schnittstellen, Tests.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818888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4910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HYBRID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1480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Beides kombiniert — wie im Newsletter-Beispiel.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881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85"/>
                </a:solidFill>
                <a:latin typeface="Inter"/>
                <a:cs typeface="Inter"/>
              </a:rPr>
              <a:t>Grenzfälle werden zur Prüfung an dich eskaliert — nicht still entschieden.</a:t>
            </a:r>
          </a:p>
        </p:txBody>
      </p:sp>
      <p:sp>
        <p:nvSpPr>
          <p:cNvPr id="43" name="Oval 42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3852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12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ZGPM-Plan entsteht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Verständnis bauen die Agenten einen vollständigen, methodischen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verfolgst die Agenten live und wartest auf die Vorlage.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PMO zerlegt in Phasen &amp; Meilensteine; Worker füllen Rollen, Risiken, Aufwände.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Der Reviewer prüft; bei Rot oder Konflikt entscheidest du.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13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3774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237286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Meilensteinplan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6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13064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4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Aktivitäten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PH1 Setup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84592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84592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PH2 Aufbau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24416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24416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PH3 Betrieb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3218687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36207" y="3319271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3218687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M1 Quellen angebunden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621023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36207" y="3721607"/>
            <a:ext cx="128016" cy="128016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3621023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M2 Entwurfs-Engine steht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84592" y="4023359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6032" y="4123944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7200" y="4023359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M3 Freigabe-Workflow live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24416" y="4425696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15856" y="4526280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17024" y="4425696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M4 Erstausgabe versendet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24416" y="4828032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15856" y="4928616"/>
            <a:ext cx="128016" cy="128016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4828032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M5 Betrieb stabil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512064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Meilenstein = Zustand im Perfekt · Ampel propagiert nach oben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Was du im fertigen Plan siehst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Gantt — Meilensteine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" y="246888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56816" y="28529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32369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Risk-Matrix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468880"/>
            <a:ext cx="265176" cy="265176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8" y="2468880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2664" y="2468880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90872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664" y="2779776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0872" y="3090672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2487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2" y="248716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Eintritt ×
Auswirkung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RACI / PVM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PMO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JetBrains Mono"/>
                <a:cs typeface="JetBrains Mono"/>
              </a:rPr>
              <a:t>M1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703A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JetBrains Mono"/>
                <a:cs typeface="JetBrains Mono"/>
              </a:rPr>
              <a:t>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703A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703A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40156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8A93A6"/>
                </a:solidFill>
                <a:latin typeface="Inter"/>
                <a:cs typeface="Inter"/>
              </a:rPr>
              <a:t>E=entscheidet · A=führt aus · L=leitet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Zeitplanung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5568" y="4983480"/>
            <a:ext cx="2889504" cy="0"/>
          </a:xfrm>
          <a:prstGeom prst="bentConnector3">
            <a:avLst/>
          </a:prstGeom>
          <a:ln w="2540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128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42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96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40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016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6557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Start- und Endtermine je Meilenstein.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6552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Kosten —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90872" y="4709160"/>
            <a:ext cx="2798064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90872" y="4709160"/>
            <a:ext cx="1734799" cy="237744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502920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Token-Budget je Agent &amp; Knoten — live mitgezählt.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Warnung bei Überschreitung.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91856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Agenten-Ressourcen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6176" y="462686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PMO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46336" y="466344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546336" y="4663440"/>
            <a:ext cx="1152144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499262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Architecture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46336" y="502920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46336" y="5029200"/>
            <a:ext cx="768096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6176" y="535838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46336" y="539496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546336" y="5394960"/>
            <a:ext cx="512063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6176" y="576072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1">
                <a:solidFill>
                  <a:srgbClr val="8A93A6"/>
                </a:solidFill>
                <a:latin typeface="Inter"/>
                <a:cs typeface="Inter"/>
              </a:rPr>
              <a:t>Welcher Agent wie stark ausgelastet ist.</a:t>
            </a:r>
          </a:p>
        </p:txBody>
      </p:sp>
      <p:sp>
        <p:nvSpPr>
          <p:cNvPr id="70" name="Oval 69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14</a:t>
            </a:r>
          </a:p>
        </p:txBody>
      </p:sp>
      <p:pic>
        <p:nvPicPr>
          <p:cNvPr id="81" name="Picture 8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7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Review &amp; Edit — direkt am Bildschirm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machst den Plan zu deinem Plan — Wortlaut, Sprache,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Text anklicken und ändern, Sprache umschalten (DE/EN), Werte anpassen.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zeigt jede Änderung als Vorher/Nachher und versioniert sie.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macht aus der Version den gültigen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871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15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  ·  bearbeiten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Inter"/>
                <a:cs typeface="Inter"/>
              </a:rPr>
              <a:t>Sprache: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7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4967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5"/>
                </a:solidFill>
                <a:latin typeface="Inter"/>
                <a:cs typeface="Inter"/>
              </a:rPr>
              <a:t>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2852928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2852928"/>
            <a:ext cx="41879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M2  Entwurfs-Engine steht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7000" y="292608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292150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ändern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493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Änderungs-Vorschau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3785615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785615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C3423F"/>
                </a:solidFill>
                <a:latin typeface="JetBrains Mono"/>
                <a:cs typeface="JetBrains Mono"/>
              </a:rPr>
              <a:t>−  „Entwurfs-Engine steht“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261104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261104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9367"/>
                </a:solidFill>
                <a:latin typeface="JetBrains Mono"/>
                <a:cs typeface="JetBrains Mono"/>
              </a:rPr>
              <a:t>+  „Entwurfs-Engine getestet &amp; freigegeben“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4846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484174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Übernehmen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26096" y="4846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84174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Verwerfen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828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Version v3 · v2 bleibt erhalten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Agenten-Harness wird gebaut &amp; sichtbar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Plan wird ein lauffähiges Agententeam — visuell nachvollziehbar.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betrachtest die Struktur: wer orchestriert, wer arbeitet, wo du freigibst.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kompiliert Rollen zu Agenten, Aktivitäten zu Aufgaben, Risiken zu Quality-Gates.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Die HITL-Knoten zeigen, wo dein Sign-off verankert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16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242048" y="2971800"/>
            <a:ext cx="1362456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458200" y="2971800"/>
            <a:ext cx="146304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504" y="2971800"/>
            <a:ext cx="1069848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04504" y="2971800"/>
            <a:ext cx="2286000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2048" y="4069080"/>
            <a:ext cx="1362456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58200" y="4069080"/>
            <a:ext cx="146304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604504" y="4069080"/>
            <a:ext cx="1069848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8604504" y="4069080"/>
            <a:ext cx="2286000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04504" y="4937760"/>
            <a:ext cx="0" cy="256032"/>
          </a:xfrm>
          <a:prstGeom prst="bentConnector3">
            <a:avLst/>
          </a:prstGeom>
          <a:ln w="25400">
            <a:solidFill>
              <a:srgbClr val="E8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07224" y="2514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2514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PMO · Orchestrator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93408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Architektur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09560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Skills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25712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41864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41864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Reviewer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2904" y="4480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A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32904" y="44805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Konsistenz-Check · max 3×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224" y="5193792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07224" y="519379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◆ HITL-Freigabe</a:t>
            </a:r>
          </a:p>
        </p:txBody>
      </p:sp>
      <p:sp>
        <p:nvSpPr>
          <p:cNvPr id="67" name="Oval 66"/>
          <p:cNvSpPr/>
          <p:nvPr/>
        </p:nvSpPr>
        <p:spPr>
          <a:xfrm>
            <a:off x="6144768" y="2450591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18504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69" name="Oval 68"/>
          <p:cNvSpPr/>
          <p:nvPr/>
        </p:nvSpPr>
        <p:spPr>
          <a:xfrm>
            <a:off x="6144768" y="2724911"/>
            <a:ext cx="118872" cy="11887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18504" y="26700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Worker</a:t>
            </a:r>
          </a:p>
        </p:txBody>
      </p:sp>
      <p:sp>
        <p:nvSpPr>
          <p:cNvPr id="71" name="Oval 70"/>
          <p:cNvSpPr/>
          <p:nvPr/>
        </p:nvSpPr>
        <p:spPr>
          <a:xfrm>
            <a:off x="6144768" y="2999232"/>
            <a:ext cx="118872" cy="118872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4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Dein Kontrollpunkt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Artefakte editieren &amp; Struktur per Kommando verbessern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verfeinerst jedes Artefakt und die Gesamtstruktur, bis sie passt.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Datei öffnen und ändern — oder im Kommandofeld sagen, was besser wäre.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macht neue Vorschläge (Sequenz, Parallel, neuer Skill, weiterer Agent) — x Iterationen.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beendet die Schleife.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17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editor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2377440"/>
            <a:ext cx="17830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44768" y="2450591"/>
            <a:ext cx="1691640" cy="237744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2468879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71576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plan/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296265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msp.yaml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209544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pvm.yaml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456432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.claude/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703320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agents/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95020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skills/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19709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hooks/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9288" y="2377440"/>
            <a:ext cx="3044952" cy="2240280"/>
          </a:xfrm>
          <a:prstGeom prst="roundRect">
            <a:avLst>
              <a:gd name="adj" fmla="val 6000"/>
            </a:avLst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2167" y="248716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 CLAUDE.md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270662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7" y="292607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Mission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7" y="3145535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Newsletter-Pipeline,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7" y="3364991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halb-automatisch.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7" y="358444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7" y="380390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Agenten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2167" y="402335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pmo (Orchestrator)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7" y="4242816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reviewer (max 3×)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9048" y="4773168"/>
            <a:ext cx="50109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1928" y="4773168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Mach die Risiko-Prüfung parallel zur Architektur.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6920" y="4846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41748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Vorschlag holen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321808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Kommandofeld — Sequenz · Parallel · Skill · weiterer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9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Export: Zip + Setup für Claude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erhältst ein portables Paket, das ohne den Planner läuft.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Herunterladen, entpacken, in Claude Cowork / Claude Code öffnen.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schnürt CLAUDE.md, Skills, Agenten, Plan &amp; Setup in eine signierte Zip.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Prüfsumme bestätigt, dass dein Paket unverändert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3580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download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919472" cy="731520"/>
          </a:xfrm>
          <a:prstGeom prst="roundRect">
            <a:avLst>
              <a:gd name="adj" fmla="val 1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2505456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JetBrains Mono"/>
                <a:cs typeface="JetBrains Mono"/>
              </a:rPr>
              <a:t>newsletter-automatisierung_…_a3f1c2.harness.zip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81635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DFEFE3"/>
                </a:solidFill>
                <a:latin typeface="JetBrains Mono"/>
                <a:cs typeface="JetBrains Mono"/>
              </a:rPr>
              <a:t>checksums.txt · shasum -a 256 -c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26014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9367"/>
                </a:solidFill>
                <a:latin typeface="Inter"/>
                <a:cs typeface="Inter"/>
              </a:rPr>
              <a:t>↓ Download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3649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Inhalt der Zip</a:t>
            </a:r>
          </a:p>
        </p:txBody>
      </p:sp>
      <p:sp>
        <p:nvSpPr>
          <p:cNvPr id="50" name="Oval 49"/>
          <p:cNvSpPr/>
          <p:nvPr/>
        </p:nvSpPr>
        <p:spPr>
          <a:xfrm>
            <a:off x="6181344" y="3785615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3694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52" name="Oval 51"/>
          <p:cNvSpPr/>
          <p:nvPr/>
        </p:nvSpPr>
        <p:spPr>
          <a:xfrm>
            <a:off x="6181344" y="4032504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941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INSTALL.md · USERGUIDE.md</a:t>
            </a:r>
          </a:p>
        </p:txBody>
      </p:sp>
      <p:sp>
        <p:nvSpPr>
          <p:cNvPr id="54" name="Oval 53"/>
          <p:cNvSpPr/>
          <p:nvPr/>
        </p:nvSpPr>
        <p:spPr>
          <a:xfrm>
            <a:off x="6181344" y="427939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plan/ (msp · pvm · risks)</a:t>
            </a:r>
          </a:p>
        </p:txBody>
      </p:sp>
      <p:sp>
        <p:nvSpPr>
          <p:cNvPr id="56" name="Oval 55"/>
          <p:cNvSpPr/>
          <p:nvPr/>
        </p:nvSpPr>
        <p:spPr>
          <a:xfrm>
            <a:off x="6181344" y="4526279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434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.claude/agents/ (7 Rollen)</a:t>
            </a:r>
          </a:p>
        </p:txBody>
      </p:sp>
      <p:sp>
        <p:nvSpPr>
          <p:cNvPr id="58" name="Oval 57"/>
          <p:cNvSpPr/>
          <p:nvPr/>
        </p:nvSpPr>
        <p:spPr>
          <a:xfrm>
            <a:off x="6181344" y="47731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46817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.claude/skills · commands · hooks</a:t>
            </a:r>
          </a:p>
        </p:txBody>
      </p:sp>
      <p:sp>
        <p:nvSpPr>
          <p:cNvPr id="60" name="Oval 59"/>
          <p:cNvSpPr/>
          <p:nvPr/>
        </p:nvSpPr>
        <p:spPr>
          <a:xfrm>
            <a:off x="6181344" y="5020056"/>
            <a:ext cx="82296" cy="822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49286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.claude/…/plugin.json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82328" y="3364991"/>
            <a:ext cx="1581912" cy="19385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83496" y="347472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2761"/>
                </a:solidFill>
                <a:latin typeface="Inter"/>
                <a:cs typeface="Inter"/>
              </a:rPr>
              <a:t>→ In Claude Cowork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3496" y="3822191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1   Zip entpacken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83496" y="4151376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2   plugin.json wird erkannt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3496" y="4480559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3   /run-harness ausführen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4809744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4   Team läuft in Claude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DOKUMENTIERT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Der Prozessablauf — nach McKinsey optimiert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91640"/>
            <a:ext cx="82296" cy="117043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01368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5768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7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 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7064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1" y="2276856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1965960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127248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3127248"/>
            <a:ext cx="82296" cy="1170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3236976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7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16552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7064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36792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 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99831" y="3712463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37576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47304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4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10344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12680" y="3401568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3401568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" y="4562856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" y="4562856"/>
            <a:ext cx="82296" cy="1170432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" y="4672584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06040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15768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15768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 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8807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16552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280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9472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89320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12680" y="4837176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4837176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" y="5897880"/>
            <a:ext cx="10479024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Drei Freigabe-Gates </a:t>
            </a: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◆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— nichts geht ohne dich weiter.   Drei Schleifen </a:t>
            </a: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↺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: Interview, Reviewer (max 3×), Iteration.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19</a:t>
            </a:r>
          </a:p>
        </p:txBody>
      </p:sp>
      <p:pic>
        <p:nvPicPr>
          <p:cNvPr id="69" name="Picture 6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BEGRÜNDUNG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Warum dieser Ablauf nach McKinsey trägt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MECE-Phasen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Verstehen, Planen, Bauen — lückenlos und überschneidungsfrei.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Hypothesengeleitet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Das Interview testet Annahmen, statt nur offen zu sammeln.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706624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Pyramid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Jeder Meilenstein-Status nennt die Kernaussage zuerst.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706624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Front-loaded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Projektart &amp; Leitplanken werden vor der Planung geklärt.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 statt Solo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PMO delegiert; Worker arbeiten parallel — schneller, robuster.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Evaluator-Loop mit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Reviewer prüft max. 3×, dann entscheidest du. Keine Endlosschleife.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Bewertet wird das Ergebnis je Meilenstein, nicht jeder einzelne Zug.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Reversibilität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 Version bleibt erhalten — neu planen statt überschreiben.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20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ZGPM-Grundlagen: die vier Bausteine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85"/>
                </a:solidFill>
                <a:latin typeface="Inter"/>
                <a:cs typeface="Inter"/>
              </a:rPr>
              <a:t>ZGPM (ZielGerichtetes Projekt-Management, Methodik nach Glasner et al., PwC) liefert das Vokabular jedes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03A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Ein Zustand, der bis zu einem Termin erreicht sein muss. Sprachform: Verb im Perfekt.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„Datenschutzkonzept freigegeben“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Konkrete Arbeit, die vor dem Meilenstein erledigt sein muss. Mit Aufwand &amp; Verantwortlichen.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„Quellen anbinden — 3 PT“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85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Vertikaler Strang gleichartiger Ergebnisse. Klassisch P/S/O.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 = Personen, S = Systeme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9367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Zeitabschnitt, dem Meilensteine zugeordnet werden. Gibt den Rhythmus.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PH1 · PH2 · PH3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21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Verantwortlichkeit (PVM) &amp; Risiko-Ampel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PVM-Codes (RACI-Vorläufer)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führt aus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3347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2432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beteiligt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7238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4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11296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0215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 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950208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41064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4106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steuert Fortschritt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38912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997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7997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leitet &amp; steuert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82803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1888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1888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informiert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6694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257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ist verfügbar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4937760" cy="2606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Inter"/>
                <a:cs typeface="Inter"/>
              </a:rPr>
              <a:t>Harte Konsistenzregeln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2185415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Mindestens ein A pro Meilenstein und Aktivität.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2587751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054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Genau ein F oder L — nie mehr.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2990087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90779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Ein „e“ steht nie allein, immer mit einem E.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3392423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1012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früh im Projekt als spät.</a:t>
            </a:r>
          </a:p>
        </p:txBody>
      </p:sp>
      <p:sp>
        <p:nvSpPr>
          <p:cNvPr id="41" name="Oval 40"/>
          <p:cNvSpPr/>
          <p:nvPr/>
        </p:nvSpPr>
        <p:spPr>
          <a:xfrm>
            <a:off x="6675120" y="3794759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1246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bei Meilensteinen als bei Aktivitäten.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97680"/>
            <a:ext cx="4937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44622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Risiko-Ampel propagiert nach oben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4892040"/>
            <a:ext cx="182880" cy="18288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4846320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grün — im Plan</a:t>
            </a:r>
          </a:p>
        </p:txBody>
      </p:sp>
      <p:sp>
        <p:nvSpPr>
          <p:cNvPr id="47" name="Oval 46"/>
          <p:cNvSpPr/>
          <p:nvPr/>
        </p:nvSpPr>
        <p:spPr>
          <a:xfrm>
            <a:off x="6675120" y="5221224"/>
            <a:ext cx="182880" cy="182880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517550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gelb — achtgeben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0" y="5550407"/>
            <a:ext cx="182880" cy="18288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5504688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rot — Lauf stoppt, du gibst frei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22</a:t>
            </a:r>
          </a:p>
        </p:txBody>
      </p:sp>
      <p:pic>
        <p:nvPicPr>
          <p:cNvPr id="53" name="Picture 52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Fünf Prinzipien für gute Agentensysteme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773936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Einfachheit vor Raffinesse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06654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So wenig Agenten wie nötig — Komplexität nur, wenn sie sich auszahlt.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505456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3347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260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Der geplante Denkweg der Agenten ist sichtbar, nicht versteckt.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64992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364992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364992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493008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Agent-Computer-Interface zuerst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8561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Werkzeuge so gestalten, dass Agenten sie eindeutig nutzen können.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24528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224528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24528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352544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Kontext teilen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4515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Volle Verläufe weitergeben, nicht nur einzelne Nachrichten.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84064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084064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84064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2120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Handlungen tragen 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50468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Jede Aktion eines Agenten ist implizit eine Entscheidung — Konflikte vermeiden.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23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Pflicht-Muster in jedem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Lead zerlegt &amp; delegiert mit klarem Auftrag und Output-Schema.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Reviewer prüft gegen Regeln; max 3 Runden, dann HITL.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Parallel-Tool-Calling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Unabhängige Werkzeuge laufen gleichzeitig — bis zu 90% Zeit gespart.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Filesystem-Artifact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Große Ergebnisse in Dateien, nur Referenz zurückgeben.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Checkpoint &amp;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Zustand nach jedem Knoten sichern; nach Absturz fortsetzen.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Sectioning der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Leitplanken als eigener Prüf-Aufruf, nicht im Worker-Prompt.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HITL an festen Punkten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Meilenstein, rotes Risiko, neue Skill, Budget-Überschreitung.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Endzustand je Meilenstein bewerten — nicht jeden Zwischenschritt.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24</a:t>
            </a:r>
          </a:p>
        </p:txBody>
      </p:sp>
      <p:pic>
        <p:nvPicPr>
          <p:cNvPr id="47" name="Picture 4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3423F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Anti-Muster, die der Reviewer hart flaggt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Vage 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„Recherchiere X“ ohne Ziel, Schema und Grenzen.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Über-Spawning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50 Subagenten für eine einfache Anfrage.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Routing im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Steuerlogik gehört in Code, nicht in den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Eine LLM-Antwort für alles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Guardrail und Inhalt im selben Aufruf vermischt.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Kein Checkpoint/Retry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 Wiederaufsetzen nach Fehlern.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Sequenziell statt parallel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Werkzeuge nacheinander, obwohl parallel möglich.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Endlosschleifen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Keine Stop-Bedingung, kein Iterations-Limit.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Skills triggern zu breit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Fähigkeiten greifen, wo sie nicht sollen.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2416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Relative Pfade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In zustandsbehafteten Agenten brechen sie.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4576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Token-Budget ohne Prüfung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Budgets, die nie validiert werden.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25</a:t>
            </a:r>
          </a:p>
        </p:txBody>
      </p:sp>
      <p:pic>
        <p:nvPicPr>
          <p:cNvPr id="57" name="Picture 5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ZGPM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Erreichter Zustand zu einem Termin (Verb im Perfekt).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Arbeit, die vor dem Meilenstein erledigt sein muss.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Strang gleichartiger Ergebnisse (z. B. P/S/O).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Zeitabschnitt, der Meilensteine bündelt.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Meilensteinplan — Phasen, Pfade, Ampel auf einen Blick.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Projektverantwortlichkeitsmatrix (RACI-Vorläufer).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PRL / MRL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Projekt- bzw. Meilenstein-Risikoliste.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Ampel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Risiko-Status grün/gelb/rot, propagiert nach oben.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26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Agentik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Digitaler Mitarbeiter mit Rolle, Auftrag und Werkzeugen.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Subagent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Agent mit isoliertem Kontext für abgegrenzte Arbeit.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Wiederverwendbares Wissen/Werkzeug als SKILL.md.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Deterministische Regel (z. B. Stopp bei rotem Risiko).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Lead-Agent, der zerlegt und delegiert (hier: PMO).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HITL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Human-in-the-Loop — du als Freigabe-Instanz.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Portables Paket aus CLAUDE.md, Skills, Agenten, Plan.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Cowork / Claude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Umgebung, in der das Harness läuft.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27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Schnellreferenz: der ganze Weg auf einer Seite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neun Schritte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48840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13055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 in eigenen Worten beschreiben.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46604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66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5283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Schärfungs-Interview beantworten (McK).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944368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926080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Verständnis &amp; Agentenstruktur freigeben.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3421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421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23844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Projekte verwalten — speichern, kopieren, löschen.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72160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Leitplanken kennen — was geht, was nicht.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137659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376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11937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ZGPM-Plan lesen: Gantt, RACI, Risiko, Token.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535423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354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1713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Am Bildschirm anpassen — Text &amp; Sprache.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933187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318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914899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Harness mitgestalten — Artefakte &amp; Kommandos.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330951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3095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312663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Als Zip exportieren → Claude Cowork / Code.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155448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719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ADCFC"/>
                </a:solidFill>
                <a:latin typeface="Inter"/>
                <a:cs typeface="Inter"/>
              </a:rPr>
              <a:t>Deine 3 Kontrollpunkte</a:t>
            </a:r>
          </a:p>
        </p:txBody>
      </p:sp>
      <p:sp>
        <p:nvSpPr>
          <p:cNvPr id="36" name="Oval 35"/>
          <p:cNvSpPr/>
          <p:nvPr/>
        </p:nvSpPr>
        <p:spPr>
          <a:xfrm>
            <a:off x="7662672" y="2148840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12140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39" name="Oval 38"/>
          <p:cNvSpPr/>
          <p:nvPr/>
        </p:nvSpPr>
        <p:spPr>
          <a:xfrm>
            <a:off x="7662672" y="2624328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596896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42" name="Oval 41"/>
          <p:cNvSpPr/>
          <p:nvPr/>
        </p:nvSpPr>
        <p:spPr>
          <a:xfrm>
            <a:off x="7662672" y="3099816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3072384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Skill-Aufnahme ins Harness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886200"/>
            <a:ext cx="39319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4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62672" y="404164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3423F"/>
                </a:solidFill>
                <a:latin typeface="Inter"/>
                <a:cs typeface="Inter"/>
              </a:rPr>
              <a:t>Was nie geht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44074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Waffen &amp; Dual-Use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6908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Bio/Chemie/Nuklear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9743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Diskriminierung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5257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Malware &amp; Exploits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54126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EU-AI-Act-Verbote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28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58368"/>
            <a:ext cx="2617740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  <a:cs typeface="Inter"/>
              </a:rPr>
              <a:t>Du startest mit Worten.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CADCFC"/>
                </a:solidFill>
                <a:latin typeface="Inter"/>
                <a:cs typeface="Inter"/>
              </a:rPr>
              <a:t>Du endest mit einem lauffähigen Agententeam.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Öffne den Planner und beschreibe dein Projekt.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Schärfe das Verständnis und gib es frei.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Lass den Harness bauen und exportiere ihn.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3A6"/>
                </a:solidFill>
                <a:latin typeface="Inter"/>
                <a:cs typeface="Inter"/>
              </a:rPr>
              <a:t>exmachinAI · AEGIRA AI Trust Platform · zgpm.aegira.ai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