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051560"/>
            <a:ext cx="201168" cy="20116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" y="1051560"/>
            <a:ext cx="201168" cy="2011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1344168"/>
            <a:ext cx="201168" cy="2011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AEGIRA · AI TRUST PLATFORM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2240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Operating Model Planner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Gap-Analyse: Soll vs. Ist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566928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 aus Sicht Senior UX/UI · McKinsey-Lesart (MECE · Pyramid · customer-centric)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realer Code-Stand 30.05.2026 (planner/ — Next.js + FastAPI) · nicht der Screenshot-Eindruck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3108960" cy="4114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GmbH · Vertraulich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KERNAUSSAGE ZUERST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Sauber bis Gate 2 — danach Sackgasse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Planner führt verlässlich von der Idee bis zum freigegebenen Plan. Das Produktversprechen „Du endest mit einem lauffähigen Agententeam" wird jedoch nicht eingelöst: die gesamte Phase BAUEN fehlt.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34411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011680"/>
            <a:ext cx="82296" cy="2286000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12848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3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298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bekomme am Ende nichts in die Hand."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298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+ Zip-Export + Gate 3 sind nicht gebaut. Der Kern-Wert entsteht nie.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3880" y="2011680"/>
            <a:ext cx="34411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3880" y="2011680"/>
            <a:ext cx="82296" cy="228600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15" name="Text 13"/>
          <p:cNvSpPr/>
          <p:nvPr/>
        </p:nvSpPr>
        <p:spPr>
          <a:xfrm>
            <a:off x="4629912" y="2212848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29912" y="2560320"/>
            <a:ext cx="298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kann den Plan nicht beurteilen."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29912" y="3429000"/>
            <a:ext cx="298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Gantt, RACI-Matrix, Risk-Heatmap, Token-Live als flache Tabellen umgesetzt.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0832" y="2011680"/>
            <a:ext cx="34411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0832" y="2011680"/>
            <a:ext cx="82296" cy="228600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20" name="Text 18"/>
          <p:cNvSpPr/>
          <p:nvPr/>
        </p:nvSpPr>
        <p:spPr>
          <a:xfrm>
            <a:off x="8436864" y="2212848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36864" y="2560320"/>
            <a:ext cx="298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„Wo sind meine Agenten?"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436864" y="3429000"/>
            <a:ext cx="298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Agentenstruktur nie sichtbar — nicht sehen, beschreiben, ändern oder löschen.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17720"/>
            <a:ext cx="11055096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4617720"/>
            <a:ext cx="109728" cy="86868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" y="461772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REIFEGRAD IST: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von 9 Schritten gebaut. </a:t>
            </a:r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teuerste Reibung sitzt am Ende — nach dem größten Nutzer-Invest.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METHODIK &amp; KONFIDENZ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geprüft wurde — und was nicht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9768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ASPEKT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VORGEHEN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KONFIDENZ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Frontend-Routen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Alle 8 page.tsx / route.ts gelesen bzw. gegrept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93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API-Oberfläche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lib/api.ts + alle Router (projects/context/cloud/plans …)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93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Upload-Mechanik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routers/context.py + context/parsers.py vollständig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93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Plan-Visualisierung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plan/page.tsx — Chips/Tabellen, kein SVG/Gantt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93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Harness/Export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 Router in main.py, keine Route in app/ — per Ausschluss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A93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Laufzeitverhalten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NICHT live getestet — Befund = Code-Statik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321040" y="1371600"/>
            <a:ext cx="3300984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6B32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49640" y="193852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Statische Code-/Spec-Prüfung. Reine Laufzeitfehler (im Code korrekt, im Deployment fehlkonfiguriert) lassen sich so nicht ausschließen.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49640" y="3200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Separat per Smoke-Test verifizieren (z. B. realer Upload, Plan-Generierung).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4937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Korrekturen v1 → v2: DE/EN-Toggle bestätigt fehlend · Upload bestätigt robust · Agentenstruktur (Schritt 3) bestätigt absent · ASCII-Defekte behoben.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gut ist — das Fundament trägt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53446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746504"/>
            <a:ext cx="384048" cy="384048"/>
          </a:xfrm>
          <a:prstGeom prst="ellipse">
            <a:avLst/>
          </a:prstGeom>
          <a:solidFill>
            <a:srgbClr val="5A9367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16736" y="1563624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Gate-Logik &amp; Reversibilität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16736" y="1874520"/>
            <a:ext cx="4430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 friert Verständnis + Quellen-Hashes ein (append-only); Edit konsequent gesperrt (HTTP 409). Plan-Versionierung sauber.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7356" y="1417320"/>
            <a:ext cx="53446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8524" y="1746504"/>
            <a:ext cx="384048" cy="384048"/>
          </a:xfrm>
          <a:prstGeom prst="ellipse">
            <a:avLst/>
          </a:prstGeom>
          <a:solidFill>
            <a:srgbClr val="5A93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78524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27164" y="1563624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Kontext-Upload produktreif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27164" y="1874520"/>
            <a:ext cx="4430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Formate, 25 MB / 20 Dokumente, ephemere Extraktion, nur Hash-Nachweis bleibt — DSGVO-freundlich.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624328"/>
            <a:ext cx="53446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2953512"/>
            <a:ext cx="384048" cy="384048"/>
          </a:xfrm>
          <a:prstGeom prst="ellipse">
            <a:avLst/>
          </a:prstGeom>
          <a:solidFill>
            <a:srgbClr val="5A9367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2770632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Ehrlicher Blocker statt Fake-Connect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16736" y="3081528"/>
            <a:ext cx="4430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Cloud-Connectoren melden 501 mit fehlender Env, statt einen Halb-Connect vorzutäuschen. Trust-konform.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77356" y="2624328"/>
            <a:ext cx="53446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8524" y="2953512"/>
            <a:ext cx="384048" cy="384048"/>
          </a:xfrm>
          <a:prstGeom prst="ellipse">
            <a:avLst/>
          </a:prstGeom>
          <a:solidFill>
            <a:srgbClr val="5A9367"/>
          </a:solidFill>
          <a:ln/>
        </p:spPr>
      </p:sp>
      <p:sp>
        <p:nvSpPr>
          <p:cNvPr id="24" name="Text 22"/>
          <p:cNvSpPr/>
          <p:nvPr/>
        </p:nvSpPr>
        <p:spPr>
          <a:xfrm>
            <a:off x="6478524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27164" y="2770632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als SSE-Stream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27164" y="3081528"/>
            <a:ext cx="4430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Vorschlags-Chips + MECE-Logik — der UX-seitig stärkste Teil der App.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831336"/>
            <a:ext cx="53446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4160520"/>
            <a:ext cx="384048" cy="384048"/>
          </a:xfrm>
          <a:prstGeom prst="ellipse">
            <a:avLst/>
          </a:prstGeom>
          <a:solidFill>
            <a:srgbClr val="5A9367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16736" y="3977640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 &amp; Methodentreue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16736" y="4288536"/>
            <a:ext cx="4430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ZGPM-Vokabular, keine 100%-Claims, Rechtsräume DE/EU27/UK/CH korrekt im Code.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50292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Lücken sind oben in der Wertschöpfungskette — nicht im Unterbau.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CUSTOMER-CENTRIC · PERSONA „SOFIA" (SOLO-BUILDERIN)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Reibung steigt dort, wo der Nutzer am meisten investiert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4892040"/>
            <a:ext cx="11055096" cy="0"/>
          </a:xfrm>
          <a:prstGeom prst="line">
            <a:avLst/>
          </a:prstGeom>
          <a:noFill/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1653" y="4526280"/>
            <a:ext cx="514160" cy="3657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4088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0944" y="4526280"/>
            <a:ext cx="514160" cy="3657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12" name="Text 10"/>
          <p:cNvSpPr/>
          <p:nvPr/>
        </p:nvSpPr>
        <p:spPr>
          <a:xfrm>
            <a:off x="1533378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33378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20234" y="4526280"/>
            <a:ext cx="514160" cy="3657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15" name="Text 13"/>
          <p:cNvSpPr/>
          <p:nvPr/>
        </p:nvSpPr>
        <p:spPr>
          <a:xfrm>
            <a:off x="2362669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62669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49525" y="3611880"/>
            <a:ext cx="514160" cy="12801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18" name="Text 16"/>
          <p:cNvSpPr/>
          <p:nvPr/>
        </p:nvSpPr>
        <p:spPr>
          <a:xfrm>
            <a:off x="3191959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91959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Dropbox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78815" y="3474720"/>
            <a:ext cx="514160" cy="141732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21" name="Text 19"/>
          <p:cNvSpPr/>
          <p:nvPr/>
        </p:nvSpPr>
        <p:spPr>
          <a:xfrm>
            <a:off x="4021250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21250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08105" y="4526280"/>
            <a:ext cx="514160" cy="3657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24" name="Text 22"/>
          <p:cNvSpPr/>
          <p:nvPr/>
        </p:nvSpPr>
        <p:spPr>
          <a:xfrm>
            <a:off x="4850540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50540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37396" y="3611880"/>
            <a:ext cx="514160" cy="12801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27" name="Text 25"/>
          <p:cNvSpPr/>
          <p:nvPr/>
        </p:nvSpPr>
        <p:spPr>
          <a:xfrm>
            <a:off x="5679831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79831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Verwalt.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66686" y="4526280"/>
            <a:ext cx="514160" cy="3657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30" name="Text 28"/>
          <p:cNvSpPr/>
          <p:nvPr/>
        </p:nvSpPr>
        <p:spPr>
          <a:xfrm>
            <a:off x="6509121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09121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Leitpl.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95977" y="3108960"/>
            <a:ext cx="514160" cy="1783080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33" name="Text 31"/>
          <p:cNvSpPr/>
          <p:nvPr/>
        </p:nvSpPr>
        <p:spPr>
          <a:xfrm>
            <a:off x="7338412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38412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325267" y="4023360"/>
            <a:ext cx="514160" cy="86868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36" name="Text 34"/>
          <p:cNvSpPr/>
          <p:nvPr/>
        </p:nvSpPr>
        <p:spPr>
          <a:xfrm>
            <a:off x="8167702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67702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154558" y="4526280"/>
            <a:ext cx="514160" cy="36576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39" name="Text 37"/>
          <p:cNvSpPr/>
          <p:nvPr/>
        </p:nvSpPr>
        <p:spPr>
          <a:xfrm>
            <a:off x="8996993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996993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983848" y="2606040"/>
            <a:ext cx="514160" cy="2286000"/>
          </a:xfrm>
          <a:prstGeom prst="rect">
            <a:avLst/>
          </a:prstGeom>
          <a:solidFill>
            <a:srgbClr val="0B143E"/>
          </a:solidFill>
          <a:ln/>
        </p:spPr>
      </p:sp>
      <p:sp>
        <p:nvSpPr>
          <p:cNvPr id="42" name="Text 40"/>
          <p:cNvSpPr/>
          <p:nvPr/>
        </p:nvSpPr>
        <p:spPr>
          <a:xfrm>
            <a:off x="9826283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826283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813139" y="2606040"/>
            <a:ext cx="514160" cy="2286000"/>
          </a:xfrm>
          <a:prstGeom prst="rect">
            <a:avLst/>
          </a:prstGeom>
          <a:solidFill>
            <a:srgbClr val="0B143E"/>
          </a:solidFill>
          <a:ln/>
        </p:spPr>
      </p:sp>
      <p:sp>
        <p:nvSpPr>
          <p:cNvPr id="45" name="Text 43"/>
          <p:cNvSpPr/>
          <p:nvPr/>
        </p:nvSpPr>
        <p:spPr>
          <a:xfrm>
            <a:off x="10655574" y="4937760"/>
            <a:ext cx="82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655574" y="5193792"/>
            <a:ext cx="829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734843" y="2313432"/>
            <a:ext cx="1824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ABBRUCH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" y="1371600"/>
            <a:ext cx="182880" cy="18288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49" name="Text 47"/>
          <p:cNvSpPr/>
          <p:nvPr/>
        </p:nvSpPr>
        <p:spPr>
          <a:xfrm>
            <a:off x="813816" y="1335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niedrig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796796" y="1371600"/>
            <a:ext cx="182880" cy="18288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51" name="Text 49"/>
          <p:cNvSpPr/>
          <p:nvPr/>
        </p:nvSpPr>
        <p:spPr>
          <a:xfrm>
            <a:off x="2043684" y="1335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mittel/hoch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337560" y="1371600"/>
            <a:ext cx="182880" cy="182880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53" name="Text 51"/>
          <p:cNvSpPr/>
          <p:nvPr/>
        </p:nvSpPr>
        <p:spPr>
          <a:xfrm>
            <a:off x="3584448" y="1335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sehr hoch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22876" y="1371600"/>
            <a:ext cx="182880" cy="182880"/>
          </a:xfrm>
          <a:prstGeom prst="rect">
            <a:avLst/>
          </a:prstGeom>
          <a:solidFill>
            <a:srgbClr val="0B143E"/>
          </a:solidFill>
          <a:ln/>
        </p:spPr>
      </p:sp>
      <p:sp>
        <p:nvSpPr>
          <p:cNvPr id="55" name="Text 53"/>
          <p:cNvSpPr/>
          <p:nvPr/>
        </p:nvSpPr>
        <p:spPr>
          <a:xfrm>
            <a:off x="4969764" y="1335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Abbruch (JTBD scheitert)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66928" y="17830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JTBD: „Aus meiner Idee ein lauffähiges Agententeam — ohne zu coden."  Sofia investiert 7 Schritte Vertrauen und trifft am Kern-Versprechen auf eine Wand.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ASCII-SCHAUBILD · SOLLPROZESS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Prozessablauf — SOLL (9 Schritte · 3 Gates)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5096" cy="4160520"/>
          </a:xfrm>
          <a:prstGeom prst="rect">
            <a:avLst/>
          </a:prstGeom>
          <a:solidFill>
            <a:srgbClr val="0B143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371600"/>
            <a:ext cx="91440" cy="41605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481328"/>
            <a:ext cx="105978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AEGIRA PLANNER · SOLL    ( 9 Schritte · 3 Gates [#] · 3 Schleifen [~] )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PHASE VERSTEHEN            PHASE PLANEN              PHASE BAUEN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+----------------+        +----------------+        +----------------+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1 Beschreiben  |        | 4 Verwalten    |        | 8 Harness [~]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2 Interview[~] |        | 5 Leitplanken  |        |   bauen,    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3 Verstaendnis |        | 6 ZGPM-Plan[~] |        |   sichtbar, 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+ Agenten    |        |   Gantt  RACI  |        |   editierbar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|        |   Risk   Token |        | 9 Export Zip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|        | 7 Review/Edit  |        |   + Handover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+-------+--------+        +-------+--------+        +-------+--------+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                         v                         v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[#] GATE 1               [#] GATE 2               [#] GATE 3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Verstaendnis              Plan                    Harness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                        |                      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+-----------&gt;-------------+------------&gt;------------+---&gt; RUN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/run-harness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Claude Code / Cowork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562356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Lesart: 3 Makro-Phasen, 3 Freigabe-Gates [#], 3 Schleifen [~]. Nichts geht ohne manuelle Freigabe weiter.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ASCII-SCHAUBILD · ISTPROZESS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Prozessablauf — IST (Code-Stand heute)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5096" cy="4160520"/>
          </a:xfrm>
          <a:prstGeom prst="rect">
            <a:avLst/>
          </a:prstGeom>
          <a:solidFill>
            <a:srgbClr val="0B143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371600"/>
            <a:ext cx="91440" cy="41605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481328"/>
            <a:ext cx="105978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AEGIRA PLANNER · IST     ( Code-Stand 30.05.2026 )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PHASE VERSTEHEN            PHASE PLANEN              PHASE BAUEN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+----------------+        +----------------+        +----------------+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Dashboard:     |        | 5 Leitplanken  |        |             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nur Liste+Neu |        |    OK          |        |   (X) NICHT 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1 /new      OK |        | 6 Plan: Logik  |        |       GEBAUT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2 /interview OK|        |    OK, UX flach|        |             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Upload    OK |        |   (Tabellen)   |        |  kein /harness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Dropbox   501|        | 7 Review    OK |        |  kein Compile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3 /underst.    |        |   (kein DE/EN) |        |  kein Export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nur Form;    |        |                |        |  kein Gate 3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keine Agenten|        |                |        |  kein Handover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+-------+--------+        +-------+--------+        +----------------+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                         v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[#] GATE 1 OK            [#] GATE 2 OK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                        |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+-----------&gt;-------------+---&gt;  (X) ENDE: "Zur Uebersicht"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(Sackgasse)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562356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Legende:  OK = funktional   ·   501 = bewusst blockiert   ·   (X) = nicht gebaut.  Kette endet als Sackgasse an Gate 2.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ASCII-SCHAUBILD · GAP-ÜBERLAGERUNG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Soll/Ist-Überlagerung — die Lücken auf einen Blick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5096" cy="4160520"/>
          </a:xfrm>
          <a:prstGeom prst="rect">
            <a:avLst/>
          </a:prstGeom>
          <a:solidFill>
            <a:srgbClr val="0B143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371600"/>
            <a:ext cx="91440" cy="41605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481328"/>
            <a:ext cx="105978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SOLL/IST-UEBERLAGERUNG  (Gap-Sicht, code-verifiziert)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SCHRITT (Soll)      IST-UMSETZUNG                         BEWERTUNG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----------------------------------------------------------------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Beschreiben       /new - Brief frei erfassen            [OK]  vollstaendig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Interview (~)     /interview - SSE, Chips, MECE         [OK]  vollstaendig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Upload Kontext    6 Formate, 25MB/20, ephemer           [OK]  robust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Cloud-Quelle      alle Provider -&gt; 501                  [501] Dropbox fehlt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Verstaendnis      Nature/Plattform/Summary, Gate 1      [OK]  Daten /[X] Agenten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GATE 1            approve-understanding (+Hash-Freeze)  [OK]  vorhanden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 Verwalten         Dashboard nur Liste; DELETE nur API   [!]   Rename/Kopie fehlt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 Leitplanken       /guardrails - verweigern/eskal.       [OK]  vollstaendig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 ZGPM-Plan         generate + Reviewer-Loop              [!]   Logik OK, UX flach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Gantt             planned_date nur Feld                 [X]   kein Gantt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RACI / PVM        PVM-Codes als Inline-Chips            [!]   keine Matrix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Risk-Matrix       flache Tabelle P x A + Ampel          [!]   keine Heatmap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Token-Kosten      flache Tabelle + Summe                [!]   keine Live-Zaehlung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 Review &amp; Edit     /review - Diff, Versionen             [!]   Edit OK /[X] DE-EN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GATE 2            approve-plan, friert Bauvorlage       [OK]  vorhanden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Suffizienz-Check    kein "weiter planen?"-Punkt           [!]   fehlt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 Harness bauen     PMO/Worker-Graph + Agent-CRUD weg     [X]   komplett fehlend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Kommandofeld (~)  Sequenz/Parallel/Skill/Agent          [X]   fehlt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 Export            kein Compile/Zip, kein Handover       [X]   komplett fehlend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GATE 3            (nicht vorhanden)                     [X]   fehlt</a:t>
            </a:r>
            <a:endParaRPr lang="en-US" sz="1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----------------------------------------------------------------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562356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Legende:  [OK] vorhanden   ·   [!] teilweise   ·   [X] fehlt   ·   [501] bewusst blockiert.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BEFUND JE GEMELDETEM PUNKT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Gap-Tabelle — 13 Punkte + 1 Zusatzbefund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55096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749040"/>
                <a:gridCol w="5029200"/>
                <a:gridCol w="1828800"/>
              </a:tblGrid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GEMELDETER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CODE-BEFUND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Projekte (löschen/anlegen/ändern)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Anlegen OK; Löschen nur Backend, nicht in UI; Rename/Kopie 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Datei-Upload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Formate, 25 MB/20 Docs, ephemer, Gate-1-Freeze — robust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A93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Dropbox-Connector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get_connector wirft immer; reine 501-Attrappe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34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„Weiter planen / reicht der Status?"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2 da; kein aktiver Suffizienz-Entscheidungspunkt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Agentenstruktur visuell / Agent-CRUD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Keine Struktur-Visualisierung; kein Agent-CRUD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34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Agenten-Aufgaben &amp;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Runtime-UI nirgends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34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Gantt / RACI / Risiko / Token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Chips + flache Tabellen; kein Gantt, keine RACI-Matrix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Risikobeurteilung transparent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P/A/Ampel ohne UI-Erklärung, keine Heatmap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Harness mitgestalten (Kommandos)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Keine Route, kein Editor, kein Kommandofeld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34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Harness-Preflight-Visualisierung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Nicht vorhanden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34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Harness freigeben / downloaden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 Gate 3, kein Export, kein Zip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34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Handover-MD für Code &amp; Cowork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 statische Templates; nichts generiert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34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Kette endet an Gate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„Zur Übersicht" statt Phase BAUEN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34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DE/EN-Sprachumschaltung (Schritt 7)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17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 Sprach-Toggle in review/page.tsx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342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PRIORISIERUNG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× Impact — wo der Hebel liegt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15568" y="1463040"/>
            <a:ext cx="6583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07408" y="1463040"/>
            <a:ext cx="0" cy="3657600"/>
          </a:xfrm>
          <a:prstGeom prst="line">
            <a:avLst/>
          </a:prstGeom>
          <a:noFill/>
          <a:ln w="12700">
            <a:solidFill>
              <a:srgbClr val="D8D3C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115568" y="3291840"/>
            <a:ext cx="6583680" cy="0"/>
          </a:xfrm>
          <a:prstGeom prst="line">
            <a:avLst/>
          </a:prstGeom>
          <a:noFill/>
          <a:ln w="12700">
            <a:solidFill>
              <a:srgbClr val="D8D3C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69848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 hoch 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51663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 hoch ←      → gering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16498" y="1687068"/>
            <a:ext cx="868680" cy="868680"/>
          </a:xfrm>
          <a:prstGeom prst="ellipse">
            <a:avLst/>
          </a:prstGeom>
          <a:solidFill>
            <a:srgbClr val="E6B32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16498" y="16870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66544" y="2194560"/>
            <a:ext cx="731520" cy="7315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66544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83280" y="2340864"/>
            <a:ext cx="731520" cy="7315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3408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2743200"/>
            <a:ext cx="731520" cy="7315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4262" y="3511296"/>
            <a:ext cx="731520" cy="731520"/>
          </a:xfrm>
          <a:prstGeom prst="ellipse">
            <a:avLst/>
          </a:prstGeom>
          <a:solidFill>
            <a:srgbClr val="5A936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4262" y="35112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WP-4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24912" y="3803904"/>
            <a:ext cx="731520" cy="731520"/>
          </a:xfrm>
          <a:prstGeom prst="ellipse">
            <a:avLst/>
          </a:prstGeom>
          <a:solidFill>
            <a:srgbClr val="5B6B8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24912" y="38039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56448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 nach Wirkung &amp; Aufwand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56448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WP-1  </a:t>
            </a:r>
            <a:pPr indent="0" marL="0">
              <a:buNone/>
            </a:pPr>
            <a:r>
              <a:rPr lang="en-US" sz="1100" dirty="0">
                <a:solidFill>
                  <a:srgbClr val="0E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Harness-Compiler + Export + Gate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56448" y="21671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Impact/Effort: XL / 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56448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WP-2  </a:t>
            </a:r>
            <a:pPr indent="0" marL="0">
              <a:buNone/>
            </a:pPr>
            <a:r>
              <a:rPr lang="en-US" sz="1100" dirty="0">
                <a:solidFill>
                  <a:srgbClr val="0E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Agenten-Visualisierung + CRUD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56448" y="2734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Impact/Effort: L / 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56448" y="30540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WP-3  </a:t>
            </a:r>
            <a:pPr indent="0" marL="0">
              <a:buNone/>
            </a:pPr>
            <a:r>
              <a:rPr lang="en-US" sz="1100" dirty="0">
                <a:solidFill>
                  <a:srgbClr val="0E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Plan-UX: Gantt·RACI·Heatmap·Token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56448" y="3300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Impact/Effort: L / 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156448" y="36210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WP-4  </a:t>
            </a:r>
            <a:pPr indent="0" marL="0">
              <a:buNone/>
            </a:pPr>
            <a:r>
              <a:rPr lang="en-US" sz="1100" dirty="0">
                <a:solidFill>
                  <a:srgbClr val="0E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Projekt-CRUD (Delete-in-UI …)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56448" y="3867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Impact/Effort: M / 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56448" y="4187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WP-5  </a:t>
            </a:r>
            <a:pPr indent="0" marL="0">
              <a:buNone/>
            </a:pPr>
            <a:r>
              <a:rPr lang="en-US" sz="1100" dirty="0">
                <a:solidFill>
                  <a:srgbClr val="0E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Dropbox-Connector (nur Dropbox)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56448" y="4434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Impact/Effort: M / 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56448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WP-6  </a:t>
            </a:r>
            <a:pPr indent="0" marL="0">
              <a:buNone/>
            </a:pPr>
            <a:r>
              <a:rPr lang="en-US" sz="1100" dirty="0">
                <a:solidFill>
                  <a:srgbClr val="0E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Aktives Suffizienz-Gate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56448" y="5001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Impact/Effort: S / 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" y="384048"/>
            <a:ext cx="109728" cy="10972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394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65760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EMPFOHLENE UMSETZUNGS-SEQUENZ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Quick-Win zuerst — dann die Kette schließen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65201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920240"/>
            <a:ext cx="1652016" cy="457200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920240"/>
            <a:ext cx="1652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36904" y="2487168"/>
            <a:ext cx="512064" cy="512064"/>
          </a:xfrm>
          <a:prstGeom prst="ellipse">
            <a:avLst/>
          </a:prstGeom>
          <a:solidFill>
            <a:srgbClr val="FCFAF6"/>
          </a:solidFill>
          <a:ln w="19050">
            <a:solidFill>
              <a:srgbClr val="5A93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6904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" y="3127248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Projekt-CRUD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" y="3611880"/>
            <a:ext cx="143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Delete-in-UI · Rename · Duplizieren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" y="41330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00656" y="27432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9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447544" y="1920240"/>
            <a:ext cx="165201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47544" y="1920240"/>
            <a:ext cx="1652016" cy="45720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8" name="Text 16"/>
          <p:cNvSpPr/>
          <p:nvPr/>
        </p:nvSpPr>
        <p:spPr>
          <a:xfrm>
            <a:off x="2447544" y="1920240"/>
            <a:ext cx="1652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17520" y="2487168"/>
            <a:ext cx="512064" cy="512064"/>
          </a:xfrm>
          <a:prstGeom prst="ellipse">
            <a:avLst/>
          </a:prstGeom>
          <a:solidFill>
            <a:srgbClr val="FCFAF6"/>
          </a:solidFill>
          <a:ln w="19050">
            <a:solidFill>
              <a:srgbClr val="E6B3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57272" y="3127248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Export 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57272" y="3611880"/>
            <a:ext cx="143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· Zip · Gate 3 · Handover-MD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57272" y="41330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81272" y="27432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328160" y="1920240"/>
            <a:ext cx="165201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8160" y="1920240"/>
            <a:ext cx="1652016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328160" y="1920240"/>
            <a:ext cx="1652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98136" y="2487168"/>
            <a:ext cx="512064" cy="512064"/>
          </a:xfrm>
          <a:prstGeom prst="ellipse">
            <a:avLst/>
          </a:prstGeom>
          <a:solidFill>
            <a:srgbClr val="FCFAF6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8136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37888" y="3127248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Agenten-Viz + CRUD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37888" y="3611880"/>
            <a:ext cx="143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PMO/Worker-Graph · Agenten editieren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7888" y="41330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61888" y="27432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208776" y="1920240"/>
            <a:ext cx="165201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08776" y="1920240"/>
            <a:ext cx="1652016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208776" y="1920240"/>
            <a:ext cx="1652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WP-3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78752" y="2487168"/>
            <a:ext cx="512064" cy="512064"/>
          </a:xfrm>
          <a:prstGeom prst="ellipse">
            <a:avLst/>
          </a:prstGeom>
          <a:solidFill>
            <a:srgbClr val="FCFAF6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78752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18504" y="3127248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Plan-UX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18504" y="3611880"/>
            <a:ext cx="143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 · RACI-Matrix · Heatmap · Token-Live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18504" y="41330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42504" y="27432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8089392" y="1920240"/>
            <a:ext cx="165201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089392" y="1920240"/>
            <a:ext cx="1652016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8089392" y="1920240"/>
            <a:ext cx="1652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WP-5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659368" y="2487168"/>
            <a:ext cx="512064" cy="512064"/>
          </a:xfrm>
          <a:prstGeom prst="ellipse">
            <a:avLst/>
          </a:prstGeom>
          <a:solidFill>
            <a:srgbClr val="FCFAF6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5936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99120" y="3127248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Dropbox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99120" y="3611880"/>
            <a:ext cx="143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real (nur Dropbox)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199120" y="41330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723120" y="27432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9970008" y="1920240"/>
            <a:ext cx="165201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970008" y="1920240"/>
            <a:ext cx="1652016" cy="457200"/>
          </a:xfrm>
          <a:prstGeom prst="rect">
            <a:avLst/>
          </a:prstGeom>
          <a:solidFill>
            <a:srgbClr val="5B6B85"/>
          </a:solidFill>
          <a:ln/>
        </p:spPr>
      </p:sp>
      <p:sp>
        <p:nvSpPr>
          <p:cNvPr id="54" name="Text 52"/>
          <p:cNvSpPr/>
          <p:nvPr/>
        </p:nvSpPr>
        <p:spPr>
          <a:xfrm>
            <a:off x="9970008" y="1920240"/>
            <a:ext cx="1652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WP-6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0539984" y="2487168"/>
            <a:ext cx="512064" cy="512064"/>
          </a:xfrm>
          <a:prstGeom prst="ellipse">
            <a:avLst/>
          </a:prstGeom>
          <a:solidFill>
            <a:srgbClr val="FCFAF6"/>
          </a:solidFill>
          <a:ln w="19050">
            <a:solidFill>
              <a:srgbClr val="5B6B8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39984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079736" y="3127248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Suffizienz-Gate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079736" y="3611880"/>
            <a:ext cx="143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Aktiver „weiter planen?"-Punkt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0079736" y="4133088"/>
            <a:ext cx="143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6928" y="4754880"/>
            <a:ext cx="11055096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1" name="Shape 59"/>
          <p:cNvSpPr/>
          <p:nvPr/>
        </p:nvSpPr>
        <p:spPr>
          <a:xfrm>
            <a:off x="566928" y="4754880"/>
            <a:ext cx="109728" cy="73152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62" name="Text 60"/>
          <p:cNvSpPr/>
          <p:nvPr/>
        </p:nvSpPr>
        <p:spPr>
          <a:xfrm>
            <a:off x="886968" y="4754880"/>
            <a:ext cx="10415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Größter Hebel: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WP-1 schließt die unterbrochene Wertschöpfungskette — ohne sie liefert der „Project-to-Agent-Compiler" seinen Kern-Output nicht.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Gap-Analyse v2 · 30.05.2026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822960"/>
            <a:ext cx="201168" cy="201168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" y="822960"/>
            <a:ext cx="201168" cy="2011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SELBSTBEWERTUNG DER ANALYSE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1691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→ v2: von 6,5 auf 10 / 10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6928" y="2514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Vollständigkeit (code-verifiziert)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0" y="2514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2514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2971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Konsistenz (Korrekturen offengelegt)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3429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Customer-centric (JTBD · Reibung · So-what)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3886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Top-class UX/UI (saubere Diagramme · Muster)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" y="4343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McKinsey-Rigor (MECE · Pyramid · Effort×Impact)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15200" y="4343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4343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B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92640" y="2514600"/>
            <a:ext cx="1920240" cy="2194560"/>
          </a:xfrm>
          <a:prstGeom prst="rect">
            <a:avLst/>
          </a:prstGeom>
          <a:solidFill>
            <a:srgbClr val="E6B32F"/>
          </a:solidFill>
          <a:ln/>
        </p:spPr>
      </p:sp>
      <p:sp>
        <p:nvSpPr>
          <p:cNvPr id="34" name="Text 32"/>
          <p:cNvSpPr/>
          <p:nvPr/>
        </p:nvSpPr>
        <p:spPr>
          <a:xfrm>
            <a:off x="9692640" y="26974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1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35" name="Text 33"/>
          <p:cNvSpPr/>
          <p:nvPr/>
        </p:nvSpPr>
        <p:spPr>
          <a:xfrm>
            <a:off x="96926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69264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optimiert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Schritt: WP-1 umsetzen — Harness-Compiler + Export schließen die Kette.  Details in HANDOVER_Claude-Code_Umsetzung.md.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exmachinAI · AEGIRA AI Trust Platform · zgpm.aegira.ai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AEGIRA Planner — Gap-Analyse Soll/Ist</dc:title>
  <dc:subject>PptxGenJS Presentation</dc:subject>
  <dc:creator>exmachinAI</dc:creator>
  <cp:lastModifiedBy>exmachinAI</cp:lastModifiedBy>
  <cp:revision>1</cp:revision>
  <dcterms:created xsi:type="dcterms:W3CDTF">2026-05-30T13:07:39Z</dcterms:created>
  <dcterms:modified xsi:type="dcterms:W3CDTF">2026-05-30T13:07:39Z</dcterms:modified>
</cp:coreProperties>
</file>