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F2B33D"/>
                </a:solidFill>
                <a:latin typeface="Inter"/>
              </a:rPr>
              <a:t>AI TRUST PLATFORM · exmachinAI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Inter"/>
              </a:rPr>
              <a:t>AEGIRA Agent Operating Model Planner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4000" b="1" i="0">
                <a:solidFill>
                  <a:srgbClr val="C8D2EC"/>
                </a:solidFill>
                <a:latin typeface="Inter"/>
              </a:rPr>
              <a:t>User Guide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8D2EC"/>
                </a:solidFill>
                <a:latin typeface="Inter"/>
              </a:rPr>
              <a:t>Von der Projektidee zum lauffähigen Agententeam — Schritt für Schritt.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3A6"/>
                </a:solidFill>
                <a:latin typeface="Inter"/>
              </a:rPr>
              <a:t>Für Anwender ohne Programmiererfahrung · ZGPM-konform · Stand 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ORIENTIERUNG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Wie du diesen Guide liest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5B6B85"/>
                </a:solidFill>
                <a:latin typeface="Inter"/>
              </a:rPr>
              <a:t>Jeder der neun Schritte folgt demselben Aufbau — einmal verstanden, findest du dich überall sofort zurecht.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Was in diesem Schritt erreicht wird.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Was du tust — meist lesen, klicken, bestätigen.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Welche Agenten im Hintergrund für dich arbeiten.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Wo du entscheidest. Nichts geht ohne deine Freigabe weiter.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WAS DU NACH DIESEM GUIDE KANNST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 Projekt in eigenen Worten beschreiben — und methodisch schärfen lassen.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 präzises Projektverständnis inkl. Agentenstruktur freigeben.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Einen ZGPM-Plan lesen und anpassen — Meilensteine, RACI, Risiken, Zeit, Kosten.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Die Leitplanken verstehen — was erlaubt ist und was das System verweigert.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5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Den Agenten-Harness mitgestalten — Artefakte editieren, Struktur per Kommando verbessern.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6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Ein lauffähiges Paket exportieren — Zip mit Setup für Claude Cowork &amp; Claude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DAS PRODUKT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Ein Project-to-Agent-Compiler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</a:rPr>
              <a:t>Aus deiner Projektidee entsteht über methodisch saubere Stufen ein vollständiger Bauplan — und daraus ein lauffähiges Agentensystem.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35204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3520440" cy="10972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E2761"/>
                </a:solidFill>
                <a:latin typeface="Inter"/>
              </a:rPr>
              <a:t>PLAN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B34"/>
                </a:solidFill>
                <a:latin typeface="Inter"/>
              </a:rPr>
              <a:t>Projektauftrag → ZGPM-Plan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5"/>
                </a:solidFill>
                <a:latin typeface="Inter"/>
              </a:rPr>
              <a:t>Meilensteine, Rollen, Risiken.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468880"/>
            <a:ext cx="35204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2468880"/>
            <a:ext cx="3520440" cy="109728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E8703A"/>
                </a:solidFill>
                <a:latin typeface="Inter"/>
              </a:rPr>
              <a:t>HARNESS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B34"/>
                </a:solidFill>
                <a:latin typeface="Inter"/>
              </a:rPr>
              <a:t>Plan → Paket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5"/>
                </a:solidFill>
                <a:latin typeface="Inter"/>
              </a:rPr>
              <a:t>CLAUDE.md, Skills und Agenten.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468880"/>
            <a:ext cx="352044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2468880"/>
            <a:ext cx="3520440" cy="10972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29718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7D46"/>
                </a:solidFill>
                <a:latin typeface="Inter"/>
              </a:rPr>
              <a:t>RUN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41B34"/>
                </a:solidFill>
                <a:latin typeface="Inter"/>
              </a:rPr>
              <a:t>Paket läuft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B6B85"/>
                </a:solidFill>
                <a:latin typeface="Inter"/>
              </a:rPr>
              <a:t>Auf deinem Rechner in Claude Code / Cowork.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E2761"/>
                </a:solidFill>
                <a:latin typeface="Inter"/>
              </a:rPr>
              <a:t>Warum?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1B34"/>
                </a:solidFill>
                <a:latin typeface="Inter"/>
              </a:rPr>
              <a:t>Wer heute Agenten baut, startet technisch — Prompt, Tool, Workflow. Was fehlt, ist die organisatorische Vorarbeit: Plan, Rollen, RACI, Governance. Solo-Builder haben kein Projektteam. Der Planner liefert genau diese organisatorische Intelligenz.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2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DAS MENTALE MODELL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Agenten sind digitale Mitarbeiter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</a:rPr>
              <a:t>Wenn Agenten wie Mitarbeiter arbeiten, brauchen sie, was jedes gute Team braucht: Rollen, Verantwortlichkeiten, Fähigkeiten und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30352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6634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8A93A6"/>
                </a:solidFill>
                <a:latin typeface="Inter"/>
              </a:rPr>
              <a:t>ÜBLICHER START · TECHNISCH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41B34"/>
                </a:solidFill>
                <a:latin typeface="Consolas"/>
              </a:rPr>
              <a:t>Prompt → Tool → Workflow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B6B85"/>
                </a:solidFill>
                <a:latin typeface="Inter"/>
              </a:rPr>
              <a:t>Ergebnis: technisch lauffähig, aber ohne organisatorische Klarheit.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68880"/>
            <a:ext cx="5303520" cy="31089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2468880"/>
            <a:ext cx="5303520" cy="109728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6634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AEGIRA-START · ORGANISATORISCH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Projektplan → Rollenmodell → Skill-Matrix → RACI/PVM → Agentenstruktur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C8D2EC"/>
                </a:solidFill>
                <a:latin typeface="Inter"/>
              </a:rPr>
              <a:t>Aus dem Plan wird die Technik abgeleitet — nicht umgekehrt.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3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DER WEG &amp; DEIN PRINZIP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Drei Phasen · neun Schritte · drei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2044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VERSTEHEN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1 Beschreiben · 2 Interview · 3 Verständnis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◆ GATE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6304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520440" cy="45720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51790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PLANEN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0312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4 Verwalten · 5 Leitplanken · 6 ZGPM-Plan · 7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◆ GATE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463040"/>
            <a:ext cx="35204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80" y="1463040"/>
            <a:ext cx="3520440" cy="45720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51790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BAUEN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0312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8 Harness · 9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2461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11064240" cy="1874519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29768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F2B33D"/>
                </a:solidFill>
                <a:latin typeface="Inter"/>
              </a:rPr>
              <a:t>DU BEHÄLTST DIE KONTROLLE — HUMAN-IN-THE-LOOP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B33D"/>
                </a:solidFill>
                <a:latin typeface="Inter"/>
              </a:rPr>
              <a:t>✓  </a:t>
            </a:r>
            <a:r>
              <a:rPr sz="1300" b="0" i="0">
                <a:solidFill>
                  <a:srgbClr val="FFFFFF"/>
                </a:solidFill>
                <a:latin typeface="Inter"/>
              </a:rPr>
              <a:t>Meilenstein-Freigabe — jeder Phasenübergang wartet auf deine manuelle Bestätigung.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B33D"/>
                </a:solidFill>
                <a:latin typeface="Inter"/>
              </a:rPr>
              <a:t>!  </a:t>
            </a:r>
            <a:r>
              <a:rPr sz="1300" b="0" i="0">
                <a:solidFill>
                  <a:srgbClr val="FFFFFF"/>
                </a:solidFill>
                <a:latin typeface="Inter"/>
              </a:rPr>
              <a:t>Rote Risiko-Ampel — steht ein Risiko auf Rot, stoppt der Lauf. Nur du gibst ihn frei.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2B33D"/>
                </a:solidFill>
                <a:latin typeface="Inter"/>
              </a:rPr>
              <a:t>◆  </a:t>
            </a:r>
            <a:r>
              <a:rPr sz="1300" b="0" i="0">
                <a:solidFill>
                  <a:srgbClr val="FFFFFF"/>
                </a:solidFill>
                <a:latin typeface="Inter"/>
              </a:rPr>
              <a:t>Transparenz — du siehst die Agenten arbeiten; jede Aktion landet im Audit-Trail.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4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VERSTEHEN   ·   SCHRITT 1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Beschreibe dein Projekt in eigenen Worten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Das System erfährt, was du vorhast — formlos, in deiner Sprache.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schreibst frei drauflos. Keine Fachbegriffe, keine Struktur nötig.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liest mit und bereitet die erste Rückfrage vor — nichts wird ohne dich gespeichert.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klickst „Weiter“, wenn deine Beschreibung steht.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5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VERSTEHEN   ·   SCHRITT 2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Das Schärfungs-Interview (McKinsey-Methode)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Aus der Idee wird ein präzises Verständnis: Projektart, Umfang, Skills.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beantwortest gezielte Rückfragen — eine nach der anderen. Optional Dokumente/Dropbox einspeisen.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fragt MECE und hypothesengeleitet nach und macht aktiv Vorschläge.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kannst jeden Vorschlag annehmen, ändern oder verwerfen.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nt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1960"/>
            <a:ext cx="5669280" cy="39370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6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VERSTEHEN   ·   SCHRITT 3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Projektverständnis &amp; Agentenstruktur freigeben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Eine pre-finale Zusammenfassung — plus die Agenten, die deinen Plan bauen.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liest, korrigierst Details und gibst frei.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verdichtet alles und leitet ab, welche Planungs-Agenten nötig sind.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Ohne deine Freigabe (Gate 1) startet keine Planung.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nderst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7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4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Deine Projekte verwalten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Jedes Projekt bleibt erhalten — in jeder Phase, jederzeit auffindbar.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Öffnen, umbenennen, als Vorlage duplizieren oder löschen — alles mit einem Klick.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speichert jede Phase als eigene Version und zeigt den Status.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Löschen wird immer noch einmal von dir bestätigt.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8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5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Die Leitplanken: was geht — und was nicht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siehst transparent, was das System verweigert und warum.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liest das Urteil (erlaubt / eskalieren / abgelehnt) und quittierst bewusst.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prüft das Vorhaben gegen definierte Kategorien (Waffen, Bio/Chemie, Diskriminierung, Malware, EU-AI-Act-Verbote).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Grenzfälle werden zur Prüfung an dich eskaliert — nicht still entschieden.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guardr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08810"/>
            <a:ext cx="5669280" cy="35433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9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6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Der ZGPM-Plan entsteht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Aus dem Verständnis bauen die Agenten einen vollständigen, methodischen Plan.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verfolgst die Agenten und beurteilst den Plan: Gantt, RACI, Risk-Heatmap, Token-Live, Auslastung.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PMO zerlegt in Phasen &amp; Meilensteine; Worker füllen Rollen, Risiken, Aufwände; Reviewer prüft (max 3×).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Bei Rot oder Konflikt entscheidest du.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13535"/>
            <a:ext cx="5669280" cy="413385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10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  ·   SCHRITT 7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Review &amp; Edit — direkt am Bildschirm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machst den Plan zu deinem Plan — Wortlaut, Termine, Werte.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Text anklicken und ändern; Suffizienz bewusst bestätigen, bevor du freigibst.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zeigt jede Änderung als Vorher/Nachher und versioniert sie (append-only).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Erst deine Freigabe (Gate 2) macht aus der Version den gültigen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1960"/>
            <a:ext cx="5669280" cy="39370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11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BAUEN   ·   SCHRITT 8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Der Agenten-Harness wird gebaut &amp; sichtbar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Aus dem Plan wird ein lauffähiges Agententeam — visuell nachvollziehbar.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betrachtest die Struktur, editierst Agenten (Mission/Skills) und ordnest per Kommando (Sequenz/Parallel/Skill/Agent).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kompiliert Rollen zu Agenten, Aktivitäten zu Aufgaben, Risiken zu Quality-Gates; Reviewer flaggt Anti-Muster.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Die HITL-Knoten ◆ zeigen, wo dein Sign-off verankert 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13535"/>
            <a:ext cx="5669280" cy="413385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12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BAUEN   ·   SCHRITT 9 VON 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Export: signiertes Zip +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ZIEL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Du erhältst ein portables Paket, das ohne den Planner läuft.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DEINE AKTION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Freigeben (Gate 3), herunterladen, in Claude Cowork / Claude Code öffnen.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1E2761"/>
                </a:solidFill>
                <a:latin typeface="Inter"/>
              </a:rPr>
              <a:t>WAS DAS SYSTEM TUT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Es schnürt CLAUDE.md, Skills, Agenten, Plan, Hooks &amp; Handover in eine signierte Zip (checksums.txt).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50" b="1" i="0">
                <a:solidFill>
                  <a:srgbClr val="E8703A"/>
                </a:solidFill>
                <a:latin typeface="Inter"/>
              </a:rPr>
              <a:t>DEIN KONTROLLPUNKT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41B34"/>
                </a:solidFill>
                <a:latin typeface="Inter"/>
              </a:rPr>
              <a:t>Die Prüfsumme bestätigt, dass dein Paket unverändert ist.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0176" y="1362456"/>
            <a:ext cx="5779008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1960"/>
            <a:ext cx="5669280" cy="39370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13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· SCHRITT 2A · CLOUD-QUELLE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Dropbox verbinden — Schritt für Schritt 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5B6B85"/>
                </a:solidFill>
                <a:latin typeface="Inter"/>
              </a:rPr>
              <a:t>Ziel: einen Dropbox-Ordner als Quelle anbinden. Einmalige Einrichtung — danach genügt der Ordnerpfad.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App anlegen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Auf dropbox.com/developers → App Console öffnen, „Create app“ klicken.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„Scoped access“ wählen · Zugriff „Full Dropbox“ (oder „App folder“) · App benennen.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Berechtigungen &amp; Schlüssel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Reiter „Permissions“: files.metadata.read + files.content.read aktivieren → „Submit“.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Reiter „Settings“: „App key“ + „App secret“ notieren (= DROPBOX_APP_KEY / _SECRET).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34656" y="1362456"/>
            <a:ext cx="4224528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nt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1417320"/>
            <a:ext cx="3950208" cy="27432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589520" y="4572000"/>
            <a:ext cx="4114800" cy="914400"/>
          </a:xfrm>
          <a:prstGeom prst="roundRect">
            <a:avLst/>
          </a:prstGeom>
          <a:solidFill>
            <a:srgbClr val="FAF7EE"/>
          </a:solidFill>
          <a:ln w="15875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4718304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8703A"/>
                </a:solidFill>
                <a:latin typeface="Inter"/>
              </a:rPr>
              <a:t>TRUST-HINWEIS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34"/>
                </a:solidFill>
                <a:latin typeface="Inter"/>
              </a:rPr>
              <a:t>Ohne Secrets bleibt der Connector ehrlich blockiert (kein Fake-Connect). SharePoint/OneDrive/Azure Blob sind bewusst gesperrt.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14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PHASE PLANEN · SCHRITT 2A · CLOUD-QUELLE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Dropbox verbinden — Schritt für Schritt 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Refresh-Token erzeugen (einmalig)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5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URL im Browser öffnen (APP_KEY einsetzen), Zugriff erlauben, angezeigten Code kopieren: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10515600" cy="475488"/>
          </a:xfrm>
          <a:prstGeom prst="round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569464"/>
            <a:ext cx="10149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D6E6"/>
                </a:solidFill>
                <a:latin typeface="Consolas"/>
              </a:rPr>
              <a:t>https://www.dropbox.com/oauth2/authorize?client_id=APP_KEY&amp;response_type=code&amp;token_access_type=offline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72384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6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Code gegen Refresh-Token tauschen (Terminal) — Feld „refresh_token“ = DROPBOX_REFRESH_TOKEN: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10515600" cy="749808"/>
          </a:xfrm>
          <a:prstGeom prst="round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758184"/>
            <a:ext cx="10149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D6E6"/>
                </a:solidFill>
                <a:latin typeface="Consolas"/>
              </a:rPr>
              <a:t>curl https://api.dropbox.com/oauth2/token \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D6E6"/>
                </a:solidFill>
                <a:latin typeface="Consolas"/>
              </a:rPr>
              <a:t>  -d code=CODE -d grant_type=authorization_code -u APP_KEY:APP_SECRET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In Betrieb nehmen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7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DROPBOX_APP_KEY / _SECRET / _REFRESH_TOKEN in .env eintragen (nie echte Secrets ins Repo).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8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Im Planner (Schritt 2 · Cloud-Quelle): Dropbox zeigt „bereit“ → Ordnerpfad eingeben → „Ordner einlesen“. Inhalte ephemer; nur Name + Hash bleiben (Gate-1-Freeze).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15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SICHERHEIT · HUMAN-IN-THE-LOOP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Sperrbildschirm — deine Sitzung bleibt geschützt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4008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5B6B85"/>
                </a:solidFill>
                <a:latin typeface="Inter"/>
              </a:rPr>
              <a:t>Lässt du den Planner unbeaufsichtigt, sperrt er sich nach Inaktivität selbst — kein Bypass, der letzte Stand bleibt erhalten.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Was passiert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Nach Idle-Timeout (Standard 15 min) legt sich ein Blur-Overlay über die App.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Während der Sperre setzt Aktivität den Timer nicht zurück — entsperrt wird nur bewusst.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761"/>
                </a:solidFill>
                <a:latin typeface="Inter"/>
              </a:rPr>
              <a:t>So entsperrst du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„Mit Single-Sign-On entsperren“ — danach läuft alles am letzten Stand weiter.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„Andere Person? Abmelden“ beendet die Sitzung für einen Nutzerwechsel.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0336" y="1499616"/>
            <a:ext cx="4498848" cy="31272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ck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91640"/>
            <a:ext cx="4389120" cy="2743200"/>
          </a:xfrm>
          <a:prstGeom prst="rect">
            <a:avLst/>
          </a:prstGeom>
          <a:ln w="9525">
            <a:solidFill>
              <a:srgbClr val="DDE1E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315200" y="4800600"/>
            <a:ext cx="4389120" cy="914400"/>
          </a:xfrm>
          <a:prstGeom prst="roundRect">
            <a:avLst/>
          </a:prstGeom>
          <a:solidFill>
            <a:srgbClr val="FAF7EE"/>
          </a:solidFill>
          <a:ln w="15875">
            <a:solidFill>
              <a:srgbClr val="F2B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4946904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E8703A"/>
                </a:solidFill>
                <a:latin typeface="Inter"/>
              </a:rPr>
              <a:t>TRUST-HINWEIS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B34"/>
                </a:solidFill>
                <a:latin typeface="Inter"/>
              </a:rPr>
              <a:t>Trust by design: Timeout konfigurierbar (NEXT_PUBLIC_LOCK_IDLE_SEC). SSO/MFA-Entsperrung folgt mit Entra-ID (Phase-2-Beta).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16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PROZESS · NACH McKINSEY OPTIMIERT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Warum dieser Ablauf trägt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MECE-Phasen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Verstehen · Planen · Bauen — lückenlos, überschneidungsfrei.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Hypothesengeleitet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Das Interview testet Annahmen, statt nur zu sammeln.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Pyramid Principle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Jeder Meilenstein-Status nennt die Kernaussage zuerst.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Front-loaded Discovery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Projektart &amp; Leitplanken vor der Planung geklärt.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Orchestrator statt Solo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PMO delegiert; Worker arbeiten parallel.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Evaluator-Loop mit Limit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Reviewer prüft max. 3×, dann entscheidest du.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Reversibilität by design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Jede Version bleibt erhalten — neu planen statt überschreiben.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75488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DREI GATES ◆ · DREI SCHLEIFEN ↺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VERSTEHEN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1 Beschreiben · 2 Interview ↺ · 3 Verständnis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1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PLANEN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4 Verwalten · 5 Leitplanken · 6 Plan ↺ · 7 Review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2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BAUEN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8 Harness ↺ · 9 Export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7D46"/>
                </a:solidFill>
                <a:latin typeface="Inter"/>
              </a:rPr>
              <a:t>◆ Gate 3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200" b="0" i="1">
                <a:solidFill>
                  <a:srgbClr val="5B6B85"/>
                </a:solidFill>
                <a:latin typeface="Inter"/>
              </a:rPr>
              <a:t>Nichts geht ohne dich weiter. Schleifen: Interview, Reviewer (max 3×), Iteration.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17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BEST PRACTICES · ZGPM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Methodik nach Glasner et al. (PwC)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DIE VIER BAUSTEINE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Meilenstein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Zustand zu einem Termin (Verb im Perfekt) — „Konzept freigegeben“.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Aktivität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Arbeit vor dem Meilenstein, mit Aufwand &amp; Verantwortlichen.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Ergebnispfad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Vertikaler Strang gleichartiger Ergebnisse (P/S/O).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1E2761"/>
                </a:solidFill>
                <a:latin typeface="Inter"/>
              </a:rPr>
              <a:t>Phase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Zeitabschnitt, der Meilensteine bündelt (PH1·PH2·PH3).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PVM-CODES &amp; HARTE REGELN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A führt aus · B beteiligt · E entscheidet · e entscheidet mit · F steuert Fortschritt · L leitet &amp; steuert · I informiert · V verfügbar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Mindestens ein A pro Meilenstein/Aktivität.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Genau ein F oder L — nie mehr.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Ein „e“ steht nie allein, immer mit einem E.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RISIKO-AMPEL (propagiert nach oben)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B34"/>
                </a:solidFill>
                <a:latin typeface="Inter"/>
              </a:rPr>
              <a:t>grün — im Plan · gelb — achtgeben · rot — Lauf stoppt, du gibst frei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18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BEST PRACTICES · AGENT-HARNESS (ANTHROPIC)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Muster &amp; Anti-Muster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PFLICHT-MUSTER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Orchestrator-Worker — Lead zerlegt &amp; delegiert mit Output-Schema.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Evaluator-Optimizer — Reviewer prüft; max 3 Runden, dann HITL.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Parallel-Tool-Calling — unabhängige Werkzeuge gleichzeitig.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Filesystem-Artifact — große Ergebnisse als Datei, nur Referenz.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Checkpoint &amp; Resume — Zustand nach jedem Knoten sichern.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Guardrails als eigener Prüf-Aufruf — nicht im Worker-Prompt.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•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HITL an festen Punkten — Meilenstein, rotes Risiko, neue Skill,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ANTI-MUSTER (Reviewer flaggt hart)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Vage Delegation ohne Ziel, Schema, Grenzen.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Über-Spawning — zu viele Subagenten.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Routing im Prompt statt im Code.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Guardrail &amp; Inhalt im selben Aufruf.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Kein Checkpoint/Retry nach Fehlern.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Sequenziell statt parallel.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Endlosschleifen ohne Stop-Bedingung.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Relative Pfade in zustandsbehafteten Agenten.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141B34"/>
                </a:solidFill>
                <a:latin typeface="Inter"/>
              </a:rPr>
              <a:t>Token-Budget ohne Prüfung.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19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REFERENZ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Glossar — ZGPM &amp; Agentik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ZGPM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Meilenstein — </a:t>
            </a:r>
            <a:r>
              <a:rPr sz="1200">
                <a:solidFill>
                  <a:srgbClr val="141B34"/>
                </a:solidFill>
                <a:latin typeface="Inter"/>
              </a:rPr>
              <a:t>Erreichter Zustand zu einem Termin.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Aktivität — </a:t>
            </a:r>
            <a:r>
              <a:rPr sz="1200">
                <a:solidFill>
                  <a:srgbClr val="141B34"/>
                </a:solidFill>
                <a:latin typeface="Inter"/>
              </a:rPr>
              <a:t>Arbeit vor dem Meilenstein.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Ergebnispfad — </a:t>
            </a:r>
            <a:r>
              <a:rPr sz="1200">
                <a:solidFill>
                  <a:srgbClr val="141B34"/>
                </a:solidFill>
                <a:latin typeface="Inter"/>
              </a:rPr>
              <a:t>Strang gleichartiger Ergebnisse.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MSP — </a:t>
            </a:r>
            <a:r>
              <a:rPr sz="1200">
                <a:solidFill>
                  <a:srgbClr val="141B34"/>
                </a:solidFill>
                <a:latin typeface="Inter"/>
              </a:rPr>
              <a:t>Meilensteinplan.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PVM — </a:t>
            </a:r>
            <a:r>
              <a:rPr sz="1200">
                <a:solidFill>
                  <a:srgbClr val="141B34"/>
                </a:solidFill>
                <a:latin typeface="Inter"/>
              </a:rPr>
              <a:t>Projektverantwortlichkeitsmatrix (RACI-Vorläufer).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PRL/MRL — </a:t>
            </a:r>
            <a:r>
              <a:rPr sz="1200">
                <a:solidFill>
                  <a:srgbClr val="141B34"/>
                </a:solidFill>
                <a:latin typeface="Inter"/>
              </a:rPr>
              <a:t>Projekt-/Meilenstein-Risikoliste.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Ampel — </a:t>
            </a:r>
            <a:r>
              <a:rPr sz="1200">
                <a:solidFill>
                  <a:srgbClr val="141B34"/>
                </a:solidFill>
                <a:latin typeface="Inter"/>
              </a:rPr>
              <a:t>Risiko-Status grün/gelb/rot, propagiert nach oben.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AGENTIK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Agent — </a:t>
            </a:r>
            <a:r>
              <a:rPr sz="1200">
                <a:solidFill>
                  <a:srgbClr val="141B34"/>
                </a:solidFill>
                <a:latin typeface="Inter"/>
              </a:rPr>
              <a:t>Digitaler Mitarbeiter mit Rolle, Auftrag, Werkzeugen.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Subagent — </a:t>
            </a:r>
            <a:r>
              <a:rPr sz="1200">
                <a:solidFill>
                  <a:srgbClr val="141B34"/>
                </a:solidFill>
                <a:latin typeface="Inter"/>
              </a:rPr>
              <a:t>Agent mit isoliertem Kontext.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Skill — </a:t>
            </a:r>
            <a:r>
              <a:rPr sz="1200">
                <a:solidFill>
                  <a:srgbClr val="141B34"/>
                </a:solidFill>
                <a:latin typeface="Inter"/>
              </a:rPr>
              <a:t>Wiederverwendbares Wissen/Werkzeug (SKILL.md).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Hook — </a:t>
            </a:r>
            <a:r>
              <a:rPr sz="1200">
                <a:solidFill>
                  <a:srgbClr val="141B34"/>
                </a:solidFill>
                <a:latin typeface="Inter"/>
              </a:rPr>
              <a:t>Deterministische Regel (z. B. Stopp bei Rot).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Orchestrator — </a:t>
            </a:r>
            <a:r>
              <a:rPr sz="1200">
                <a:solidFill>
                  <a:srgbClr val="141B34"/>
                </a:solidFill>
                <a:latin typeface="Inter"/>
              </a:rPr>
              <a:t>Lead-Agent, der zerlegt &amp; delegiert (PMO).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HITL — </a:t>
            </a:r>
            <a:r>
              <a:rPr sz="1200">
                <a:solidFill>
                  <a:srgbClr val="141B34"/>
                </a:solidFill>
                <a:latin typeface="Inter"/>
              </a:rPr>
              <a:t>Human-in-the-Loop — du als Freigabe-Instanz.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Harness — </a:t>
            </a:r>
            <a:r>
              <a:rPr sz="1200">
                <a:solidFill>
                  <a:srgbClr val="141B34"/>
                </a:solidFill>
                <a:latin typeface="Inter"/>
              </a:rPr>
              <a:t>Portables Paket: CLAUDE.md, Skills, Agenten, Plan.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2761"/>
                </a:solidFill>
                <a:latin typeface="Inter"/>
              </a:rPr>
              <a:t>Cowork/Claude Code — </a:t>
            </a:r>
            <a:r>
              <a:rPr sz="1200">
                <a:solidFill>
                  <a:srgbClr val="141B34"/>
                </a:solidFill>
                <a:latin typeface="Inter"/>
              </a:rPr>
              <a:t>Umgebung, in der das Harness läuft.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20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33D"/>
                </a:solidFill>
                <a:latin typeface="Inter"/>
              </a:rPr>
              <a:t>REFERENZ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Inter"/>
              </a:rPr>
              <a:t>Der ganze Weg auf einer Seite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E8703A"/>
                </a:solidFill>
                <a:latin typeface="Inter"/>
              </a:rPr>
              <a:t>DIE NEUN SCHRITTE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1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Projekt in eigenen Worten beschreiben.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2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Schärfungs-Interview beantworten (McK).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3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Verständnis &amp; Agentenstruktur freigeben.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4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Projekte verwalten — speichern, kopieren, löschen.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5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Leitplanken kennen — was geht, was nicht.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6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ZGPM-Plan lesen: Gantt, RACI, Risiko, Token.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7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Am Bildschirm anpassen — Text &amp; Werte.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8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Harness mitgestalten — Artefakte &amp; Kommandos.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33D"/>
                </a:solidFill>
                <a:latin typeface="Inter"/>
              </a:rPr>
              <a:t>9  </a:t>
            </a:r>
            <a:r>
              <a:rPr sz="1250" b="0" i="0">
                <a:solidFill>
                  <a:srgbClr val="141B34"/>
                </a:solidFill>
                <a:latin typeface="Inter"/>
              </a:rPr>
              <a:t>Als Zip exportieren → Claude Cowork /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63040"/>
            <a:ext cx="4023360" cy="44805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352044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2B33D"/>
                </a:solidFill>
                <a:latin typeface="Inter"/>
              </a:rPr>
              <a:t>DEINE 3 KONTROLLPUNKTE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◆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Meilenstein-Freigabe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◆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Rote Risiko-Ampel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◆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Harness-Freigabe (Gate 3)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sz="1150" b="1" i="0">
                <a:solidFill>
                  <a:srgbClr val="F2B33D"/>
                </a:solidFill>
                <a:latin typeface="Inter"/>
              </a:rPr>
              <a:t>WAS NIE GEHT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Waffen &amp; Dual-Use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Bio/Chemie/Nuklear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Diskriminierung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Malware &amp; Exploits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B33D"/>
                </a:solidFill>
                <a:latin typeface="Inter"/>
              </a:rPr>
              <a:t>✕  </a:t>
            </a:r>
            <a:r>
              <a:rPr sz="1200" b="0" i="0">
                <a:solidFill>
                  <a:srgbClr val="FFFFFF"/>
                </a:solidFill>
                <a:latin typeface="Inter"/>
              </a:rPr>
              <a:t>EU-AI-Act-Verbote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exmachinAI · AEGIRA AI Trust Platform · zgpm.aegira.ai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</a:rPr>
              <a:t>21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Du startest mit Worten.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2B33D"/>
                </a:solidFill>
                <a:latin typeface="Inter"/>
              </a:rPr>
              <a:t>Du endest mit einem lauffähigen Agententeam.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D2EC"/>
                </a:solidFill>
                <a:latin typeface="Inter"/>
              </a:rPr>
              <a:t>1. Beschreiben — öffne den Planner und beschreibe dein Projekt.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C8D2EC"/>
                </a:solidFill>
                <a:latin typeface="Inter"/>
              </a:rPr>
              <a:t>2. Freigeben — schärfe das Verständnis und gib es frei.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8D2EC"/>
                </a:solidFill>
                <a:latin typeface="Inter"/>
              </a:rPr>
              <a:t>3. Bauen — lass den Harness bauen und exportiere ihn.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2716</Words>
  <Application>Microsoft Macintosh PowerPoint</Application>
  <PresentationFormat>Breitbild</PresentationFormat>
  <Paragraphs>337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Inter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Michael Veil</cp:lastModifiedBy>
  <cp:revision>1</cp:revision>
  <dcterms:created xsi:type="dcterms:W3CDTF">2013-01-27T09:14:16Z</dcterms:created>
  <dcterms:modified xsi:type="dcterms:W3CDTF">2026-05-30T15:59:21Z</dcterms:modified>
  <cp:category/>
</cp:coreProperties>
</file>