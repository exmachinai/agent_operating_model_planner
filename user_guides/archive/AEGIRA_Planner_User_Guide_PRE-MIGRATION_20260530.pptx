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308592" y="1536192"/>
            <a:ext cx="1463040" cy="64008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308592" y="1536192"/>
            <a:ext cx="640080" cy="173736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771632" y="2176272"/>
            <a:ext cx="548640" cy="155448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48672" y="3273552"/>
            <a:ext cx="1371600" cy="45720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491472" y="3273552"/>
            <a:ext cx="457200" cy="146304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863072" y="3730752"/>
            <a:ext cx="457200" cy="128016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91472" y="4736592"/>
            <a:ext cx="1371600" cy="27432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144000" y="137160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0" y="201168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0" y="3108960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356616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457200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98480" y="484632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egira-lockup-white-transparent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76656"/>
            <a:ext cx="2718423" cy="4937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13350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AI TRUST PLATFORM · exmachinAI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788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ADCFC"/>
                </a:solidFill>
                <a:latin typeface="Inter"/>
                <a:cs typeface="Inter"/>
              </a:rPr>
              <a:t>Agent Operating Model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Inter"/>
                <a:cs typeface="Inter"/>
              </a:rPr>
              <a:t>User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526280"/>
            <a:ext cx="8138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Von der Projektidee zum lauffähigen Agententeam — Schritt für Schritt.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370832"/>
            <a:ext cx="822960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272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93A6"/>
                </a:solidFill>
                <a:latin typeface="Inter"/>
                <a:cs typeface="Inter"/>
              </a:rPr>
              <a:t>Für Anwender ohne Programmiererfahrung  ·  ZGPM-konform  ·  Stand 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ORIENTIERUNG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Wie du diesen Guide liest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Dieser Guide richtet sich an Anwender </a:t>
            </a: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ohne Programmiererfahrung</a:t>
            </a: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. Jeder der neun Schritte folgt demselben Aufbau — sobald du das Muster einmal kennst, findest du dich überall sofort zurecht.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77440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377440"/>
            <a:ext cx="68580" cy="786384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34056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Was in diesem Schritt erreicht wird.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310128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3310128"/>
            <a:ext cx="68580" cy="7863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66744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Was du tust — meist nur lesen, klicken, bestätigen.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242816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4242816"/>
            <a:ext cx="68580" cy="786384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5254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99432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Welche Agenten im Hintergrund für dich arbeiten.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5175504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5175504"/>
            <a:ext cx="68580" cy="78638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32120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Wo du entscheidest. Nichts geht ohne deine Freigabe weiter.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377440"/>
            <a:ext cx="46177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2542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1735"/>
                </a:solidFill>
                <a:latin typeface="Inter"/>
                <a:cs typeface="Inter"/>
              </a:rPr>
              <a:t>Zwei wiederkehrende Elemente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3017520"/>
            <a:ext cx="406908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95160" y="3017520"/>
            <a:ext cx="4069080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5160" y="3200400"/>
            <a:ext cx="4069080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59752" y="315010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2631" y="315010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25512" y="315010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0" y="3108960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3086100"/>
            <a:ext cx="25146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3566160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78040" y="3886200"/>
            <a:ext cx="3474720" cy="146304"/>
          </a:xfrm>
          <a:prstGeom prst="roundRect">
            <a:avLst>
              <a:gd name="adj" fmla="val 50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78040" y="411480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92640" y="354787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543300"/>
            <a:ext cx="11430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Freigeben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4348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64515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Eine Skizze des echten Bildschirms zu jedem Schritt.</a:t>
            </a:r>
          </a:p>
        </p:txBody>
      </p:sp>
      <p:sp>
        <p:nvSpPr>
          <p:cNvPr id="39" name="Oval 38"/>
          <p:cNvSpPr/>
          <p:nvPr/>
        </p:nvSpPr>
        <p:spPr>
          <a:xfrm>
            <a:off x="7091172" y="517550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65492" y="517550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89520" y="5175504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14131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8845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6277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709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1141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8573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95160" y="53400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85"/>
                </a:solidFill>
                <a:latin typeface="Inter"/>
                <a:cs typeface="Inter"/>
              </a:rPr>
              <a:t>Die Punkte unten zeigen, wo im 9-Schritt-Weg du gerade bist.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</a:t>
            </a:r>
          </a:p>
        </p:txBody>
      </p:sp>
      <p:pic>
        <p:nvPicPr>
          <p:cNvPr id="51" name="Picture 5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ORIENTIERUNG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Was du nach diesem Guide kannst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0345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0345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892807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Projekt in eigenen Worten beschreiben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3865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und vom System methodisch schärfen lassen.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6002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47104" y="20345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0345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4" y="1892807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präzises Projektverständnis freigeben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184" y="23865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inkl. der dafür nötigen Agentenstruktur.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" y="3634739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6347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34930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Einen ZGPM-Plan lesen und anpassen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9867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Meilensteine, RACI, Risiken, Zeit, Kosten.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2004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47104" y="3634739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6347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34930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Die Leitplanken verstehen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9867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was erlaubt ist — und was das System verweigert.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8006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568" y="52349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52349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50932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Den Agenten-Harness mitgestalten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55869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Artefakte editieren, Struktur per Kommando verbessern.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48006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47104" y="52349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2349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50932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lauffähiges Paket exportieren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55869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als Zip mit Setup für Claude Cowork &amp; Claude Code.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3</a:t>
            </a:r>
          </a:p>
        </p:txBody>
      </p:sp>
      <p:pic>
        <p:nvPicPr>
          <p:cNvPr id="37" name="Picture 3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DAS PRODUKT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Was ist der AEGIRA Planner?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10497312" cy="1051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Ein </a:t>
            </a:r>
            <a:r>
              <a:rPr sz="1700" b="1" i="0">
                <a:solidFill>
                  <a:srgbClr val="FFFFFF"/>
                </a:solidFill>
                <a:latin typeface="Inter"/>
                <a:cs typeface="Inter"/>
              </a:rPr>
              <a:t>Project-to-Agent-Compiler</a:t>
            </a: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: Aus deiner Projektidee entsteht über methodisch saubere Stufen ein vollständiger Bauplan — und daraus ein lauffähiges Agentensystem.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Projektauftrag wird zum ZGPM-Plan:
Meilensteine, Rollen, Risiken.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96511" y="3840480"/>
            <a:ext cx="329185" cy="0"/>
          </a:xfrm>
          <a:prstGeom prst="bentConnector3">
            <a:avLst/>
          </a:prstGeom>
          <a:ln w="31750">
            <a:solidFill>
              <a:srgbClr val="E87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9704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B6B85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Der Plan wird zu einem Paket aus
CLAUDE.md, Skills und Agenten.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44968" y="3840480"/>
            <a:ext cx="329184" cy="0"/>
          </a:xfrm>
          <a:prstGeom prst="bentConnector3">
            <a:avLst/>
          </a:prstGeom>
          <a:ln w="31750">
            <a:solidFill>
              <a:srgbClr val="E87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60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A9367"/>
                </a:solidFill>
                <a:latin typeface="Inter"/>
                <a:cs typeface="Inter"/>
              </a:rPr>
              <a:t>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Das Paket läuft auf deinem Rechner
in Claude Code / Cowork.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892040"/>
            <a:ext cx="10497312" cy="123444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761"/>
                </a:solidFill>
                <a:latin typeface="Inter"/>
                <a:cs typeface="Inter"/>
              </a:rPr>
              <a:t>Warum?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029200"/>
            <a:ext cx="8229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E1735"/>
                </a:solidFill>
                <a:latin typeface="Inter"/>
                <a:cs typeface="Inter"/>
              </a:rPr>
              <a:t>Wer heute Agenten baut, startet technisch — Prompt, Tool, Workflow. Was fehlt, ist die organisatorische Vorarbeit: Plan, Rollen, RACI, Governance. Solo-Builder haben kein Projektteam. Der Planner liefert genau diese organisatorische Intelligenz.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4</a:t>
            </a:r>
          </a:p>
        </p:txBody>
      </p:sp>
      <p:pic>
        <p:nvPicPr>
          <p:cNvPr id="26" name="Picture 25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DAS MENTALE 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Agenten sind digitale Mitarbeiter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Wenn Agenten wie Mitarbeiter arbeiten, brauchen sie, was jedes gute Team braucht: Rollen, Verantwortlichkeiten, Fähigkeiten und Governance. Genau dort setzt der Planner 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4028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5B6B85"/>
                </a:solidFill>
                <a:latin typeface="Inter"/>
                <a:cs typeface="Inter"/>
              </a:rPr>
              <a:t>Üblicher Start: technisch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718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67228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558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A93A6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685032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8046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A93A6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398264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9369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120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8A93A6"/>
                </a:solidFill>
                <a:latin typeface="Inter"/>
                <a:cs typeface="Inter"/>
              </a:rPr>
              <a:t>Ergebnis: technisch lauffähig, aber ohne organisatorische Klarheit.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4028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423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ADCFC"/>
                </a:solidFill>
                <a:latin typeface="Inter"/>
                <a:cs typeface="Inter"/>
              </a:rPr>
              <a:t>AEGIRA-Start: organisatorisch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90779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90322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Projektplan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6440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34747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47014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Rollenmodell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3133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4041648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037076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Skill-Matrix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982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4608576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60400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RACI / PVM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9651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5175504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517093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Agentenstruktur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907792"/>
            <a:ext cx="1737360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CADCFC"/>
                </a:solidFill>
                <a:latin typeface="Inter"/>
                <a:cs typeface="Inter"/>
              </a:rPr>
              <a:t>Aus dem
Plan wird
die Technik
abgeleitet —
nicht
umgekehrt.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5</a:t>
            </a:r>
          </a:p>
        </p:txBody>
      </p:sp>
      <p:pic>
        <p:nvPicPr>
          <p:cNvPr id="36" name="Picture 35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DER WEG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Die Reise auf einen Blick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3017520" cy="457200"/>
          </a:xfrm>
          <a:prstGeom prst="roundRect">
            <a:avLst>
              <a:gd name="adj" fmla="val 18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VERSTEHEN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" y="2660904"/>
            <a:ext cx="493776" cy="49377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Beschreiben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1952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03120" y="2660904"/>
            <a:ext cx="493776" cy="49377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Interview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63824" y="2660904"/>
            <a:ext cx="493776" cy="49377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Verständnis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3" y="1783080"/>
            <a:ext cx="438912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3" y="178308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PLANEN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9663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09694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969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1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Verwalten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8092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48121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48121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6379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Leitplanken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86550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655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ZGPM-Plan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4948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24978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4978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3236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1783080"/>
            <a:ext cx="2468880" cy="457200"/>
          </a:xfrm>
          <a:prstGeom prst="roundRect">
            <a:avLst>
              <a:gd name="adj" fmla="val 1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178308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2441448"/>
            <a:ext cx="115214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98864" y="2660904"/>
            <a:ext cx="493776" cy="49377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7" y="340156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86415" y="2441448"/>
            <a:ext cx="115214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15600" y="2660904"/>
            <a:ext cx="493776" cy="49377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04703" y="340156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Export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41248" y="4572000"/>
            <a:ext cx="10479024" cy="0"/>
          </a:xfrm>
          <a:prstGeom prst="bentConnector3">
            <a:avLst/>
          </a:prstGeom>
          <a:ln w="25400">
            <a:solidFill>
              <a:srgbClr val="AFC6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1248" y="47091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Drei Makro-Phasen, neun Schritte. An jedem farbigen Übergang entscheidest </a:t>
            </a: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du</a:t>
            </a: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 — der Weg ist jederzeit umkehrbar.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6</a:t>
            </a:r>
          </a:p>
        </p:txBody>
      </p:sp>
      <p:pic>
        <p:nvPicPr>
          <p:cNvPr id="51" name="Picture 5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DEIN PRINZIP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Du behältst die Kontrolle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Der Planner arbeitet </a:t>
            </a: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Human-in-the-Loop</a:t>
            </a: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: Agenten schlagen vor, du entscheidest. An drei Stellen darf das System dich nie übersteuern.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86000"/>
            <a:ext cx="33467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286000"/>
            <a:ext cx="3346704" cy="109728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2606040"/>
            <a:ext cx="512064" cy="51206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060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46120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735"/>
                </a:solidFill>
                <a:latin typeface="Inter"/>
                <a:cs typeface="Inter"/>
              </a:rPr>
              <a:t>Meilenstein-Freigabe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57600"/>
            <a:ext cx="284378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Jeder Phasenübergang wartet auf deine manuelle Bestätigung.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286000"/>
            <a:ext cx="33467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2286000"/>
            <a:ext cx="3346704" cy="109728"/>
          </a:xfrm>
          <a:prstGeom prst="roundRect">
            <a:avLst>
              <a:gd name="adj" fmla="val 50000"/>
            </a:avLst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81728" y="2606040"/>
            <a:ext cx="512064" cy="51206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6060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246120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735"/>
                </a:solidFill>
                <a:latin typeface="Inter"/>
                <a:cs typeface="Inter"/>
              </a:rPr>
              <a:t>Rote Risiko-Ampel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657600"/>
            <a:ext cx="284378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Steht ein Risiko auf Rot, stoppt der Lauf. Nur du gibst ihn explizit frei.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617720"/>
            <a:ext cx="5138928" cy="141732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Inter"/>
                <a:cs typeface="Inter"/>
              </a:rPr>
              <a:t>Transparenz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206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E1735"/>
                </a:solidFill>
                <a:latin typeface="Inter"/>
                <a:cs typeface="Inter"/>
              </a:rPr>
              <a:t>Du siehst die Agenten live denken und arbeiten — kein Spinner, der etwas verbirgt. Jede Aktion landet im Audit-Trail.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7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33" name="Picture 32" descr="g_02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930527"/>
            <a:ext cx="5468112" cy="3417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   ·   SCHRITT 1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Beschreibe dein Projekt in eigenen Worten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Das System erfährt, was du vorhast — formlos, in deiner Sprache.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schreibst frei drauflos. Keine Fachbegriffe, keine Struktur nötig.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liest mit und bereitet die erste Rückfrage vor — nichts wird gespeichert ohne dich.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klickst „Weiter“, wenn deine Beschreibung steht.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8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36" name="Picture 35" descr="crop_g_03_int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828800"/>
            <a:ext cx="5468112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   ·   SCHRITT 2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Das Schärfungs-Interview (McKinsey-Methode)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der Idee wird ein präzises Verständnis: Projektart, Umfang, Skills.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beantwortest gezielte Rückfragen — eine nach der anderen.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fragt MECE und hypothesengeleitet nach und macht aktiv Vorschläge.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kannst jeden Vorschlag annehmen, ändern oder verwerfen.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556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9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36" name="Picture 35" descr="g_04_underst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930527"/>
            <a:ext cx="5468112" cy="3417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   ·   SCHRITT 3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Projektverständnis &amp; Agentenstruktur freigeben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Eine pre-finale Zusammenfassung — plus die Agenten, die deinen Plan bauen.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liest, korrigierst Details und gibst frei.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verdichtet alles und leitet ab, welche Planungs-Agenten nötig sind.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Ohne deine Freigabe startet keine Planung.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98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10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36" name="Picture 35" descr="g_0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930527"/>
            <a:ext cx="5468112" cy="34175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4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Deine Projekte verwalten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Jedes Projekt bleibt erhalten — in jeder Phase, jederzeit auffindbar.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Öffnen, kopieren als Vorlage oder löschen — alles mit einem Klick.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speichert jede Phase als eigene Version und zeigt den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Löschen wird immer noch einmal von dir bestätigt.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64207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11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36" name="Picture 35" descr="g_05_guardr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930527"/>
            <a:ext cx="5468112" cy="34175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5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Die Leitplanken: was geht — und was nicht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5532120" cy="3913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5532120" cy="109728"/>
          </a:xfrm>
          <a:prstGeom prst="roundRect">
            <a:avLst>
              <a:gd name="adj" fmla="val 50000"/>
            </a:avLst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7510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3423F"/>
                </a:solidFill>
                <a:latin typeface="Inter"/>
                <a:cs typeface="Inter"/>
              </a:rPr>
              <a:t>Was das System verweigert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395728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957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3591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Waffen &amp; gefährliches Dual-Use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334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Bau, Beschaffung, Anleitung.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054096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540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0175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Bio-, Chemie- &amp; Nuklear-Gefahren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29183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keine Hilfe zu Herstellung oder Einsatz.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3712463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1246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675887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Diskriminierung &amp; unfaire Benachteiligung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50207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keine Pläne, die Menschen herabsetzen.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370831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7083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334255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Malware, Exploits &amp; Spoofing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608575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 Schadcode, keine Täuschungs-Sites.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5029199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0291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99262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EU-AI-Act: verbotene Praktiken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266943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z. B. Social Scoring, manipulatives Profiling, biometrische Massenüberwachung.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7881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B85"/>
                </a:solidFill>
                <a:latin typeface="Inter"/>
                <a:cs typeface="Inter"/>
              </a:rPr>
              <a:t>Grenzfälle werden zur Prüfung an dich eskaliert — nicht still entschieden.</a:t>
            </a:r>
          </a:p>
        </p:txBody>
      </p:sp>
      <p:sp>
        <p:nvSpPr>
          <p:cNvPr id="43" name="Oval 42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93852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12</a:t>
            </a:r>
          </a:p>
        </p:txBody>
      </p:sp>
      <p:pic>
        <p:nvPicPr>
          <p:cNvPr id="54" name="Picture 53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55" name="Picture 54" descr="crop_g_06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828800"/>
            <a:ext cx="5468112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6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Der ZGPM-Plan entsteht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dem Verständnis bauen die Agenten einen vollständigen, methodischen Plan.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verfolgst die Agenten live und wartest auf die Vorlage.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PMO zerlegt in Phasen &amp; Meilensteine; Worker füllen Rollen, Risiken, Aufwände.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Der Reviewer prüft; bei Rot oder Konflikt entscheidest du.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2128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13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zgpm.aegira.ai/projects/…/plan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3774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2372868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Meilensteinplan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34656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PVM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13064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13064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Risiken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1472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Aktivitäten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4768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PH1 Setup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84592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84592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PH2 Aufbau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24416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24416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PH3 Betrieb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3218687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36207" y="3319271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37376" y="3218687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M1 Quellen angebunden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4768" y="3621023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236207" y="3721607"/>
            <a:ext cx="128016" cy="128016"/>
          </a:xfrm>
          <a:prstGeom prst="ellipse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7376" y="3621023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M2 Entwurfs-Engine steht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84592" y="4023359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876032" y="4123944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77200" y="4023359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M3 Freigabe-Workflow live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24416" y="4425696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515856" y="4526280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17024" y="4425696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M4 Erstausgabe versendet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24416" y="4828032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15856" y="4928616"/>
            <a:ext cx="128016" cy="128016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4828032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M5 Betrieb stabil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44768" y="5120640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Meilenstein = Zustand im Perfekt · Ampel propagiert nach oben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6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Was du im fertigen Plan siehst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90195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Gantt — Meilensteine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" y="2468880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56816" y="2852928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05456" y="3236976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6552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0195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Risk-Matrix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2468880"/>
            <a:ext cx="265176" cy="265176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01768" y="2468880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12664" y="2468880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90872" y="2779776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1768" y="2779776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12664" y="2779776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0872" y="3090672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3090672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12664" y="3090672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49240" y="2487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1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91856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3931920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07822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Zeitplanung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15568" y="4983480"/>
            <a:ext cx="2889504" cy="0"/>
          </a:xfrm>
          <a:prstGeom prst="bentConnector3">
            <a:avLst/>
          </a:prstGeom>
          <a:ln w="2540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16128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8424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1965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864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3405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3016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6557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544068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Inter"/>
                <a:cs typeface="Inter"/>
              </a:rPr>
              <a:t>Start- und Endtermine je Meilenstein.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16552" y="3931920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17720" y="407822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Kosten — Token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90872" y="4709160"/>
            <a:ext cx="2798064" cy="23774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690872" y="4709160"/>
            <a:ext cx="1734799" cy="237744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90872" y="5029200"/>
            <a:ext cx="28895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Inter"/>
                <a:cs typeface="Inter"/>
              </a:rPr>
              <a:t>Token-Budget je Agent &amp; Knoten — live mitgezählt.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544068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Warnung bei Überschreitung.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576072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1">
                <a:solidFill>
                  <a:srgbClr val="8A93A6"/>
                </a:solidFill>
                <a:latin typeface="Inter"/>
                <a:cs typeface="Inter"/>
              </a:rPr>
              <a:t>Welcher Agent wie stark ausgelastet ist.</a:t>
            </a:r>
          </a:p>
        </p:txBody>
      </p:sp>
      <p:sp>
        <p:nvSpPr>
          <p:cNvPr id="70" name="Oval 69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2128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14</a:t>
            </a:r>
          </a:p>
        </p:txBody>
      </p:sp>
      <p:pic>
        <p:nvPicPr>
          <p:cNvPr id="81" name="Picture 8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82" name="Picture 81" descr="crop_g_07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828800"/>
            <a:ext cx="5468112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7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Review &amp; Edit — direkt am Bildschirm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machst den Plan zu deinem Plan — Wortlaut, Sprache,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Text anklicken und ändern, Sprache umschalten (DE/EN), Werte anpassen.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zeigt jede Änderung als Vorher/Nachher und versioniert sie.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Erst deine Freigabe macht aus der Version den gültigen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8716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15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zgpm.aegira.ai/projects/…/plan  ·  bearbeiten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39572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B85"/>
                </a:solidFill>
                <a:latin typeface="Inter"/>
                <a:cs typeface="Inter"/>
              </a:rPr>
              <a:t>Sprache: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59168" y="237744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2372868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44967" y="237744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44967" y="2372868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5"/>
                </a:solidFill>
                <a:latin typeface="Inter"/>
                <a:cs typeface="Inter"/>
              </a:rPr>
              <a:t>EN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4768" y="2852928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2F6FD"/>
          </a:solidFill>
          <a:ln w="15875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2852928"/>
            <a:ext cx="41879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M2  Entwurfs-Engine steht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87000" y="292608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87000" y="292150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ändern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44768" y="34930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Änderungs-Vorschau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44768" y="3785615"/>
            <a:ext cx="4919472" cy="420624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1928" y="3785615"/>
            <a:ext cx="4645152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C3423F"/>
                </a:solidFill>
                <a:latin typeface="JetBrains Mono"/>
                <a:cs typeface="JetBrains Mono"/>
              </a:rPr>
              <a:t>−  „Entwurfs-Engine steht“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4261104"/>
            <a:ext cx="4919472" cy="420624"/>
          </a:xfrm>
          <a:prstGeom prst="roundRect">
            <a:avLst>
              <a:gd name="adj" fmla="val 8000"/>
            </a:avLst>
          </a:prstGeom>
          <a:solidFill>
            <a:srgbClr val="EC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1928" y="4261104"/>
            <a:ext cx="4645152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9367"/>
                </a:solidFill>
                <a:latin typeface="JetBrains Mono"/>
                <a:cs typeface="JetBrains Mono"/>
              </a:rPr>
              <a:t>+  „Entwurfs-Engine getestet &amp; freigegeben“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4846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4768" y="484174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Übernehmen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26096" y="4846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26096" y="4841748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Verwerfen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488289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Version v3 · v2 bleibt erhalten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8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Der Agenten-Harness wird gebaut &amp; sichtbar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dem Plan wird ein lauffähiges Agententeam — visuell nachvollziehbar.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betrachtest die Struktur: wer orchestriert, wer arbeitet, wo du freigibst.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kompiliert Rollen zu Agenten, Aktivitäten zu Aufgaben, Risiken zu Quality-Gates.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Die HITL-Knoten zeigen, wo dein Sign-off verankert 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614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16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242048" y="2971800"/>
            <a:ext cx="1362456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458200" y="2971800"/>
            <a:ext cx="146304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04504" y="2971800"/>
            <a:ext cx="1069848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604504" y="2971800"/>
            <a:ext cx="2286000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42048" y="4069080"/>
            <a:ext cx="1362456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58200" y="4069080"/>
            <a:ext cx="146304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604504" y="4069080"/>
            <a:ext cx="1069848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8604504" y="4069080"/>
            <a:ext cx="2286000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604504" y="4937760"/>
            <a:ext cx="0" cy="256032"/>
          </a:xfrm>
          <a:prstGeom prst="bentConnector3">
            <a:avLst/>
          </a:prstGeom>
          <a:ln w="25400">
            <a:solidFill>
              <a:srgbClr val="E87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07224" y="251460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07224" y="25146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Inter"/>
              </a:rPr>
              <a:t>PMO · Orchestrator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93408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93408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Architektur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09560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09560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Skills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25712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25712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Risk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41864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41864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Reviewer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32904" y="448056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A3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32904" y="44805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Konsistenz-Check · max 3×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07224" y="5193792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07224" y="5193792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◆ HITL-Freigabe</a:t>
            </a:r>
          </a:p>
        </p:txBody>
      </p:sp>
      <p:sp>
        <p:nvSpPr>
          <p:cNvPr id="67" name="Oval 66"/>
          <p:cNvSpPr/>
          <p:nvPr/>
        </p:nvSpPr>
        <p:spPr>
          <a:xfrm>
            <a:off x="6144768" y="2450591"/>
            <a:ext cx="118872" cy="1188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18504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Orchestrator</a:t>
            </a:r>
          </a:p>
        </p:txBody>
      </p:sp>
      <p:sp>
        <p:nvSpPr>
          <p:cNvPr id="69" name="Oval 68"/>
          <p:cNvSpPr/>
          <p:nvPr/>
        </p:nvSpPr>
        <p:spPr>
          <a:xfrm>
            <a:off x="6144768" y="2724911"/>
            <a:ext cx="118872" cy="118872"/>
          </a:xfrm>
          <a:prstGeom prst="ellipse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18504" y="26700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Worker</a:t>
            </a:r>
          </a:p>
        </p:txBody>
      </p:sp>
      <p:sp>
        <p:nvSpPr>
          <p:cNvPr id="71" name="Oval 70"/>
          <p:cNvSpPr/>
          <p:nvPr/>
        </p:nvSpPr>
        <p:spPr>
          <a:xfrm>
            <a:off x="6144768" y="2999232"/>
            <a:ext cx="118872" cy="118872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18504" y="29443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Dein Kontrollpunkt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8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Artefakte editieren &amp; Struktur per Kommando verbessern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verfeinerst jedes Artefakt und die Gesamtstruktur, bis sie passt.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Datei öffnen und ändern — oder im Kommandofeld sagen, was besser wäre.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macht neue Vorschläge (Sequenz, Parallel, neuer Skill, weiterer Agent) — x Iterationen.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Erst deine Freigabe beendet die Schleife.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614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17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  ·  editor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9048" y="2377440"/>
            <a:ext cx="1783080" cy="2240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44768" y="2450591"/>
            <a:ext cx="1691640" cy="237744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2468879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CLAUDE.md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271576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plan/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2962656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msp.yaml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209544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pvm.yaml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3456432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.claude/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3703320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agents/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395020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skills/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4197096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hooks/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19288" y="2377440"/>
            <a:ext cx="3044952" cy="2240280"/>
          </a:xfrm>
          <a:prstGeom prst="roundRect">
            <a:avLst>
              <a:gd name="adj" fmla="val 6000"/>
            </a:avLst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02167" y="2487168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8703A"/>
                </a:solidFill>
                <a:latin typeface="JetBrains Mono"/>
                <a:cs typeface="JetBrains Mono"/>
              </a:rPr>
              <a:t># CLAUDE.md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7" y="2706624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7" y="2926079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8703A"/>
                </a:solidFill>
                <a:latin typeface="JetBrains Mono"/>
                <a:cs typeface="JetBrains Mono"/>
              </a:rPr>
              <a:t>## Mission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7" y="3145535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>Newsletter-Pipeline,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02167" y="3364991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>halb-automatisch.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2167" y="3584448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02167" y="3803904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8703A"/>
                </a:solidFill>
                <a:latin typeface="JetBrains Mono"/>
                <a:cs typeface="JetBrains Mono"/>
              </a:rPr>
              <a:t>## Agenten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02167" y="4023359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CADCFC"/>
                </a:solidFill>
                <a:latin typeface="JetBrains Mono"/>
                <a:cs typeface="JetBrains Mono"/>
              </a:rPr>
              <a:t>- pmo (Orchestrator)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2167" y="4242816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CADCFC"/>
                </a:solidFill>
                <a:latin typeface="JetBrains Mono"/>
                <a:cs typeface="JetBrains Mono"/>
              </a:rPr>
              <a:t>- reviewer (max 3×)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99048" y="4773168"/>
            <a:ext cx="501091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81928" y="4773168"/>
            <a:ext cx="32735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Mach die Risiko-Prüfung parallel zur Architektur.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46920" y="4846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4841748"/>
            <a:ext cx="1417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Vorschlag holen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9048" y="5321808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Kommandofeld — Sequenz · Parallel · Skill · weiterer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9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Export: Zip + Setup für Claude Cowork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erhältst ein portables Paket, das ohne den Planner läuft.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Herunterladen, entpacken, in Claude Cowork / Claude Code öffnen.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schnürt CLAUDE.md, Skills, Agenten, Plan &amp; Setup in eine signierte Zip.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Prüfsumme bestätigt, dass dein Paket unverändert 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3580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18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  ·  download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423160"/>
            <a:ext cx="4919472" cy="731520"/>
          </a:xfrm>
          <a:prstGeom prst="roundRect">
            <a:avLst>
              <a:gd name="adj" fmla="val 1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2505456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JetBrains Mono"/>
                <a:cs typeface="JetBrains Mono"/>
              </a:rPr>
              <a:t>newsletter-automatisierung_…_a3f1c2.harness.zip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2816352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DFEFE3"/>
                </a:solidFill>
                <a:latin typeface="JetBrains Mono"/>
                <a:cs typeface="JetBrains Mono"/>
              </a:rPr>
              <a:t>checksums.txt · shasum -a 256 -c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38360" y="2606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260146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9367"/>
                </a:solidFill>
                <a:latin typeface="Inter"/>
                <a:cs typeface="Inter"/>
              </a:rPr>
              <a:t>↓ Download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36499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1735"/>
                </a:solidFill>
                <a:latin typeface="Inter"/>
                <a:cs typeface="Inter"/>
              </a:rPr>
              <a:t>Inhalt der Zip</a:t>
            </a:r>
          </a:p>
        </p:txBody>
      </p:sp>
      <p:sp>
        <p:nvSpPr>
          <p:cNvPr id="50" name="Oval 49"/>
          <p:cNvSpPr/>
          <p:nvPr/>
        </p:nvSpPr>
        <p:spPr>
          <a:xfrm>
            <a:off x="6181344" y="3785615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5936" y="36941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CLAUDE.md</a:t>
            </a:r>
          </a:p>
        </p:txBody>
      </p:sp>
      <p:sp>
        <p:nvSpPr>
          <p:cNvPr id="52" name="Oval 51"/>
          <p:cNvSpPr/>
          <p:nvPr/>
        </p:nvSpPr>
        <p:spPr>
          <a:xfrm>
            <a:off x="6181344" y="4032504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39410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INSTALL.md · USERGUIDE.md</a:t>
            </a:r>
          </a:p>
        </p:txBody>
      </p:sp>
      <p:sp>
        <p:nvSpPr>
          <p:cNvPr id="54" name="Oval 53"/>
          <p:cNvSpPr/>
          <p:nvPr/>
        </p:nvSpPr>
        <p:spPr>
          <a:xfrm>
            <a:off x="6181344" y="4279392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4187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plan/ (msp · pvm · risks)</a:t>
            </a:r>
          </a:p>
        </p:txBody>
      </p:sp>
      <p:sp>
        <p:nvSpPr>
          <p:cNvPr id="56" name="Oval 55"/>
          <p:cNvSpPr/>
          <p:nvPr/>
        </p:nvSpPr>
        <p:spPr>
          <a:xfrm>
            <a:off x="6181344" y="4526279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45936" y="44348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.claude/agents/ (7 Rollen)</a:t>
            </a:r>
          </a:p>
        </p:txBody>
      </p:sp>
      <p:sp>
        <p:nvSpPr>
          <p:cNvPr id="58" name="Oval 57"/>
          <p:cNvSpPr/>
          <p:nvPr/>
        </p:nvSpPr>
        <p:spPr>
          <a:xfrm>
            <a:off x="6181344" y="477316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46817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.claude/skills · commands · hooks</a:t>
            </a:r>
          </a:p>
        </p:txBody>
      </p:sp>
      <p:sp>
        <p:nvSpPr>
          <p:cNvPr id="60" name="Oval 59"/>
          <p:cNvSpPr/>
          <p:nvPr/>
        </p:nvSpPr>
        <p:spPr>
          <a:xfrm>
            <a:off x="6181344" y="5020056"/>
            <a:ext cx="82296" cy="822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45936" y="492861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.claude/…/plugin.json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82328" y="3364991"/>
            <a:ext cx="1581912" cy="1938528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83496" y="347472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E2761"/>
                </a:solidFill>
                <a:latin typeface="Inter"/>
                <a:cs typeface="Inter"/>
              </a:rPr>
              <a:t>→ In Claude Cowork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3496" y="3822191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1   Zip entpacken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83496" y="4151376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2   plugin.json wird erkannt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83496" y="4480559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3   /run-harness ausführen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83496" y="4809744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4   Team läuft in Claude Code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PROZESS · DOKUMENTIERT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Der Prozessablauf — nach McKinsey optimiert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691640"/>
            <a:ext cx="82296" cy="1170432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801368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15768" y="2112264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Beschreiben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78807" y="2276856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16552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2112264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Interview 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2276856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27064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6792" y="2112264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Verständnis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99831" y="2276856"/>
            <a:ext cx="201169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1965960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965960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BE3D6"/>
                </a:solidFill>
                <a:latin typeface="Inter"/>
                <a:cs typeface="Inter"/>
              </a:rPr>
              <a:t>Verständnis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127248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3127248"/>
            <a:ext cx="82296" cy="1170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3236976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15768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5768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Verwalten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78807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416552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6280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Leitplanken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89320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27064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36792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4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ZGPM-Plan 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99831" y="3712463"/>
            <a:ext cx="201169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037576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47304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47304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0496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10344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012680" y="3401568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2680" y="3401568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BE3D6"/>
                </a:solidFill>
                <a:latin typeface="Inter"/>
                <a:cs typeface="Inter"/>
              </a:rPr>
              <a:t>Plan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" y="4562856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1248" y="4562856"/>
            <a:ext cx="82296" cy="1170432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0704" y="4672584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06040" y="4873752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15768" y="4983480"/>
            <a:ext cx="329184" cy="3291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15768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873752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Harness ↺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78807" y="5148072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416552" y="4873752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26280" y="4983480"/>
            <a:ext cx="329184" cy="3291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26280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19472" y="4873752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Export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989320" y="5148072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0012680" y="4837176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12680" y="4837176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BE3D6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" y="5897880"/>
            <a:ext cx="10479024" cy="45720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89788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Inter"/>
                <a:cs typeface="Inter"/>
              </a:rPr>
              <a:t>Drei Freigabe-Gates </a:t>
            </a:r>
            <a:r>
              <a:rPr sz="1100" b="1" i="0">
                <a:solidFill>
                  <a:srgbClr val="E8703A"/>
                </a:solidFill>
                <a:latin typeface="Inter"/>
                <a:cs typeface="Inter"/>
              </a:rPr>
              <a:t>◆</a:t>
            </a:r>
            <a:r>
              <a:rPr sz="1100" b="0" i="0">
                <a:solidFill>
                  <a:srgbClr val="1E2761"/>
                </a:solidFill>
                <a:latin typeface="Inter"/>
                <a:cs typeface="Inter"/>
              </a:rPr>
              <a:t>  — nichts geht ohne dich weiter.   Drei Schleifen </a:t>
            </a:r>
            <a:r>
              <a:rPr sz="1100" b="1" i="0">
                <a:solidFill>
                  <a:srgbClr val="1E2761"/>
                </a:solidFill>
                <a:latin typeface="Inter"/>
                <a:cs typeface="Inter"/>
              </a:rPr>
              <a:t>↺</a:t>
            </a:r>
            <a:r>
              <a:rPr sz="1100" b="0" i="0">
                <a:solidFill>
                  <a:srgbClr val="1E2761"/>
                </a:solidFill>
                <a:latin typeface="Inter"/>
                <a:cs typeface="Inter"/>
              </a:rPr>
              <a:t>  : Interview, Reviewer (max 3×), Iteration.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19</a:t>
            </a:r>
          </a:p>
        </p:txBody>
      </p:sp>
      <p:pic>
        <p:nvPicPr>
          <p:cNvPr id="69" name="Picture 6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PROZESS · BEGRÜNDUNG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Warum dieser Ablauf nach McKinsey trägt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600200"/>
            <a:ext cx="64008" cy="9601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MECE-Phasen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02536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Verstehen, Planen, Bauen — lückenlos und überschneidungsfrei.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00200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600200"/>
            <a:ext cx="64008" cy="9601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7190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Hypothesengeleitet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002536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Das Interview testet Annahmen, statt nur offen zu sammeln.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06624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706624"/>
            <a:ext cx="64008" cy="9601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Pyramid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Jeder Meilenstein-Status nennt die Kernaussage zuerst.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706624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706624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82549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Front-loaded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108960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Projektart &amp; Leitplanken werden vor der Planung geklärt.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813048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813048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31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Orchestrator statt Solo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15384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PMO delegiert; Worker arbeiten parallel — schneller, robuster.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813048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813048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3931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Evaluator-Loop mit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215384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Reviewer prüft max. 3×, dann entscheidest du. Keine Endlosschleife.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919472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919472"/>
            <a:ext cx="64008" cy="960120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03834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End-State-Evaluation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321808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Bewertet wird das Ergebnis je Meilenstein, nicht jeder einzelne Zug.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919472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919472"/>
            <a:ext cx="64008" cy="960120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503834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Reversibilität by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321808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Jede Version bleibt erhalten — neu planen statt überschreiben.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20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BEST PRACTICES · ZGPM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ZGPM-Grundlagen: die vier Bausteine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85"/>
                </a:solidFill>
                <a:latin typeface="Inter"/>
                <a:cs typeface="Inter"/>
              </a:rPr>
              <a:t>ZGPM (ZielGerichtetes Projekt-Management, Methodik nach Glasner et al., PwC) liefert das Vokabular jedes Plans.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19456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9456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3230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03A"/>
                </a:solidFill>
                <a:latin typeface="Inter"/>
                <a:cs typeface="Inter"/>
              </a:rPr>
              <a:t>Meilenstein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9806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Ein Zustand, der bis zu einem Termin erreicht sein muss. Sprachform: Verb im Perfekt.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347472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47472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„Datenschutzkonzept freigegeben“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9456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219456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43230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Inter"/>
                <a:cs typeface="Inter"/>
              </a:rPr>
              <a:t>Aktivität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79806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Konkrete Arbeit, die vor dem Meilenstein erledigt sein muss. Mit Aufwand &amp; Verantwortlichen.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347472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47472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„Quellen anbinden — 3 PT“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1480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411480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35254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B6B85"/>
                </a:solidFill>
                <a:latin typeface="Inter"/>
                <a:cs typeface="Inter"/>
              </a:rPr>
              <a:t>Ergebnispfad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1830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Vertikaler Strang gleichartiger Ergebnisse. Klassisch P/S/O.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" y="539496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2728" y="539496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P = Personen, S = Systeme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11480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411480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35254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A9367"/>
                </a:solidFill>
                <a:latin typeface="Inter"/>
                <a:cs typeface="Inter"/>
              </a:rPr>
              <a:t>Phase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71830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Zeitabschnitt, dem Meilensteine zugeordnet werden. Gibt den Rhythmus.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539496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539496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PH1 · PH2 · PH3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21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BEST PRACTICES · ZGPM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Verantwortlichkeit (PVM) &amp; Risiko-Ampel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PVM-Codes (RACI-Vorläufer)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854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führt aus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33472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24328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24328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wird beteiligt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072384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06324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entscheidet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511296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02152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502152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entscheidet 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950208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41064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941064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steuert Fortschritt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389120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7997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379976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leitet &amp; steuert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828032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18888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818888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wird informiert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66944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25780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25780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ist verfügbar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554480"/>
            <a:ext cx="4937760" cy="26060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17373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ADCFC"/>
                </a:solidFill>
                <a:latin typeface="Inter"/>
                <a:cs typeface="Inter"/>
              </a:rPr>
              <a:t>Harte Konsistenzregeln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2185415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Mindestens ein A pro Meilenstein und Aktivität.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2587751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5054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Genau ein F oder L — nie mehr.</a:t>
            </a:r>
          </a:p>
        </p:txBody>
      </p:sp>
      <p:sp>
        <p:nvSpPr>
          <p:cNvPr id="37" name="Oval 36"/>
          <p:cNvSpPr/>
          <p:nvPr/>
        </p:nvSpPr>
        <p:spPr>
          <a:xfrm>
            <a:off x="6675120" y="2990087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2907791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Ein „e“ steht nie allein, immer mit einem E.</a:t>
            </a:r>
          </a:p>
        </p:txBody>
      </p:sp>
      <p:sp>
        <p:nvSpPr>
          <p:cNvPr id="39" name="Oval 38"/>
          <p:cNvSpPr/>
          <p:nvPr/>
        </p:nvSpPr>
        <p:spPr>
          <a:xfrm>
            <a:off x="6675120" y="3392423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310127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 häufiger früh im Projekt als spät.</a:t>
            </a:r>
          </a:p>
        </p:txBody>
      </p:sp>
      <p:sp>
        <p:nvSpPr>
          <p:cNvPr id="41" name="Oval 40"/>
          <p:cNvSpPr/>
          <p:nvPr/>
        </p:nvSpPr>
        <p:spPr>
          <a:xfrm>
            <a:off x="6675120" y="3794759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371246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 häufiger bei Meilensteinen als bei Aktivitäten.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297680"/>
            <a:ext cx="4937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446227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1735"/>
                </a:solidFill>
                <a:latin typeface="Inter"/>
                <a:cs typeface="Inter"/>
              </a:rPr>
              <a:t>Risiko-Ampel propagiert nach oben</a:t>
            </a:r>
          </a:p>
        </p:txBody>
      </p:sp>
      <p:sp>
        <p:nvSpPr>
          <p:cNvPr id="45" name="Oval 44"/>
          <p:cNvSpPr/>
          <p:nvPr/>
        </p:nvSpPr>
        <p:spPr>
          <a:xfrm>
            <a:off x="6675120" y="4892040"/>
            <a:ext cx="182880" cy="18288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67728" y="4846320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grün — im Plan</a:t>
            </a:r>
          </a:p>
        </p:txBody>
      </p:sp>
      <p:sp>
        <p:nvSpPr>
          <p:cNvPr id="47" name="Oval 46"/>
          <p:cNvSpPr/>
          <p:nvPr/>
        </p:nvSpPr>
        <p:spPr>
          <a:xfrm>
            <a:off x="6675120" y="5221224"/>
            <a:ext cx="182880" cy="182880"/>
          </a:xfrm>
          <a:prstGeom prst="ellipse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67728" y="5175504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gelb — achtgeben</a:t>
            </a:r>
          </a:p>
        </p:txBody>
      </p:sp>
      <p:sp>
        <p:nvSpPr>
          <p:cNvPr id="49" name="Oval 48"/>
          <p:cNvSpPr/>
          <p:nvPr/>
        </p:nvSpPr>
        <p:spPr>
          <a:xfrm>
            <a:off x="6675120" y="5550407"/>
            <a:ext cx="182880" cy="18288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7728" y="5504688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rot — Lauf stoppt, du gibst frei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22</a:t>
            </a:r>
          </a:p>
        </p:txBody>
      </p:sp>
      <p:pic>
        <p:nvPicPr>
          <p:cNvPr id="53" name="Picture 52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Fünf Prinzipien für gute Agentensysteme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45920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773936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Einfachheit vor Raffinesse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06654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So wenig Agenten wie nötig — Komplexität nur, wenn sie sich auszahlt.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505456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05456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33472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Transparenz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260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Der geplante Denkweg der Agenten ist sichtbar, nicht versteckt.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364992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364992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364992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493008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Agent-Computer-Interface zuerst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78561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Werkzeuge so gestalten, dass Agenten sie eindeutig nutzen können.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224528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4224528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224528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352544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Kontext teilen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64515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Volle Verläufe weitergeben, nicht nur einzelne Nachrichten.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084064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084064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084064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212080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Handlungen tragen Entscheidungen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50468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Jede Aktion eines Agenten ist implizit eine Entscheidung — Konflikte vermeiden.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23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Pflicht-Muster in jedem Harness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" y="1920240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1056" y="1792224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Orchestrator-Worker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2084832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Lead zerlegt &amp; delegiert mit klarem Auftrag und Output-Schema.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920240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92224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Evaluator-Optimizer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084832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Reviewer prüft gegen Regeln; max 3 Runden, dann HITL.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779776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" y="3054096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0540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926080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Parallel-Tool-Calling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218688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Unabhängige Werkzeuge laufen gleichzeitig — bis zu 90% Zeit gespart.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779776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3054096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540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926080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Filesystem-Artifact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18688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Große Ergebnisse in Dateien, nur Referenz zurückgeben.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913632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" y="4187952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1879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056" y="4059936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Checkpoint &amp; Resume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4352544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Zustand nach jedem Knoten sichern; nach Absturz fortsetzen.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913632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187952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1879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059936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Sectioning der Guardrails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352544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Leitplanken als eigener Prüf-Aufruf, nicht im Worker-Prompt.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5047488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2416" y="5321807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" y="532180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91056" y="5193792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HITL an festen Punkten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1056" y="5486400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Meilenstein, rotes Risiko, neue Skill, Budget-Überschreitung.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5047488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5321807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32180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193792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End-State-Evaluation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Endzustand je Meilenstein bewerten — nicht jeden Zwischenschritt.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24</a:t>
            </a:r>
          </a:p>
        </p:txBody>
      </p:sp>
      <p:pic>
        <p:nvPicPr>
          <p:cNvPr id="47" name="Picture 4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3423F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Anti-Muster, die der Reviewer hart flaggt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" y="1865376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8653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737360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Vage Delegation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029968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„Recherchiere X“ ohne Ziel, Schema und Grenzen.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865376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653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1737360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Über-Spawning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2029968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50 Subagenten für eine einfache Anfrage.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542032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" y="2761488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27614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633472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Routing im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2926080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Steuerlogik gehört in Code, nicht in den Prompt.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542032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2761488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614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633472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Eine LLM-Antwort für alles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926080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Guardrail und Inhalt im selben Aufruf vermischt.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438144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" y="3657600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36576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529584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Kein Checkpoint/Retry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3822191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Kein Wiederaufsetzen nach Fehlern.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438144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3657600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576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529584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Sequenziell statt parallel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4576" y="3822191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Werkzeuge nacheinander, obwohl parallel möglich.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4334256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2416" y="4553712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425696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Endlosschleifen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718304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Keine Stop-Bedingung, kein Iterations-Limit.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4334256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4553712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4576" y="4425696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Skills triggern zu breit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94576" y="4718304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Fähigkeiten greifen, wo sie nicht sollen.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" y="5230368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2416" y="5449824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" y="5449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" y="5321807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Relative Pfade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5614416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In zustandsbehafteten Agenten brechen sie.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5230368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00800" y="5449824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449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4576" y="5321807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Token-Budget ohne Prüfung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4576" y="5614416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Budgets, die nie validiert werden.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25</a:t>
            </a:r>
          </a:p>
        </p:txBody>
      </p:sp>
      <p:pic>
        <p:nvPicPr>
          <p:cNvPr id="57" name="Picture 5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Glossar — ZGPM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Meilenstein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Erreichter Zustand zu einem Termin (Verb im Perfekt).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Aktivität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Arbeit, die vor dem Meilenstein erledigt sein muss.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Ergebnispfad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Strang gleichartiger Ergebnisse (z. B. P/S/O).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Zeitabschnitt, der Meilensteine bündelt.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MSP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Meilensteinplan — Phasen, Pfade, Ampel auf einen Blick.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Projektverantwortlichkeitsmatrix (RACI-Vorläufer).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PRL / MRL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Projekt- bzw. Meilenstein-Risikoliste.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Ampel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Risiko-Status grün/gelb/rot, propagiert nach oben.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26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Glossar — Agentik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Digitaler Mitarbeiter mit Rolle, Auftrag und Werkzeugen.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Subagent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Agent mit isoliertem Kontext für abgegrenzte Arbeit.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Wiederverwendbares Wissen/Werkzeug als SKILL.md.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Deterministische Regel (z. B. Stopp bei rotem Risiko).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Lead-Agent, der zerlegt und delegiert (hier: PMO).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HITL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Human-in-the-Loop — du als Freigabe-Instanz.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Portables Paket aus CLAUDE.md, Skills, Agenten, Plan.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Cowork / Claude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Umgebung, in der das Harness läuft.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27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Schnellreferenz: der ganze Weg auf einer Seite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64008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Die neun Schritte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148840"/>
            <a:ext cx="310896" cy="3108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13055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Projekt in eigenen Worten beschreiben.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46604"/>
            <a:ext cx="310896" cy="3108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466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5283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Schärfungs-Interview beantworten (McK).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944368"/>
            <a:ext cx="310896" cy="3108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443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926080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Verständnis &amp; Agentenstruktur freigeben.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34213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421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323844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Projekte verwalten — speichern, kopieren, löschen.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7398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72160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Leitplanken kennen — was geht, was nicht.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137659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13765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11937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ZGPM-Plan lesen: Gantt, RACI, Risiko, Token.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4535423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354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1713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Am Bildschirm anpassen — Text &amp; Sprache.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4933187"/>
            <a:ext cx="310896" cy="31089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318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4914899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Harness mitgestalten — Artefakte &amp; Kommandos.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5330951"/>
            <a:ext cx="310896" cy="31089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33095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5312663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Als Zip exportieren → Claude Cowork / Code.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1554480"/>
            <a:ext cx="3931920" cy="2148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17190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ADCFC"/>
                </a:solidFill>
                <a:latin typeface="Inter"/>
                <a:cs typeface="Inter"/>
              </a:rPr>
              <a:t>Deine 3 Kontrollpunkte</a:t>
            </a:r>
          </a:p>
        </p:txBody>
      </p:sp>
      <p:sp>
        <p:nvSpPr>
          <p:cNvPr id="36" name="Oval 35"/>
          <p:cNvSpPr/>
          <p:nvPr/>
        </p:nvSpPr>
        <p:spPr>
          <a:xfrm>
            <a:off x="7662672" y="2148840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2" y="2148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12140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Meilenstein-Freigabe</a:t>
            </a:r>
          </a:p>
        </p:txBody>
      </p:sp>
      <p:sp>
        <p:nvSpPr>
          <p:cNvPr id="39" name="Oval 38"/>
          <p:cNvSpPr/>
          <p:nvPr/>
        </p:nvSpPr>
        <p:spPr>
          <a:xfrm>
            <a:off x="7662672" y="2624328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26243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2596896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Rote Risiko-Ampel</a:t>
            </a:r>
          </a:p>
        </p:txBody>
      </p:sp>
      <p:sp>
        <p:nvSpPr>
          <p:cNvPr id="42" name="Oval 41"/>
          <p:cNvSpPr/>
          <p:nvPr/>
        </p:nvSpPr>
        <p:spPr>
          <a:xfrm>
            <a:off x="7662672" y="3099816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2672" y="3099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3296" y="3072384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Skill-Aufnahme ins Harness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3886200"/>
            <a:ext cx="39319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4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62672" y="404164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3423F"/>
                </a:solidFill>
                <a:latin typeface="Inter"/>
                <a:cs typeface="Inter"/>
              </a:rPr>
              <a:t>Was nie geht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9248" y="440740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Waffen &amp; Dual-Use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69087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Bio/Chemie/Nuklear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497433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Diskriminierung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52578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Malware &amp; Exploits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9248" y="554126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EU-AI-Act-Verbote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28</a:t>
            </a:r>
          </a:p>
        </p:txBody>
      </p:sp>
      <p:pic>
        <p:nvPicPr>
          <p:cNvPr id="54" name="Picture 53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gira-lockup-white-transparent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58368"/>
            <a:ext cx="2617740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205740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Inter"/>
                <a:cs typeface="Inter"/>
              </a:rPr>
              <a:t>Du startest mit Worten.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CADCFC"/>
                </a:solidFill>
                <a:latin typeface="Inter"/>
                <a:cs typeface="Inter"/>
              </a:rPr>
              <a:t>Du endest mit einem lauffähigen Agententeam.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114800"/>
            <a:ext cx="822960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4645152"/>
            <a:ext cx="384048" cy="38404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Beschreiben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Öffne den Planner und beschreibe dein Projekt.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4645152"/>
            <a:ext cx="384048" cy="38404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Freigeben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Schärfe das Verständnis und gib es frei.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4645152"/>
            <a:ext cx="384048" cy="38404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Lass den Harness bauen und exportiere ihn.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272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93A6"/>
                </a:solidFill>
                <a:latin typeface="Inter"/>
                <a:cs typeface="Inter"/>
              </a:rPr>
              <a:t>exmachinAI · AEGIRA AI Trust Platform · zgpm.aegira.ai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