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5" r:id="rId36"/>
    <p:sldId id="286" r:id="rId37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9308592" y="1536192"/>
            <a:ext cx="1463040" cy="640080"/>
          </a:xfrm>
          <a:prstGeom prst="bentConnector3">
            <a:avLst/>
          </a:prstGeom>
          <a:ln w="15875">
            <a:solidFill>
              <a:srgbClr val="2A3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308592" y="1536192"/>
            <a:ext cx="640080" cy="1737360"/>
          </a:xfrm>
          <a:prstGeom prst="bentConnector3">
            <a:avLst/>
          </a:prstGeom>
          <a:ln w="15875">
            <a:solidFill>
              <a:srgbClr val="2A3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771632" y="2176272"/>
            <a:ext cx="548640" cy="1554480"/>
          </a:xfrm>
          <a:prstGeom prst="bentConnector3">
            <a:avLst/>
          </a:prstGeom>
          <a:ln w="15875">
            <a:solidFill>
              <a:srgbClr val="2A3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948672" y="3273552"/>
            <a:ext cx="1371600" cy="457200"/>
          </a:xfrm>
          <a:prstGeom prst="bentConnector3">
            <a:avLst/>
          </a:prstGeom>
          <a:ln w="15875">
            <a:solidFill>
              <a:srgbClr val="2A3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9491472" y="3273552"/>
            <a:ext cx="457200" cy="1463040"/>
          </a:xfrm>
          <a:prstGeom prst="bentConnector3">
            <a:avLst/>
          </a:prstGeom>
          <a:ln w="15875">
            <a:solidFill>
              <a:srgbClr val="2A3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0863072" y="3730752"/>
            <a:ext cx="457200" cy="1280160"/>
          </a:xfrm>
          <a:prstGeom prst="bentConnector3">
            <a:avLst/>
          </a:prstGeom>
          <a:ln w="15875">
            <a:solidFill>
              <a:srgbClr val="2A3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491472" y="4736592"/>
            <a:ext cx="1371600" cy="274320"/>
          </a:xfrm>
          <a:prstGeom prst="bentConnector3">
            <a:avLst/>
          </a:prstGeom>
          <a:ln w="15875">
            <a:solidFill>
              <a:srgbClr val="2A3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144000" y="1371600"/>
            <a:ext cx="329184" cy="32918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07040" y="2011680"/>
            <a:ext cx="329184" cy="32918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84080" y="3108960"/>
            <a:ext cx="329184" cy="329184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55680" y="3566160"/>
            <a:ext cx="329184" cy="32918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0" y="4572000"/>
            <a:ext cx="329184" cy="32918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98480" y="4846320"/>
            <a:ext cx="329184" cy="32918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egira-lockup-white-transparent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76656"/>
            <a:ext cx="2718423" cy="4937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8680" y="133502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AI TRUST PLATFORM · exmachinAI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27889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CADCFC"/>
                </a:solidFill>
                <a:latin typeface="Inter"/>
                <a:cs typeface="Inter"/>
              </a:rPr>
              <a:t>Agent Operating Model Planner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154680"/>
            <a:ext cx="877824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6600" b="1" i="0">
                <a:solidFill>
                  <a:srgbClr val="FFFFFF"/>
                </a:solidFill>
                <a:latin typeface="Inter"/>
                <a:cs typeface="Inter"/>
              </a:rPr>
              <a:t>User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526280"/>
            <a:ext cx="81381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ADCFC"/>
                </a:solidFill>
                <a:latin typeface="Inter"/>
                <a:cs typeface="Inter"/>
              </a:rPr>
              <a:t>Von der Projektidee zum lauffähigen Agententeam — Schritt für Schritt.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370832"/>
            <a:ext cx="822960" cy="457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627278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A93A6"/>
                </a:solidFill>
                <a:latin typeface="Inter"/>
                <a:cs typeface="Inter"/>
              </a:rPr>
              <a:t>Für Anwender ohne Programmiererfahrung  ·  ZGPM-konform  ·  Stand 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ORIENTIERUNG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Wie du diesen Guide liest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B6B85"/>
                </a:solidFill>
                <a:latin typeface="Inter"/>
                <a:cs typeface="Inter"/>
              </a:rPr>
              <a:t>Dieser Guide richtet sich an Anwender </a:t>
            </a: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ohne Programmiererfahrung</a:t>
            </a:r>
            <a:r>
              <a:rPr sz="1400" b="0" i="0">
                <a:solidFill>
                  <a:srgbClr val="5B6B85"/>
                </a:solidFill>
                <a:latin typeface="Inter"/>
                <a:cs typeface="Inter"/>
              </a:rPr>
              <a:t>. Jeder der neun Schritte folgt demselben Aufbau — sobald du das Muster einmal kennst, findest du dich überall sofort zurecht.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377440"/>
            <a:ext cx="548640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377440"/>
            <a:ext cx="68580" cy="786384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87168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34056"/>
            <a:ext cx="5047488" cy="374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E1735"/>
                </a:solidFill>
                <a:latin typeface="Inter"/>
                <a:cs typeface="Inter"/>
              </a:rPr>
              <a:t>Was in diesem Schritt erreicht wird.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310128"/>
            <a:ext cx="548640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3310128"/>
            <a:ext cx="68580" cy="78638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19856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66744"/>
            <a:ext cx="5047488" cy="374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E1735"/>
                </a:solidFill>
                <a:latin typeface="Inter"/>
                <a:cs typeface="Inter"/>
              </a:rPr>
              <a:t>Was du tust — meist nur lesen, klicken, bestätigen.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4242816"/>
            <a:ext cx="548640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" y="4242816"/>
            <a:ext cx="68580" cy="786384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352544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99432"/>
            <a:ext cx="5047488" cy="374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E1735"/>
                </a:solidFill>
                <a:latin typeface="Inter"/>
                <a:cs typeface="Inter"/>
              </a:rPr>
              <a:t>Welche Agenten im Hintergrund für dich arbeiten.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5175504"/>
            <a:ext cx="548640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" y="5175504"/>
            <a:ext cx="68580" cy="78638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285232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532120"/>
            <a:ext cx="5047488" cy="374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E1735"/>
                </a:solidFill>
                <a:latin typeface="Inter"/>
                <a:cs typeface="Inter"/>
              </a:rPr>
              <a:t>Wo du entscheidest. Nichts geht ohne deine Freigabe weiter.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2377440"/>
            <a:ext cx="461772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2542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1735"/>
                </a:solidFill>
                <a:latin typeface="Inter"/>
                <a:cs typeface="Inter"/>
              </a:rPr>
              <a:t>Zwei wiederkehrende Elemente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3017520"/>
            <a:ext cx="4069080" cy="1325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95160" y="3017520"/>
            <a:ext cx="4069080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95160" y="3200400"/>
            <a:ext cx="4069080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59752" y="315010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2631" y="3150108"/>
            <a:ext cx="100584" cy="100584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525512" y="315010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863840" y="3108960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0" y="3086100"/>
            <a:ext cx="25146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78040" y="3566160"/>
            <a:ext cx="1828800" cy="20116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178040" y="3886200"/>
            <a:ext cx="3474720" cy="146304"/>
          </a:xfrm>
          <a:prstGeom prst="roundRect">
            <a:avLst>
              <a:gd name="adj" fmla="val 50000"/>
            </a:avLst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178040" y="4114800"/>
            <a:ext cx="3108960" cy="146304"/>
          </a:xfrm>
          <a:prstGeom prst="roundRect">
            <a:avLst>
              <a:gd name="adj" fmla="val 50000"/>
            </a:avLst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692640" y="3547872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0" y="3543300"/>
            <a:ext cx="114300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Inter"/>
                <a:cs typeface="Inter"/>
              </a:rPr>
              <a:t>Freigeben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443484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4645152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Eine Skizze des echten Bildschirms zu jedem Schritt.</a:t>
            </a:r>
          </a:p>
        </p:txBody>
      </p:sp>
      <p:sp>
        <p:nvSpPr>
          <p:cNvPr id="39" name="Oval 38"/>
          <p:cNvSpPr/>
          <p:nvPr/>
        </p:nvSpPr>
        <p:spPr>
          <a:xfrm>
            <a:off x="7091172" y="5175504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365492" y="5175504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89520" y="5175504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914131" y="5175504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188452" y="5175504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462772" y="5175504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7092" y="5175504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011412" y="5175504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285732" y="5175504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95160" y="534009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85"/>
                </a:solidFill>
                <a:latin typeface="Inter"/>
                <a:cs typeface="Inter"/>
              </a:rPr>
              <a:t>Die Punkte unten zeigen, wo im 9-Schritt-Weg du gerade bist.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</a:t>
            </a:r>
          </a:p>
        </p:txBody>
      </p:sp>
      <p:pic>
        <p:nvPicPr>
          <p:cNvPr id="51" name="Picture 50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ORIENTIERUNG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Was du nach diesem Guide kannst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00200"/>
            <a:ext cx="513892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" y="2034540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0345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Inter"/>
                <a:cs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" y="1892807"/>
            <a:ext cx="39959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Ein Projekt in eigenen Worten beschreiben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386584"/>
            <a:ext cx="399592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und vom System methodisch schärfen lassen.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1600200"/>
            <a:ext cx="513892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47104" y="2034540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0345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Inter"/>
                <a:cs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87184" y="1892807"/>
            <a:ext cx="39959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Ein präzises Projektverständnis freigeben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87184" y="2386584"/>
            <a:ext cx="399592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inkl. der dafür nötigen Agentenstruktur.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200400"/>
            <a:ext cx="513892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5568" y="3634739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6347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Inter"/>
                <a:cs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5648" y="3493008"/>
            <a:ext cx="39959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Einen ZGPM-Plan lesen und anpassen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3986784"/>
            <a:ext cx="399592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Meilensteine, RACI, Risiken, Zeit, Kosten.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3200400"/>
            <a:ext cx="513892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47104" y="3634739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36347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Inter"/>
                <a:cs typeface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4" y="3493008"/>
            <a:ext cx="39959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Die Leitplanken verstehen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7184" y="3986784"/>
            <a:ext cx="399592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was erlaubt ist — und was das System verweigert.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4800600"/>
            <a:ext cx="513892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15568" y="5234940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52349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Inter"/>
                <a:cs typeface="Inter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55648" y="5093208"/>
            <a:ext cx="39959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Den Agenten-Harness mitgestalten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5586984"/>
            <a:ext cx="399592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Artefakte editieren, Struktur per Kommando verbessern.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72784" y="4800600"/>
            <a:ext cx="513892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47104" y="5234940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7104" y="52349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Inter"/>
                <a:cs typeface="Inter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87184" y="5093208"/>
            <a:ext cx="39959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Ein lauffähiges Paket exportieren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87184" y="5586984"/>
            <a:ext cx="399592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als Zip mit Setup für Claude Cowork &amp; Claude Code.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3</a:t>
            </a:r>
          </a:p>
        </p:txBody>
      </p:sp>
      <p:pic>
        <p:nvPicPr>
          <p:cNvPr id="37" name="Picture 36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DAS PRODUKT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Was ist der AEGIRA Planner?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554480"/>
            <a:ext cx="10497312" cy="10515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64208"/>
            <a:ext cx="9875520" cy="8686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ADCFC"/>
                </a:solidFill>
                <a:latin typeface="Inter"/>
                <a:cs typeface="Inter"/>
              </a:rPr>
              <a:t>Ein </a:t>
            </a:r>
            <a:r>
              <a:rPr sz="1700" b="1" i="0">
                <a:solidFill>
                  <a:srgbClr val="FFFFFF"/>
                </a:solidFill>
                <a:latin typeface="Inter"/>
                <a:cs typeface="Inter"/>
              </a:rPr>
              <a:t>Project-to-Agent-Compiler</a:t>
            </a:r>
            <a:r>
              <a:rPr sz="1700" b="0" i="0">
                <a:solidFill>
                  <a:srgbClr val="CADCFC"/>
                </a:solidFill>
                <a:latin typeface="Inter"/>
                <a:cs typeface="Inter"/>
              </a:rPr>
              <a:t>: Aus deiner Projektidee entsteht über methodisch saubere Stufen ein vollständiger Bauplan — und daraus ein lauffähiges Agentensystem.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3063240"/>
            <a:ext cx="32004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3063240"/>
            <a:ext cx="3200400" cy="1097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35584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Inter"/>
                <a:cs typeface="Inter"/>
              </a:rP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3776472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E1735"/>
                </a:solidFill>
                <a:latin typeface="Inter"/>
                <a:cs typeface="Inter"/>
              </a:rPr>
              <a:t>Projektauftrag wird zum ZGPM-Plan:
Meilensteine, Rollen, Risiken.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96511" y="3840480"/>
            <a:ext cx="329185" cy="0"/>
          </a:xfrm>
          <a:prstGeom prst="bentConnector3">
            <a:avLst/>
          </a:prstGeom>
          <a:ln w="31750">
            <a:solidFill>
              <a:srgbClr val="E870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89704" y="3063240"/>
            <a:ext cx="32004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9704" y="3063240"/>
            <a:ext cx="3200400" cy="109728"/>
          </a:xfrm>
          <a:prstGeom prst="roundRect">
            <a:avLst>
              <a:gd name="adj" fmla="val 50000"/>
            </a:avLst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2312" y="335584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5B6B85"/>
                </a:solidFill>
                <a:latin typeface="Inter"/>
                <a:cs typeface="Inter"/>
              </a:rPr>
              <a:t>HARNESS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3776472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E1735"/>
                </a:solidFill>
                <a:latin typeface="Inter"/>
                <a:cs typeface="Inter"/>
              </a:rPr>
              <a:t>Der Plan wird zu einem Paket aus
CLAUDE.md, Skills und Agenten.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44968" y="3840480"/>
            <a:ext cx="329184" cy="0"/>
          </a:xfrm>
          <a:prstGeom prst="bentConnector3">
            <a:avLst/>
          </a:prstGeom>
          <a:ln w="31750">
            <a:solidFill>
              <a:srgbClr val="E870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38160" y="3063240"/>
            <a:ext cx="32004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3063240"/>
            <a:ext cx="3200400" cy="109728"/>
          </a:xfrm>
          <a:prstGeom prst="roundRect">
            <a:avLst>
              <a:gd name="adj" fmla="val 50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335584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5A9367"/>
                </a:solidFill>
                <a:latin typeface="Inter"/>
                <a:cs typeface="Inter"/>
              </a:rPr>
              <a:t>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3776472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E1735"/>
                </a:solidFill>
                <a:latin typeface="Inter"/>
                <a:cs typeface="Inter"/>
              </a:rPr>
              <a:t>Das Paket läuft auf deinem Rechner
in Claude Code / Cowork.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4892040"/>
            <a:ext cx="10497312" cy="123444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2011680" cy="10058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E2761"/>
                </a:solidFill>
                <a:latin typeface="Inter"/>
                <a:cs typeface="Inter"/>
              </a:rPr>
              <a:t>Warum?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5029200"/>
            <a:ext cx="8229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E1735"/>
                </a:solidFill>
                <a:latin typeface="Inter"/>
                <a:cs typeface="Inter"/>
              </a:rPr>
              <a:t>Wer heute Agenten baut, startet technisch — Prompt, Tool, Workflow. Was fehlt, ist die organisatorische Vorarbeit: Plan, Rollen, RACI, Governance. Solo-Builder haben kein Projektteam. Der Planner liefert genau diese organisatorische Intelligenz.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4</a:t>
            </a:r>
          </a:p>
        </p:txBody>
      </p:sp>
      <p:pic>
        <p:nvPicPr>
          <p:cNvPr id="26" name="Picture 25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DAS MENTALE MODELL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Agenten sind digitale Mitarbeiter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3716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B6B85"/>
                </a:solidFill>
                <a:latin typeface="Inter"/>
                <a:cs typeface="Inter"/>
              </a:rPr>
              <a:t>Wenn Agenten wie Mitarbeiter arbeiten, brauchen sie, was jedes gute Team braucht: Rollen, Verantwortlichkeiten, Fähigkeiten und Governance. Genau dort setzt der Planner 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24028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5B6B85"/>
                </a:solidFill>
                <a:latin typeface="Inter"/>
                <a:cs typeface="Inter"/>
              </a:rPr>
              <a:t>Üblicher Start: technisch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9718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67228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B6B85"/>
                </a:solidFill>
                <a:latin typeface="Inter"/>
                <a:cs typeface="Inter"/>
              </a:rPr>
              <a:t>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5584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8A93A6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685032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80460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B6B85"/>
                </a:solidFill>
                <a:latin typeface="Inter"/>
                <a:cs typeface="Inter"/>
              </a:rPr>
              <a:t>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6908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8A93A6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398264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393692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B6B85"/>
                </a:solidFill>
                <a:latin typeface="Inter"/>
                <a:cs typeface="Inter"/>
              </a:rPr>
              <a:t>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21208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8A93A6"/>
                </a:solidFill>
                <a:latin typeface="Inter"/>
                <a:cs typeface="Inter"/>
              </a:rPr>
              <a:t>Ergebnis: technisch lauffähig, aber ohne organisatorische Klarheit.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24028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4231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CADCFC"/>
                </a:solidFill>
                <a:latin typeface="Inter"/>
                <a:cs typeface="Inter"/>
              </a:rPr>
              <a:t>AEGIRA-Start: organisatorisch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73952" y="2907792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90322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Projektplan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264408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ADCFC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3952" y="347472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470148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Rollenmodell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831336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ADCFC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73952" y="4041648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4037076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Skill-Matrix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398264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ADCFC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3952" y="4608576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604004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RACI / PVM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9651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ADCFC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73952" y="5175504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517093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Agentenstruktur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2907792"/>
            <a:ext cx="1737360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CADCFC"/>
                </a:solidFill>
                <a:latin typeface="Inter"/>
                <a:cs typeface="Inter"/>
              </a:rPr>
              <a:t>Aus dem
Plan wird
die Technik
abgeleitet —
nicht
umgekehrt.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5</a:t>
            </a:r>
          </a:p>
        </p:txBody>
      </p:sp>
      <p:pic>
        <p:nvPicPr>
          <p:cNvPr id="36" name="Picture 35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DER WEG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Die Reise auf einen Blick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783080"/>
            <a:ext cx="3017520" cy="457200"/>
          </a:xfrm>
          <a:prstGeom prst="roundRect">
            <a:avLst>
              <a:gd name="adj" fmla="val 18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Inter"/>
                <a:cs typeface="Inter"/>
              </a:rPr>
              <a:t>VERSTEHEN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441448"/>
            <a:ext cx="89611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416" y="2660904"/>
            <a:ext cx="493776" cy="493776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01568"/>
            <a:ext cx="85953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Beschreiben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01952" y="2441448"/>
            <a:ext cx="89611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03120" y="2660904"/>
            <a:ext cx="493776" cy="493776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401568"/>
            <a:ext cx="85953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Interview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62656" y="2441448"/>
            <a:ext cx="89611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63824" y="2660904"/>
            <a:ext cx="493776" cy="493776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63824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0944" y="3401568"/>
            <a:ext cx="85953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Verständnis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9663" y="1783080"/>
            <a:ext cx="4389120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9663" y="1783080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Inter"/>
                <a:cs typeface="Inter"/>
              </a:rPr>
              <a:t>PLANEN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9663" y="2441448"/>
            <a:ext cx="97383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09694" y="2660904"/>
            <a:ext cx="493776" cy="49377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9694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87951" y="3401568"/>
            <a:ext cx="9372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Verwalten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8092" y="2441448"/>
            <a:ext cx="97383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548121" y="2660904"/>
            <a:ext cx="493776" cy="49377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48121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6379" y="3401568"/>
            <a:ext cx="9372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Leitplanken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2441448"/>
            <a:ext cx="97383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86550" y="2660904"/>
            <a:ext cx="493776" cy="49377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86550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7" y="3401568"/>
            <a:ext cx="9372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ZGPM-Plan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4948" y="2441448"/>
            <a:ext cx="97383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824978" y="2660904"/>
            <a:ext cx="493776" cy="49377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24978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03236" y="3401568"/>
            <a:ext cx="9372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Review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9680" y="1783080"/>
            <a:ext cx="2468880" cy="457200"/>
          </a:xfrm>
          <a:prstGeom prst="roundRect">
            <a:avLst>
              <a:gd name="adj" fmla="val 18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0" y="1783080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Inter"/>
                <a:cs typeface="Inter"/>
              </a:rPr>
              <a:t>BAUEN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69680" y="2441448"/>
            <a:ext cx="115214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98864" y="2660904"/>
            <a:ext cx="493776" cy="493776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87967" y="3401568"/>
            <a:ext cx="111556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Harness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86415" y="2441448"/>
            <a:ext cx="115214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515600" y="2660904"/>
            <a:ext cx="493776" cy="493776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0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04703" y="3401568"/>
            <a:ext cx="111556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Export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41248" y="4572000"/>
            <a:ext cx="10479024" cy="0"/>
          </a:xfrm>
          <a:prstGeom prst="bentConnector3">
            <a:avLst/>
          </a:prstGeom>
          <a:ln w="25400">
            <a:solidFill>
              <a:srgbClr val="AFC6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41248" y="470916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85"/>
                </a:solidFill>
                <a:latin typeface="Inter"/>
                <a:cs typeface="Inter"/>
              </a:rPr>
              <a:t>Drei Makro-Phasen, neun Schritte. An jedem farbigen Übergang entscheidest </a:t>
            </a:r>
            <a:r>
              <a:rPr sz="1200" b="1" i="0">
                <a:solidFill>
                  <a:srgbClr val="0E1735"/>
                </a:solidFill>
                <a:latin typeface="Inter"/>
                <a:cs typeface="Inter"/>
              </a:rPr>
              <a:t>du</a:t>
            </a:r>
            <a:r>
              <a:rPr sz="1200" b="0" i="0">
                <a:solidFill>
                  <a:srgbClr val="5B6B85"/>
                </a:solidFill>
                <a:latin typeface="Inter"/>
                <a:cs typeface="Inter"/>
              </a:rPr>
              <a:t> — der Weg ist jederzeit umkehrbar.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6</a:t>
            </a:r>
          </a:p>
        </p:txBody>
      </p:sp>
      <p:pic>
        <p:nvPicPr>
          <p:cNvPr id="51" name="Picture 50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DEIN PRINZIP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Du behältst die Kontrolle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371600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B6B85"/>
                </a:solidFill>
                <a:latin typeface="Inter"/>
                <a:cs typeface="Inter"/>
              </a:rPr>
              <a:t>Der Planner arbeitet </a:t>
            </a: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Human-in-the-Loop</a:t>
            </a:r>
            <a:r>
              <a:rPr sz="1400" b="0" i="0">
                <a:solidFill>
                  <a:srgbClr val="5B6B85"/>
                </a:solidFill>
                <a:latin typeface="Inter"/>
                <a:cs typeface="Inter"/>
              </a:rPr>
              <a:t>: Agenten schlagen vor, du entscheidest. An drei Stellen darf das System dich nie übersteuern.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286000"/>
            <a:ext cx="3346704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286000"/>
            <a:ext cx="3346704" cy="109728"/>
          </a:xfrm>
          <a:prstGeom prst="roundRect">
            <a:avLst>
              <a:gd name="adj" fmla="val 50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5568" y="2606040"/>
            <a:ext cx="512064" cy="512064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60604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246120"/>
            <a:ext cx="279806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1735"/>
                </a:solidFill>
                <a:latin typeface="Inter"/>
                <a:cs typeface="Inter"/>
              </a:rPr>
              <a:t>Meilenstein-Freigabe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657600"/>
            <a:ext cx="284378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85"/>
                </a:solidFill>
                <a:latin typeface="Inter"/>
                <a:cs typeface="Inter"/>
              </a:rPr>
              <a:t>Jeder Phasenübergang wartet auf deine manuelle Bestätigung.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286000"/>
            <a:ext cx="3346704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07408" y="2286000"/>
            <a:ext cx="3346704" cy="109728"/>
          </a:xfrm>
          <a:prstGeom prst="roundRect">
            <a:avLst>
              <a:gd name="adj" fmla="val 50000"/>
            </a:avLst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81728" y="2606040"/>
            <a:ext cx="512064" cy="51206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260604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246120"/>
            <a:ext cx="279806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1735"/>
                </a:solidFill>
                <a:latin typeface="Inter"/>
                <a:cs typeface="Inter"/>
              </a:rPr>
              <a:t>Rote Risiko-Ampel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3657600"/>
            <a:ext cx="284378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85"/>
                </a:solidFill>
                <a:latin typeface="Inter"/>
                <a:cs typeface="Inter"/>
              </a:rPr>
              <a:t>Steht ein Risiko auf Rot, stoppt der Lauf. Nur du gibst ihn explizit frei.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617720"/>
            <a:ext cx="5138928" cy="141732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7316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Inter"/>
                <a:cs typeface="Inter"/>
              </a:rPr>
              <a:t>Transparenz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2064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E1735"/>
                </a:solidFill>
                <a:latin typeface="Inter"/>
                <a:cs typeface="Inter"/>
              </a:rPr>
              <a:t>Du siehst die Agenten live denken und arbeiten — kein Spinner, der etwas verbirgt. Jede Aktion landet im Audit-Trail.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7</a:t>
            </a:r>
          </a:p>
        </p:txBody>
      </p:sp>
      <p:pic>
        <p:nvPicPr>
          <p:cNvPr id="32" name="Picture 31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pic>
        <p:nvPicPr>
          <p:cNvPr id="33" name="Picture 32" descr="g_02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930527"/>
            <a:ext cx="5468112" cy="34175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VERSTEHEN   ·   SCHRITT 1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Beschreibe dein Projekt in eigenen Worten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Das System erfährt, was du vorhast — formlos, in deiner Sprache.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schreibst frei drauflos. Keine Fachbegriffe, keine Struktur nötig.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liest mit und bereitet die erste Rückfrage vor — nichts wird gespeichert ohne dich.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klickst „Weiter“, wenn deine Beschreibung steht.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8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pic>
        <p:nvPicPr>
          <p:cNvPr id="36" name="Picture 35" descr="n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930527"/>
            <a:ext cx="5468112" cy="3417570"/>
          </a:xfrm>
          <a:prstGeom prst="rect">
            <a:avLst/>
          </a:prstGeom>
          <a:ln w="9525">
            <a:solidFill>
              <a:srgbClr val="D5D9E2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VERSTEHEN   ·   SCHRITT 2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Das Schärfungs-Interview (McKinsey-Methode)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Aus der Idee wird ein präzises Verständnis: Projektart, Umfang, Skills.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beantwortest gezielte Rückfragen — eine nach der anderen.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fragt MECE und hypothesengeleitet nach und macht aktiv Vorschläge.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kannst jeden Vorschlag annehmen, ändern oder verwerfen.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1556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9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pic>
        <p:nvPicPr>
          <p:cNvPr id="36" name="Picture 35" descr="int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854" y="1930527"/>
            <a:ext cx="4921300" cy="3417570"/>
          </a:xfrm>
          <a:prstGeom prst="rect">
            <a:avLst/>
          </a:prstGeom>
          <a:ln w="9525">
            <a:solidFill>
              <a:srgbClr val="D5D9E2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VERSTEHEN   ·   SCHRITT 3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Projektverständnis &amp; Agentenstruktur freigeben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Eine pre-finale Zusammenfassung — plus die Agenten, die deinen Plan bauen.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liest, korrigierst Details und gibst frei.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verdichtet alles und leitet ab, welche Planungs-Agenten nötig sind.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Ohne deine Freigabe startet keine Planung.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8988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10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pic>
        <p:nvPicPr>
          <p:cNvPr id="36" name="Picture 35" descr="understan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930527"/>
            <a:ext cx="5468112" cy="3417570"/>
          </a:xfrm>
          <a:prstGeom prst="rect">
            <a:avLst/>
          </a:prstGeom>
          <a:ln w="9525">
            <a:solidFill>
              <a:srgbClr val="D5D9E2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PLANEN   ·   SCHRITT 4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Deine Projekte verwalten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Jedes Projekt bleibt erhalten — in jeder Phase, jederzeit auffindbar.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Öffnen, kopieren als Vorlage oder löschen — alles mit einem Klick.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speichert jede Phase als eigene Version und zeigt den Status.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Löschen wird immer noch einmal von dir bestätigt.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664207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11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pic>
        <p:nvPicPr>
          <p:cNvPr id="36" name="Picture 35" descr="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930527"/>
            <a:ext cx="5468112" cy="3417570"/>
          </a:xfrm>
          <a:prstGeom prst="rect">
            <a:avLst/>
          </a:prstGeom>
          <a:ln w="9525">
            <a:solidFill>
              <a:srgbClr val="D5D9E2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PLANEN   ·   SCHRITT 5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Die Leitplanken: was geht — und was nicht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83080"/>
            <a:ext cx="5532120" cy="3913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783080"/>
            <a:ext cx="5532120" cy="109728"/>
          </a:xfrm>
          <a:prstGeom prst="roundRect">
            <a:avLst>
              <a:gd name="adj" fmla="val 50000"/>
            </a:avLst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75104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C3423F"/>
                </a:solidFill>
                <a:latin typeface="Inter"/>
                <a:cs typeface="Inter"/>
              </a:rPr>
              <a:t>Was das System verweigert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395728"/>
            <a:ext cx="274320" cy="274320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9572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35915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1735"/>
                </a:solidFill>
                <a:latin typeface="Inter"/>
                <a:cs typeface="Inter"/>
              </a:rPr>
              <a:t>Waffen &amp; gefährliches Dual-Use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63347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B85"/>
                </a:solidFill>
                <a:latin typeface="Inter"/>
                <a:cs typeface="Inter"/>
              </a:rPr>
              <a:t>Bau, Beschaffung, Anleitung.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3054096"/>
            <a:ext cx="274320" cy="274320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05409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01752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1735"/>
                </a:solidFill>
                <a:latin typeface="Inter"/>
                <a:cs typeface="Inter"/>
              </a:rPr>
              <a:t>Bio-, Chemie- &amp; Nuklear-Gefahren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291839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B85"/>
                </a:solidFill>
                <a:latin typeface="Inter"/>
                <a:cs typeface="Inter"/>
              </a:rPr>
              <a:t>keine Hilfe zu Herstellung oder Einsatz.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3712463"/>
            <a:ext cx="274320" cy="274320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71246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3675887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1735"/>
                </a:solidFill>
                <a:latin typeface="Inter"/>
                <a:cs typeface="Inter"/>
              </a:rPr>
              <a:t>Diskriminierung &amp; unfaire Benachteiligung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950207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B85"/>
                </a:solidFill>
                <a:latin typeface="Inter"/>
                <a:cs typeface="Inter"/>
              </a:rPr>
              <a:t>keine Pläne, die Menschen herabsetzen.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4370831"/>
            <a:ext cx="274320" cy="274320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37083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334255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1735"/>
                </a:solidFill>
                <a:latin typeface="Inter"/>
                <a:cs typeface="Inter"/>
              </a:rPr>
              <a:t>Malware, Exploits &amp; Spoofing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608575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B85"/>
                </a:solidFill>
                <a:latin typeface="Inter"/>
                <a:cs typeface="Inter"/>
              </a:rPr>
              <a:t>kein Schadcode, keine Täuschungs-Sites.</a:t>
            </a:r>
          </a:p>
        </p:txBody>
      </p:sp>
      <p:sp>
        <p:nvSpPr>
          <p:cNvPr id="26" name="Oval 25"/>
          <p:cNvSpPr/>
          <p:nvPr/>
        </p:nvSpPr>
        <p:spPr>
          <a:xfrm>
            <a:off x="1097280" y="5029199"/>
            <a:ext cx="274320" cy="274320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02919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4992623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1735"/>
                </a:solidFill>
                <a:latin typeface="Inter"/>
                <a:cs typeface="Inter"/>
              </a:rPr>
              <a:t>EU-AI-Act: verbotene Praktiken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5266943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B85"/>
                </a:solidFill>
                <a:latin typeface="Inter"/>
                <a:cs typeface="Inter"/>
              </a:rPr>
              <a:t>z. B. Social Scoring, manipulatives Profiling, biometrische Massenüberwachung.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578815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B6B85"/>
                </a:solidFill>
                <a:latin typeface="Inter"/>
                <a:cs typeface="Inter"/>
              </a:rPr>
              <a:t>Grenzfälle werden zur Prüfung an dich eskaliert — nicht still entschieden.</a:t>
            </a:r>
          </a:p>
        </p:txBody>
      </p:sp>
      <p:sp>
        <p:nvSpPr>
          <p:cNvPr id="43" name="Oval 42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93852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12</a:t>
            </a:r>
          </a:p>
        </p:txBody>
      </p:sp>
      <p:pic>
        <p:nvPicPr>
          <p:cNvPr id="54" name="Picture 53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pic>
        <p:nvPicPr>
          <p:cNvPr id="55" name="Picture 54" descr="guardrai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930527"/>
            <a:ext cx="5468112" cy="3417570"/>
          </a:xfrm>
          <a:prstGeom prst="rect">
            <a:avLst/>
          </a:prstGeom>
          <a:ln w="9525">
            <a:solidFill>
              <a:srgbClr val="D5D9E2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PLANEN   ·   SCHRITT 6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Der ZGPM-Plan entsteht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Aus dem Verständnis bauen die Agenten einen vollständigen, methodischen Plan.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verfolgst die Agenten live und wartest auf die Vorlage.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PMO zerlegt in Phasen &amp; Meilensteine; Worker füllen Rollen, Risiken, Aufwände.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Der Reviewer prüft; bei Rot oder Konflikt entscheidest du.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21284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13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870448" y="1828800"/>
            <a:ext cx="5468112" cy="3621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70448" y="1828800"/>
            <a:ext cx="5468112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70448" y="2011680"/>
            <a:ext cx="5468112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0" y="196138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1961388"/>
            <a:ext cx="100584" cy="100584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196138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39128" y="192024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1897380"/>
            <a:ext cx="28346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zgpm.aegira.ai/projects/…/plan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44768" y="237744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44768" y="2372868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Inter"/>
                <a:cs typeface="Inter"/>
              </a:rPr>
              <a:t>Meilensteinplan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34656" y="23774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34656" y="2372868"/>
            <a:ext cx="8686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B6B85"/>
                </a:solidFill>
                <a:latin typeface="Inter"/>
                <a:cs typeface="Inter"/>
              </a:rPr>
              <a:t>PVM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13064" y="23774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13064" y="2372868"/>
            <a:ext cx="8686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B6B85"/>
                </a:solidFill>
                <a:latin typeface="Inter"/>
                <a:cs typeface="Inter"/>
              </a:rPr>
              <a:t>Risiken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491472" y="23774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91472" y="2372868"/>
            <a:ext cx="8686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B6B85"/>
                </a:solidFill>
                <a:latin typeface="Inter"/>
                <a:cs typeface="Inter"/>
              </a:rPr>
              <a:t>Aktivitäten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44768" y="2834639"/>
            <a:ext cx="1566672" cy="292608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44768" y="2834639"/>
            <a:ext cx="156667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E2761"/>
                </a:solidFill>
                <a:latin typeface="Inter"/>
                <a:cs typeface="Inter"/>
              </a:rPr>
              <a:t>PH1 Setup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84592" y="2834639"/>
            <a:ext cx="1566672" cy="292608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84592" y="2834639"/>
            <a:ext cx="156667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E2761"/>
                </a:solidFill>
                <a:latin typeface="Inter"/>
                <a:cs typeface="Inter"/>
              </a:rPr>
              <a:t>PH2 Aufbau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424416" y="2834639"/>
            <a:ext cx="1566672" cy="292608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24416" y="2834639"/>
            <a:ext cx="156667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E2761"/>
                </a:solidFill>
                <a:latin typeface="Inter"/>
                <a:cs typeface="Inter"/>
              </a:rPr>
              <a:t>PH3 Betrieb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44768" y="3218687"/>
            <a:ext cx="1530096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236207" y="3319271"/>
            <a:ext cx="128016" cy="128016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37376" y="3218687"/>
            <a:ext cx="118262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0E1735"/>
                </a:solidFill>
                <a:latin typeface="Inter"/>
                <a:cs typeface="Inter"/>
              </a:rPr>
              <a:t>M1 Quellen angebunden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44768" y="3621023"/>
            <a:ext cx="1530096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236207" y="3721607"/>
            <a:ext cx="128016" cy="128016"/>
          </a:xfrm>
          <a:prstGeom prst="ellipse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37376" y="3621023"/>
            <a:ext cx="118262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0E1735"/>
                </a:solidFill>
                <a:latin typeface="Inter"/>
                <a:cs typeface="Inter"/>
              </a:rPr>
              <a:t>M2 Entwurfs-Engine steht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784592" y="4023359"/>
            <a:ext cx="1530096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876032" y="4123944"/>
            <a:ext cx="128016" cy="128016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77200" y="4023359"/>
            <a:ext cx="118262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0E1735"/>
                </a:solidFill>
                <a:latin typeface="Inter"/>
                <a:cs typeface="Inter"/>
              </a:rPr>
              <a:t>M3 Freigabe-Workflow live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424416" y="4425696"/>
            <a:ext cx="1530096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515856" y="4526280"/>
            <a:ext cx="128016" cy="128016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17024" y="4425696"/>
            <a:ext cx="118262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0E1735"/>
                </a:solidFill>
                <a:latin typeface="Inter"/>
                <a:cs typeface="Inter"/>
              </a:rPr>
              <a:t>M4 Erstausgabe versendet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424416" y="4828032"/>
            <a:ext cx="1530096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515856" y="4928616"/>
            <a:ext cx="128016" cy="128016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17024" y="4828032"/>
            <a:ext cx="118262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0E1735"/>
                </a:solidFill>
                <a:latin typeface="Inter"/>
                <a:cs typeface="Inter"/>
              </a:rPr>
              <a:t>M5 Betrieb stabil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44768" y="5120640"/>
            <a:ext cx="49194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8A93A6"/>
                </a:solidFill>
                <a:latin typeface="Inter"/>
                <a:cs typeface="Inter"/>
              </a:rPr>
              <a:t>Meilenstein = Zustand im Perfekt · Ampel propagiert nach oben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PLANEN   ·   SCHRITT 6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Was du im fertigen Plan siehst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55648"/>
            <a:ext cx="3346704" cy="1975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1901952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Gantt — Meilensteine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2416" y="2468880"/>
            <a:ext cx="1828800" cy="20116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56816" y="2852928"/>
            <a:ext cx="1463040" cy="20116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05456" y="3236976"/>
            <a:ext cx="1280160" cy="201168"/>
          </a:xfrm>
          <a:prstGeom prst="roundRect">
            <a:avLst>
              <a:gd name="adj" fmla="val 50000"/>
            </a:avLst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16552" y="1755648"/>
            <a:ext cx="3346704" cy="1975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01952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Risk-Matrix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90872" y="2468880"/>
            <a:ext cx="265176" cy="265176"/>
          </a:xfrm>
          <a:prstGeom prst="rect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01768" y="2468880"/>
            <a:ext cx="265176" cy="265176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12664" y="2468880"/>
            <a:ext cx="265176" cy="265176"/>
          </a:xfrm>
          <a:prstGeom prst="rect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90872" y="2779776"/>
            <a:ext cx="265176" cy="265176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01768" y="2779776"/>
            <a:ext cx="265176" cy="265176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12664" y="2779776"/>
            <a:ext cx="265176" cy="265176"/>
          </a:xfrm>
          <a:prstGeom prst="rect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90872" y="3090672"/>
            <a:ext cx="265176" cy="265176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01768" y="3090672"/>
            <a:ext cx="265176" cy="265176"/>
          </a:xfrm>
          <a:prstGeom prst="rect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12664" y="3090672"/>
            <a:ext cx="265176" cy="265176"/>
          </a:xfrm>
          <a:prstGeom prst="rect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49240" y="248716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1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91856" y="1755648"/>
            <a:ext cx="3346704" cy="1975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41248" y="3931920"/>
            <a:ext cx="3346704" cy="1975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" y="4078224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Zeitplanung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15568" y="4983480"/>
            <a:ext cx="2889504" cy="0"/>
          </a:xfrm>
          <a:prstGeom prst="bentConnector3">
            <a:avLst/>
          </a:prstGeom>
          <a:ln w="2540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1161288" y="4892040"/>
            <a:ext cx="146304" cy="14630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6696" y="5120640"/>
            <a:ext cx="5029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80" b="0" i="0">
                <a:solidFill>
                  <a:srgbClr val="5B6B85"/>
                </a:solidFill>
                <a:latin typeface="JetBrains Mono"/>
                <a:cs typeface="JetBrains Mono"/>
              </a:rPr>
              <a:t>KW20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84248" y="4892040"/>
            <a:ext cx="146304" cy="14630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19656" y="5120640"/>
            <a:ext cx="5029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80" b="0" i="0">
                <a:solidFill>
                  <a:srgbClr val="5B6B85"/>
                </a:solidFill>
                <a:latin typeface="JetBrains Mono"/>
                <a:cs typeface="JetBrains Mono"/>
              </a:rPr>
              <a:t>KW24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98648" y="4892040"/>
            <a:ext cx="146304" cy="14630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34056" y="5120640"/>
            <a:ext cx="5029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80" b="0" i="0">
                <a:solidFill>
                  <a:srgbClr val="5B6B85"/>
                </a:solidFill>
                <a:latin typeface="JetBrains Mono"/>
                <a:cs typeface="JetBrains Mono"/>
              </a:rPr>
              <a:t>KW28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30168" y="4892040"/>
            <a:ext cx="146304" cy="14630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65576" y="5120640"/>
            <a:ext cx="5029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80" b="0" i="0">
                <a:solidFill>
                  <a:srgbClr val="5B6B85"/>
                </a:solidFill>
                <a:latin typeface="JetBrains Mono"/>
                <a:cs typeface="JetBrains Mono"/>
              </a:rPr>
              <a:t>KW32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5568" y="5440680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Inter"/>
                <a:cs typeface="Inter"/>
              </a:rPr>
              <a:t>Start- und Endtermine je Meilenstein.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416552" y="3931920"/>
            <a:ext cx="3346704" cy="1975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17720" y="4078224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Kosten — Token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690872" y="4709160"/>
            <a:ext cx="2798064" cy="23774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690872" y="4709160"/>
            <a:ext cx="1734799" cy="237744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90872" y="5029200"/>
            <a:ext cx="288950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Inter"/>
                <a:cs typeface="Inter"/>
              </a:rPr>
              <a:t>Token-Budget je Agent &amp; Knoten — live mitgezählt.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5440680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8A93A6"/>
                </a:solidFill>
                <a:latin typeface="Inter"/>
                <a:cs typeface="Inter"/>
              </a:rPr>
              <a:t>Warnung bei Überschreitung.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66176" y="5760720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1">
                <a:solidFill>
                  <a:srgbClr val="8A93A6"/>
                </a:solidFill>
                <a:latin typeface="Inter"/>
                <a:cs typeface="Inter"/>
              </a:rPr>
              <a:t>Welcher Agent wie stark ausgelastet ist.</a:t>
            </a:r>
          </a:p>
        </p:txBody>
      </p:sp>
      <p:sp>
        <p:nvSpPr>
          <p:cNvPr id="70" name="Oval 69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221284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14</a:t>
            </a:r>
          </a:p>
        </p:txBody>
      </p:sp>
      <p:pic>
        <p:nvPicPr>
          <p:cNvPr id="81" name="Picture 80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pic>
        <p:nvPicPr>
          <p:cNvPr id="82" name="Picture 81" descr="p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516" y="1828800"/>
            <a:ext cx="4965975" cy="3621024"/>
          </a:xfrm>
          <a:prstGeom prst="rect">
            <a:avLst/>
          </a:prstGeom>
          <a:ln w="9525">
            <a:solidFill>
              <a:srgbClr val="D5D9E2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PLANEN   ·   SCHRITT 7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Review &amp; Edit — direkt am Bildschirm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machst den Plan zu deinem Plan — Wortlaut, Sprache,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Text anklicken und ändern, Sprache umschalten (DE/EN), Werte anpassen.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zeigt jede Änderung als Vorher/Nachher und versioniert sie.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Erst deine Freigabe macht aus der Version den gültigen Plan.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8716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15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870448" y="1828800"/>
            <a:ext cx="5468112" cy="3621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70448" y="1828800"/>
            <a:ext cx="5468112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70448" y="2011680"/>
            <a:ext cx="5468112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0" y="196138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1961388"/>
            <a:ext cx="100584" cy="100584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196138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39128" y="192024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1897380"/>
            <a:ext cx="28346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zgpm.aegira.ai/projects/…/plan  ·  bearbeiten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2395728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B6B85"/>
                </a:solidFill>
                <a:latin typeface="Inter"/>
                <a:cs typeface="Inter"/>
              </a:rPr>
              <a:t>Sprache: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59168" y="237744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59168" y="2372868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Inter"/>
                <a:cs typeface="Inter"/>
              </a:rPr>
              <a:t>DE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44967" y="237744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44967" y="2372868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B6B85"/>
                </a:solidFill>
                <a:latin typeface="Inter"/>
                <a:cs typeface="Inter"/>
              </a:rPr>
              <a:t>EN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44768" y="2852928"/>
            <a:ext cx="4919472" cy="457200"/>
          </a:xfrm>
          <a:prstGeom prst="roundRect">
            <a:avLst>
              <a:gd name="adj" fmla="val 10000"/>
            </a:avLst>
          </a:prstGeom>
          <a:solidFill>
            <a:srgbClr val="F2F6FD"/>
          </a:solidFill>
          <a:ln w="15875">
            <a:solidFill>
              <a:srgbClr val="E87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81928" y="2852928"/>
            <a:ext cx="418795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1735"/>
                </a:solidFill>
                <a:latin typeface="Inter"/>
                <a:cs typeface="Inter"/>
              </a:rPr>
              <a:t>M2  Entwurfs-Engine steht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87000" y="292608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87000" y="2921508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Inter"/>
                <a:cs typeface="Inter"/>
              </a:rPr>
              <a:t>ändern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44768" y="349300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E1735"/>
                </a:solidFill>
                <a:latin typeface="Inter"/>
                <a:cs typeface="Inter"/>
              </a:rPr>
              <a:t>Änderungs-Vorschau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44768" y="3785615"/>
            <a:ext cx="4919472" cy="420624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81928" y="3785615"/>
            <a:ext cx="4645152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C3423F"/>
                </a:solidFill>
                <a:latin typeface="JetBrains Mono"/>
                <a:cs typeface="JetBrains Mono"/>
              </a:rPr>
              <a:t>−  „Entwurfs-Engine steht“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44768" y="4261104"/>
            <a:ext cx="4919472" cy="420624"/>
          </a:xfrm>
          <a:prstGeom prst="roundRect">
            <a:avLst>
              <a:gd name="adj" fmla="val 8000"/>
            </a:avLst>
          </a:prstGeom>
          <a:solidFill>
            <a:srgbClr val="EC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81928" y="4261104"/>
            <a:ext cx="4645152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9367"/>
                </a:solidFill>
                <a:latin typeface="JetBrains Mono"/>
                <a:cs typeface="JetBrains Mono"/>
              </a:rPr>
              <a:t>+  „Entwurfs-Engine getestet &amp; freigegeben“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44768" y="48463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44768" y="4841748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Inter"/>
                <a:cs typeface="Inter"/>
              </a:rPr>
              <a:t>Übernehmen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626096" y="48463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26096" y="4841748"/>
            <a:ext cx="114300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Verwerfen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0" y="4882896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8A93A6"/>
                </a:solidFill>
                <a:latin typeface="Inter"/>
                <a:cs typeface="Inter"/>
              </a:rPr>
              <a:t>Version v3 · v2 bleibt erhalten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16168" y="1801367"/>
            <a:ext cx="5952744" cy="448970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030094"/>
            <a:ext cx="5806440" cy="4032250"/>
          </a:xfrm>
          <a:prstGeom prst="rect">
            <a:avLst/>
          </a:prstGeom>
          <a:ln w="9525">
            <a:solidFill>
              <a:srgbClr val="D5D9E2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9367"/>
                </a:solidFill>
                <a:latin typeface="Inter"/>
                <a:cs typeface="Inter"/>
              </a:rPr>
              <a:t>BAUEN   ·   SCHRITT 8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Der Agenten-Harness wird gebaut &amp; sichtbar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Aus dem Plan wird ein lauffähiges Agententeam — visuell nachvollziehbar.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betrachtest die Struktur: wer orchestriert, wer arbeitet, wo du freigibst.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kompiliert Rollen zu Agenten, Aktivitäten zu Aufgaben, Risiken zu Quality-Gates.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Die HITL-Knoten zeigen, wo dein Sign-off verankert ist.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76148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16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870448" y="1828800"/>
            <a:ext cx="5468112" cy="3621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70448" y="1828800"/>
            <a:ext cx="5468112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70448" y="2011680"/>
            <a:ext cx="5468112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0" y="196138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1961388"/>
            <a:ext cx="100584" cy="100584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196138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39128" y="192024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1897380"/>
            <a:ext cx="28346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zgpm.aegira.ai/projects/…/harness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7242048" y="2971800"/>
            <a:ext cx="1362456" cy="6400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8458200" y="2971800"/>
            <a:ext cx="146304" cy="6400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604504" y="2971800"/>
            <a:ext cx="1069848" cy="6400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604504" y="2971800"/>
            <a:ext cx="2286000" cy="6400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242048" y="4069080"/>
            <a:ext cx="1362456" cy="4114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458200" y="4069080"/>
            <a:ext cx="146304" cy="4114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604504" y="4069080"/>
            <a:ext cx="1069848" cy="4114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8604504" y="4069080"/>
            <a:ext cx="2286000" cy="4114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604504" y="4937760"/>
            <a:ext cx="0" cy="256032"/>
          </a:xfrm>
          <a:prstGeom prst="bentConnector3">
            <a:avLst/>
          </a:prstGeom>
          <a:ln w="25400">
            <a:solidFill>
              <a:srgbClr val="E87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7507224" y="251460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07224" y="251460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Inter"/>
                <a:cs typeface="Inter"/>
              </a:rPr>
              <a:t>PMO · Orchestrator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93408" y="361188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93408" y="36118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Inter"/>
                <a:cs typeface="Inter"/>
              </a:rPr>
              <a:t>Architektur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909560" y="361188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09560" y="36118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Inter"/>
                <a:cs typeface="Inter"/>
              </a:rPr>
              <a:t>Skills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125712" y="361188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25712" y="36118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Inter"/>
                <a:cs typeface="Inter"/>
              </a:rPr>
              <a:t>Risk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341864" y="361188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341864" y="36118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Inter"/>
                <a:cs typeface="Inter"/>
              </a:rPr>
              <a:t>Reviewer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32904" y="448056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2A3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32904" y="448056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Inter"/>
                <a:cs typeface="Inter"/>
              </a:rPr>
              <a:t>Konsistenz-Check · max 3×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507224" y="5193792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07224" y="5193792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◆ HITL-Freigabe</a:t>
            </a:r>
          </a:p>
        </p:txBody>
      </p:sp>
      <p:sp>
        <p:nvSpPr>
          <p:cNvPr id="67" name="Oval 66"/>
          <p:cNvSpPr/>
          <p:nvPr/>
        </p:nvSpPr>
        <p:spPr>
          <a:xfrm>
            <a:off x="6144768" y="2450591"/>
            <a:ext cx="118872" cy="11887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18504" y="23957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85"/>
                </a:solidFill>
                <a:latin typeface="Inter"/>
                <a:cs typeface="Inter"/>
              </a:rPr>
              <a:t>Orchestrator</a:t>
            </a:r>
          </a:p>
        </p:txBody>
      </p:sp>
      <p:sp>
        <p:nvSpPr>
          <p:cNvPr id="69" name="Oval 68"/>
          <p:cNvSpPr/>
          <p:nvPr/>
        </p:nvSpPr>
        <p:spPr>
          <a:xfrm>
            <a:off x="6144768" y="2724911"/>
            <a:ext cx="118872" cy="118872"/>
          </a:xfrm>
          <a:prstGeom prst="ellipse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18504" y="267004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85"/>
                </a:solidFill>
                <a:latin typeface="Inter"/>
                <a:cs typeface="Inter"/>
              </a:rPr>
              <a:t>Worker</a:t>
            </a:r>
          </a:p>
        </p:txBody>
      </p:sp>
      <p:sp>
        <p:nvSpPr>
          <p:cNvPr id="71" name="Oval 70"/>
          <p:cNvSpPr/>
          <p:nvPr/>
        </p:nvSpPr>
        <p:spPr>
          <a:xfrm>
            <a:off x="6144768" y="2999232"/>
            <a:ext cx="118872" cy="118872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18504" y="294436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85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16168" y="1801367"/>
            <a:ext cx="5952744" cy="448970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har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929288"/>
            <a:ext cx="5806440" cy="4233862"/>
          </a:xfrm>
          <a:prstGeom prst="rect">
            <a:avLst/>
          </a:prstGeom>
          <a:ln w="9525">
            <a:solidFill>
              <a:srgbClr val="D5D9E2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9367"/>
                </a:solidFill>
                <a:latin typeface="Inter"/>
                <a:cs typeface="Inter"/>
              </a:rPr>
              <a:t>BAUEN   ·   SCHRITT 8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Artefakte editieren &amp; Struktur per Kommando verbessern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verfeinerst jedes Artefakt und die Gesamtstruktur, bis sie passt.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Datei öffnen und ändern — oder im Kommandofeld sagen, was besser wäre.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macht neue Vorschläge (Sequenz, Parallel, neuer Skill, weiterer Agent) — x Iterationen.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Erst deine Freigabe beendet die Schleife.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76148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17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870448" y="1828800"/>
            <a:ext cx="5468112" cy="3621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70448" y="1828800"/>
            <a:ext cx="5468112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70448" y="2011680"/>
            <a:ext cx="5468112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0" y="196138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1961388"/>
            <a:ext cx="100584" cy="100584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196138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39128" y="192024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1897380"/>
            <a:ext cx="28346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zgpm.aegira.ai/projects/…/harness  ·  editor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99048" y="2377440"/>
            <a:ext cx="1783080" cy="22402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144768" y="2450591"/>
            <a:ext cx="1691640" cy="237744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6208" y="2468879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 i="0">
                <a:solidFill>
                  <a:srgbClr val="1E2761"/>
                </a:solidFill>
                <a:latin typeface="JetBrains Mono"/>
                <a:cs typeface="JetBrains Mono"/>
              </a:rPr>
              <a:t>CLAUDE.md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8" y="2715768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 i="0">
                <a:solidFill>
                  <a:srgbClr val="1E2761"/>
                </a:solidFill>
                <a:latin typeface="JetBrains Mono"/>
                <a:cs typeface="JetBrains Mono"/>
              </a:rPr>
              <a:t>plan/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208" y="2962656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5B6B85"/>
                </a:solidFill>
                <a:latin typeface="JetBrains Mono"/>
                <a:cs typeface="JetBrains Mono"/>
              </a:rPr>
              <a:t>  msp.yaml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3209544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5B6B85"/>
                </a:solidFill>
                <a:latin typeface="JetBrains Mono"/>
                <a:cs typeface="JetBrains Mono"/>
              </a:rPr>
              <a:t>  pvm.yaml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36208" y="3456432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 i="0">
                <a:solidFill>
                  <a:srgbClr val="1E2761"/>
                </a:solidFill>
                <a:latin typeface="JetBrains Mono"/>
                <a:cs typeface="JetBrains Mono"/>
              </a:rPr>
              <a:t>.claude/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208" y="3703320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5B6B85"/>
                </a:solidFill>
                <a:latin typeface="JetBrains Mono"/>
                <a:cs typeface="JetBrains Mono"/>
              </a:rPr>
              <a:t>  agents/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36208" y="3950208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5B6B85"/>
                </a:solidFill>
                <a:latin typeface="JetBrains Mono"/>
                <a:cs typeface="JetBrains Mono"/>
              </a:rPr>
              <a:t>  skills/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36208" y="4197096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5B6B85"/>
                </a:solidFill>
                <a:latin typeface="JetBrains Mono"/>
                <a:cs typeface="JetBrains Mono"/>
              </a:rPr>
              <a:t>  hooks/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19288" y="2377440"/>
            <a:ext cx="3044952" cy="2240280"/>
          </a:xfrm>
          <a:prstGeom prst="roundRect">
            <a:avLst>
              <a:gd name="adj" fmla="val 6000"/>
            </a:avLst>
          </a:prstGeom>
          <a:solidFill>
            <a:srgbClr val="0E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02167" y="2487168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E8703A"/>
                </a:solidFill>
                <a:latin typeface="JetBrains Mono"/>
                <a:cs typeface="JetBrains Mono"/>
              </a:rPr>
              <a:t># CLAUDE.md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02167" y="2706624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B8C2DA"/>
                </a:solidFill>
                <a:latin typeface="JetBrains Mono"/>
                <a:cs typeface="JetBrains Mono"/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02167" y="2926079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E8703A"/>
                </a:solidFill>
                <a:latin typeface="JetBrains Mono"/>
                <a:cs typeface="JetBrains Mono"/>
              </a:rPr>
              <a:t>## Mission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02167" y="3145535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B8C2DA"/>
                </a:solidFill>
                <a:latin typeface="JetBrains Mono"/>
                <a:cs typeface="JetBrains Mono"/>
              </a:rPr>
              <a:t>Newsletter-Pipeline,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02167" y="3364991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B8C2DA"/>
                </a:solidFill>
                <a:latin typeface="JetBrains Mono"/>
                <a:cs typeface="JetBrains Mono"/>
              </a:rPr>
              <a:t>halb-automatisch.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02167" y="3584448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B8C2DA"/>
                </a:solidFill>
                <a:latin typeface="JetBrains Mono"/>
                <a:cs typeface="JetBrains Mono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02167" y="3803904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E8703A"/>
                </a:solidFill>
                <a:latin typeface="JetBrains Mono"/>
                <a:cs typeface="JetBrains Mono"/>
              </a:rPr>
              <a:t>## Agenten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02167" y="4023359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CADCFC"/>
                </a:solidFill>
                <a:latin typeface="JetBrains Mono"/>
                <a:cs typeface="JetBrains Mono"/>
              </a:rPr>
              <a:t>- pmo (Orchestrator)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02167" y="4242816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CADCFC"/>
                </a:solidFill>
                <a:latin typeface="JetBrains Mono"/>
                <a:cs typeface="JetBrains Mono"/>
              </a:rPr>
              <a:t>- reviewer (max 3×)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099048" y="4773168"/>
            <a:ext cx="501091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7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81928" y="4773168"/>
            <a:ext cx="327355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0E1735"/>
                </a:solidFill>
                <a:latin typeface="Inter"/>
                <a:cs typeface="Inter"/>
              </a:rPr>
              <a:t>Mach die Risiko-Prüfung parallel zur Architektur.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46920" y="48463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46920" y="4841748"/>
            <a:ext cx="14173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Inter"/>
                <a:cs typeface="Inter"/>
              </a:rPr>
              <a:t>Vorschlag holen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99048" y="5321808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8A93A6"/>
                </a:solidFill>
                <a:latin typeface="Inter"/>
                <a:cs typeface="Inter"/>
              </a:rPr>
              <a:t>Kommandofeld — Sequenz · Parallel · Skill · weiterer Agent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16168" y="1801367"/>
            <a:ext cx="5952744" cy="448970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har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929288"/>
            <a:ext cx="5806440" cy="4233862"/>
          </a:xfrm>
          <a:prstGeom prst="rect">
            <a:avLst/>
          </a:prstGeom>
          <a:ln w="9525">
            <a:solidFill>
              <a:srgbClr val="D5D9E2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9367"/>
                </a:solidFill>
                <a:latin typeface="Inter"/>
                <a:cs typeface="Inter"/>
              </a:rPr>
              <a:t>BAUEN   ·   SCHRITT 9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Export: Zip + Setup für Claude Cowork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703A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erhältst ein portables Paket, das ohne den Planner läuft.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Herunterladen, entpacken, in Claude Cowork / Claude Code öffnen.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schnürt CLAUDE.md, Skills, Agenten, Plan &amp; Setup in eine signierte Zip.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33D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Prüfsumme bestätigt, dass dein Paket unverändert ist.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03580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18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870448" y="1828800"/>
            <a:ext cx="5468112" cy="3621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70448" y="1828800"/>
            <a:ext cx="5468112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70448" y="2011680"/>
            <a:ext cx="5468112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0" y="196138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1961388"/>
            <a:ext cx="100584" cy="100584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196138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39128" y="192024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1897380"/>
            <a:ext cx="28346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zgpm.aegira.ai/projects/…/harness  ·  download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44768" y="2423160"/>
            <a:ext cx="4919472" cy="731520"/>
          </a:xfrm>
          <a:prstGeom prst="roundRect">
            <a:avLst>
              <a:gd name="adj" fmla="val 10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73368" y="2505456"/>
            <a:ext cx="345643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JetBrains Mono"/>
                <a:cs typeface="JetBrains Mono"/>
              </a:rPr>
              <a:t>newsletter-automatisierung_…_a3f1c2.harness.zip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3368" y="2816352"/>
            <a:ext cx="34564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DFEFE3"/>
                </a:solidFill>
                <a:latin typeface="JetBrains Mono"/>
                <a:cs typeface="JetBrains Mono"/>
              </a:rPr>
              <a:t>checksums.txt · shasum -a 256 -c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738360" y="26060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2601468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9367"/>
                </a:solidFill>
                <a:latin typeface="Inter"/>
                <a:cs typeface="Inter"/>
              </a:rPr>
              <a:t>↓ Download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44768" y="3364991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E1735"/>
                </a:solidFill>
                <a:latin typeface="Inter"/>
                <a:cs typeface="Inter"/>
              </a:rPr>
              <a:t>Inhalt der Zip</a:t>
            </a:r>
          </a:p>
        </p:txBody>
      </p:sp>
      <p:sp>
        <p:nvSpPr>
          <p:cNvPr id="50" name="Oval 49"/>
          <p:cNvSpPr/>
          <p:nvPr/>
        </p:nvSpPr>
        <p:spPr>
          <a:xfrm>
            <a:off x="6181344" y="3785615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45936" y="369417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0E1735"/>
                </a:solidFill>
                <a:latin typeface="JetBrains Mono"/>
                <a:cs typeface="JetBrains Mono"/>
              </a:rPr>
              <a:t>CLAUDE.md</a:t>
            </a:r>
          </a:p>
        </p:txBody>
      </p:sp>
      <p:sp>
        <p:nvSpPr>
          <p:cNvPr id="52" name="Oval 51"/>
          <p:cNvSpPr/>
          <p:nvPr/>
        </p:nvSpPr>
        <p:spPr>
          <a:xfrm>
            <a:off x="6181344" y="4032504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45936" y="394106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0E1735"/>
                </a:solidFill>
                <a:latin typeface="JetBrains Mono"/>
                <a:cs typeface="JetBrains Mono"/>
              </a:rPr>
              <a:t>INSTALL.md · USERGUIDE.md</a:t>
            </a:r>
          </a:p>
        </p:txBody>
      </p:sp>
      <p:sp>
        <p:nvSpPr>
          <p:cNvPr id="54" name="Oval 53"/>
          <p:cNvSpPr/>
          <p:nvPr/>
        </p:nvSpPr>
        <p:spPr>
          <a:xfrm>
            <a:off x="6181344" y="4279392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45936" y="41879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0E1735"/>
                </a:solidFill>
                <a:latin typeface="JetBrains Mono"/>
                <a:cs typeface="JetBrains Mono"/>
              </a:rPr>
              <a:t>plan/ (msp · pvm · risks)</a:t>
            </a:r>
          </a:p>
        </p:txBody>
      </p:sp>
      <p:sp>
        <p:nvSpPr>
          <p:cNvPr id="56" name="Oval 55"/>
          <p:cNvSpPr/>
          <p:nvPr/>
        </p:nvSpPr>
        <p:spPr>
          <a:xfrm>
            <a:off x="6181344" y="4526279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45936" y="443484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0E1735"/>
                </a:solidFill>
                <a:latin typeface="JetBrains Mono"/>
                <a:cs typeface="JetBrains Mono"/>
              </a:rPr>
              <a:t>.claude/agents/ (7 Rollen)</a:t>
            </a:r>
          </a:p>
        </p:txBody>
      </p:sp>
      <p:sp>
        <p:nvSpPr>
          <p:cNvPr id="58" name="Oval 57"/>
          <p:cNvSpPr/>
          <p:nvPr/>
        </p:nvSpPr>
        <p:spPr>
          <a:xfrm>
            <a:off x="6181344" y="4773168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45936" y="468172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0E1735"/>
                </a:solidFill>
                <a:latin typeface="JetBrains Mono"/>
                <a:cs typeface="JetBrains Mono"/>
              </a:rPr>
              <a:t>.claude/skills · commands · hooks</a:t>
            </a:r>
          </a:p>
        </p:txBody>
      </p:sp>
      <p:sp>
        <p:nvSpPr>
          <p:cNvPr id="60" name="Oval 59"/>
          <p:cNvSpPr/>
          <p:nvPr/>
        </p:nvSpPr>
        <p:spPr>
          <a:xfrm>
            <a:off x="6181344" y="5020056"/>
            <a:ext cx="82296" cy="82296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45936" y="492861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0E1735"/>
                </a:solidFill>
                <a:latin typeface="JetBrains Mono"/>
                <a:cs typeface="JetBrains Mono"/>
              </a:rPr>
              <a:t>.claude/…/plugin.json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482328" y="3364991"/>
            <a:ext cx="1581912" cy="1938528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83496" y="3474720"/>
            <a:ext cx="12618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E2761"/>
                </a:solidFill>
                <a:latin typeface="Inter"/>
                <a:cs typeface="Inter"/>
              </a:rPr>
              <a:t>→ In Claude Cowork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83496" y="3822191"/>
            <a:ext cx="13075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0E1735"/>
                </a:solidFill>
                <a:latin typeface="Inter"/>
                <a:cs typeface="Inter"/>
              </a:rPr>
              <a:t>1   Zip entpacken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83496" y="4151376"/>
            <a:ext cx="13075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0E1735"/>
                </a:solidFill>
                <a:latin typeface="Inter"/>
                <a:cs typeface="Inter"/>
              </a:rPr>
              <a:t>2   plugin.json wird erkannt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83496" y="4480559"/>
            <a:ext cx="13075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0E1735"/>
                </a:solidFill>
                <a:latin typeface="Inter"/>
                <a:cs typeface="Inter"/>
              </a:rPr>
              <a:t>3   /run-harness ausführen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83496" y="4809744"/>
            <a:ext cx="13075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0E1735"/>
                </a:solidFill>
                <a:latin typeface="Inter"/>
                <a:cs typeface="Inter"/>
              </a:rPr>
              <a:t>4   Team läuft in Claude Code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16168" y="1801367"/>
            <a:ext cx="5952744" cy="448970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ex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030094"/>
            <a:ext cx="5806440" cy="4032250"/>
          </a:xfrm>
          <a:prstGeom prst="rect">
            <a:avLst/>
          </a:prstGeom>
          <a:ln w="9525">
            <a:solidFill>
              <a:srgbClr val="D5D9E2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PROZESS · DOKUMENTIERT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Der Prozessablauf — nach McKinsey optimiert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91640"/>
            <a:ext cx="10479024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691640"/>
            <a:ext cx="82296" cy="1170432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1801368"/>
            <a:ext cx="1463040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VERSTEHEN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2002536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15768" y="2112264"/>
            <a:ext cx="329184" cy="329184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5768" y="211226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002536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Beschreiben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78807" y="2276856"/>
            <a:ext cx="201168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16552" y="2002536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26280" y="2112264"/>
            <a:ext cx="329184" cy="329184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11226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2002536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Interview ↺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89320" y="2276856"/>
            <a:ext cx="201168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27064" y="2002536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36792" y="2112264"/>
            <a:ext cx="329184" cy="329184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11226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9984" y="2002536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Verständnis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99831" y="2276856"/>
            <a:ext cx="201169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012680" y="1965960"/>
            <a:ext cx="1143000" cy="621792"/>
          </a:xfrm>
          <a:prstGeom prst="roundRect">
            <a:avLst>
              <a:gd name="adj" fmla="val 16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1965960"/>
            <a:ext cx="1143000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Inter"/>
                <a:cs typeface="Inter"/>
              </a:rPr>
              <a:t>◆ GATE 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FBE3D6"/>
                </a:solidFill>
                <a:latin typeface="Inter"/>
                <a:cs typeface="Inter"/>
              </a:rPr>
              <a:t>Verständnis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3127248"/>
            <a:ext cx="10479024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1248" y="3127248"/>
            <a:ext cx="82296" cy="117043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0704" y="3236976"/>
            <a:ext cx="1463040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PLANEN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06040" y="3438144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15768" y="3547872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15768" y="354787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3438144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Verwalten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178807" y="3712463"/>
            <a:ext cx="201168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416552" y="3438144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26280" y="3547872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354787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9472" y="3438144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Leitplanken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89320" y="3712463"/>
            <a:ext cx="201168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227064" y="3438144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36792" y="3547872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6792" y="354787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9984" y="3438144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ZGPM-Plan ↺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99831" y="3712463"/>
            <a:ext cx="201169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037576" y="3438144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147304" y="3547872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47304" y="354787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0496" y="3438144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Review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610344" y="3712463"/>
            <a:ext cx="201168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0012680" y="3401568"/>
            <a:ext cx="1143000" cy="621792"/>
          </a:xfrm>
          <a:prstGeom prst="roundRect">
            <a:avLst>
              <a:gd name="adj" fmla="val 16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12680" y="3401568"/>
            <a:ext cx="1143000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Inter"/>
                <a:cs typeface="Inter"/>
              </a:rPr>
              <a:t>◆ GATE 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FBE3D6"/>
                </a:solidFill>
                <a:latin typeface="Inter"/>
                <a:cs typeface="Inter"/>
              </a:rPr>
              <a:t>Plan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1248" y="4562856"/>
            <a:ext cx="10479024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41248" y="4562856"/>
            <a:ext cx="82296" cy="1170432"/>
          </a:xfrm>
          <a:prstGeom prst="rect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0704" y="4672584"/>
            <a:ext cx="1463040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9367"/>
                </a:solidFill>
                <a:latin typeface="Inter"/>
                <a:cs typeface="Inter"/>
              </a:rPr>
              <a:t>BAUEN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606040" y="4873752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715768" y="4983480"/>
            <a:ext cx="329184" cy="3291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15768" y="49834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08960" y="4873752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Harness ↺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178807" y="5148072"/>
            <a:ext cx="201168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4416552" y="4873752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526280" y="4983480"/>
            <a:ext cx="329184" cy="3291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26280" y="49834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19472" y="4873752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Export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989320" y="5148072"/>
            <a:ext cx="201168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10012680" y="4837176"/>
            <a:ext cx="1143000" cy="621792"/>
          </a:xfrm>
          <a:prstGeom prst="roundRect">
            <a:avLst>
              <a:gd name="adj" fmla="val 16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12680" y="4837176"/>
            <a:ext cx="1143000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Inter"/>
                <a:cs typeface="Inter"/>
              </a:rPr>
              <a:t>◆ GATE 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FBE3D6"/>
                </a:solidFill>
                <a:latin typeface="Inter"/>
                <a:cs typeface="Inter"/>
              </a:rPr>
              <a:t>Harness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1248" y="5897880"/>
            <a:ext cx="10479024" cy="45720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7280" y="5897880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Inter"/>
                <a:cs typeface="Inter"/>
              </a:rPr>
              <a:t>Drei Freigabe-Gates </a:t>
            </a:r>
            <a:r>
              <a:rPr sz="1100" b="1" i="0">
                <a:solidFill>
                  <a:srgbClr val="E8703A"/>
                </a:solidFill>
                <a:latin typeface="Inter"/>
                <a:cs typeface="Inter"/>
              </a:rPr>
              <a:t>◆</a:t>
            </a:r>
            <a:r>
              <a:rPr sz="1100" b="0" i="0">
                <a:solidFill>
                  <a:srgbClr val="1E2761"/>
                </a:solidFill>
                <a:latin typeface="Inter"/>
                <a:cs typeface="Inter"/>
              </a:rPr>
              <a:t>  — nichts geht ohne dich weiter.   Drei Schleifen </a:t>
            </a:r>
            <a:r>
              <a:rPr sz="1100" b="1" i="0">
                <a:solidFill>
                  <a:srgbClr val="1E2761"/>
                </a:solidFill>
                <a:latin typeface="Inter"/>
                <a:cs typeface="Inter"/>
              </a:rPr>
              <a:t>↺</a:t>
            </a:r>
            <a:r>
              <a:rPr sz="1100" b="0" i="0">
                <a:solidFill>
                  <a:srgbClr val="1E2761"/>
                </a:solidFill>
                <a:latin typeface="Inter"/>
                <a:cs typeface="Inter"/>
              </a:rPr>
              <a:t>  : Interview, Reviewer (max 3×), Iteration.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19</a:t>
            </a:r>
          </a:p>
        </p:txBody>
      </p:sp>
      <p:pic>
        <p:nvPicPr>
          <p:cNvPr id="69" name="Picture 68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PROZESS · BEGRÜNDUNG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Warum dieser Ablauf nach McKinsey trägt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00200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600200"/>
            <a:ext cx="64008" cy="9601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19072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MECE-Phasen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02536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Verstehen, Planen, Bauen — lückenlos und überschneidungsfrei.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600200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600200"/>
            <a:ext cx="64008" cy="9601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719072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Hypothesengeleitet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002536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Das Interview testet Annahmen, statt nur offen zu sammeln.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706624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2706624"/>
            <a:ext cx="64008" cy="9601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825496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Pyramid Principle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108960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Jeder Meilenstein-Status nennt die Kernaussage zuerst.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706624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2706624"/>
            <a:ext cx="64008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2825496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Front-loaded 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108960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Projektart &amp; Leitplanken werden vor der Planung geklärt.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3813048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3813048"/>
            <a:ext cx="64008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931920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Orchestrator statt Solo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215384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PMO delegiert; Worker arbeiten parallel — schneller, robuster.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3813048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3813048"/>
            <a:ext cx="64008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5664" y="3931920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Evaluator-Loop mit Limit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4215384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Reviewer prüft max. 3×, dann entscheidest du. Keine Endlosschleife.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4919472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" y="4919472"/>
            <a:ext cx="64008" cy="960120"/>
          </a:xfrm>
          <a:prstGeom prst="rect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038344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End-State-Evaluation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321808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Bewertet wird das Ergebnis je Meilenstein, nicht jeder einzelne Zug.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4919472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9632" y="4919472"/>
            <a:ext cx="64008" cy="960120"/>
          </a:xfrm>
          <a:prstGeom prst="rect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55664" y="5038344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Reversibilität by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5321808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Jede Version bleibt erhalten — neu planen statt überschreiben.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20</a:t>
            </a:r>
          </a:p>
        </p:txBody>
      </p:sp>
      <p:pic>
        <p:nvPicPr>
          <p:cNvPr id="39" name="Picture 38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BEST PRACTICES · ZGPM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ZGPM-Grundlagen: die vier Bausteine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B85"/>
                </a:solidFill>
                <a:latin typeface="Inter"/>
                <a:cs typeface="Inter"/>
              </a:rPr>
              <a:t>ZGPM (ZielGerichtetes Projekt-Management, Methodik nach Glasner et al., PwC) liefert das Vokabular jedes Plans.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194560"/>
            <a:ext cx="51389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194560"/>
            <a:ext cx="5138928" cy="91440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432304"/>
            <a:ext cx="4590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703A"/>
                </a:solidFill>
                <a:latin typeface="Inter"/>
                <a:cs typeface="Inter"/>
              </a:rPr>
              <a:t>Meilenstein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798064"/>
            <a:ext cx="459028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0E1735"/>
                </a:solidFill>
                <a:latin typeface="Inter"/>
                <a:cs typeface="Inter"/>
              </a:rPr>
              <a:t>Ein Zustand, der bis zu einem Termin erreicht sein muss. Sprachform: Verb im Perfekt.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15568" y="3474720"/>
            <a:ext cx="4590288" cy="329184"/>
          </a:xfrm>
          <a:prstGeom prst="roundRect">
            <a:avLst>
              <a:gd name="adj" fmla="val 20000"/>
            </a:avLst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3474720"/>
            <a:ext cx="436168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5B6B85"/>
                </a:solidFill>
                <a:latin typeface="JetBrains Mono"/>
                <a:cs typeface="JetBrains Mono"/>
              </a:rPr>
              <a:t>„Datenschutzkonzept freigegeben“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194560"/>
            <a:ext cx="51389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99632" y="2194560"/>
            <a:ext cx="5138928" cy="914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432304"/>
            <a:ext cx="4590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761"/>
                </a:solidFill>
                <a:latin typeface="Inter"/>
                <a:cs typeface="Inter"/>
              </a:rPr>
              <a:t>Aktivität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798064"/>
            <a:ext cx="459028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0E1735"/>
                </a:solidFill>
                <a:latin typeface="Inter"/>
                <a:cs typeface="Inter"/>
              </a:rPr>
              <a:t>Konkrete Arbeit, die vor dem Meilenstein erledigt sein muss. Mit Aufwand &amp; Verantwortlichen.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73952" y="3474720"/>
            <a:ext cx="4590288" cy="329184"/>
          </a:xfrm>
          <a:prstGeom prst="roundRect">
            <a:avLst>
              <a:gd name="adj" fmla="val 20000"/>
            </a:avLst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3474720"/>
            <a:ext cx="436168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5B6B85"/>
                </a:solidFill>
                <a:latin typeface="JetBrains Mono"/>
                <a:cs typeface="JetBrains Mono"/>
              </a:rPr>
              <a:t>„Quellen anbinden — 3 PT“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114800"/>
            <a:ext cx="51389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4114800"/>
            <a:ext cx="5138928" cy="91440"/>
          </a:xfrm>
          <a:prstGeom prst="roundRect">
            <a:avLst>
              <a:gd name="adj" fmla="val 50000"/>
            </a:avLst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352544"/>
            <a:ext cx="4590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B6B85"/>
                </a:solidFill>
                <a:latin typeface="Inter"/>
                <a:cs typeface="Inter"/>
              </a:rPr>
              <a:t>Ergebnispfad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718304"/>
            <a:ext cx="459028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0E1735"/>
                </a:solidFill>
                <a:latin typeface="Inter"/>
                <a:cs typeface="Inter"/>
              </a:rPr>
              <a:t>Vertikaler Strang gleichartiger Ergebnisse. Klassisch P/S/O.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15568" y="5394960"/>
            <a:ext cx="4590288" cy="329184"/>
          </a:xfrm>
          <a:prstGeom prst="roundRect">
            <a:avLst>
              <a:gd name="adj" fmla="val 20000"/>
            </a:avLst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52728" y="5394960"/>
            <a:ext cx="436168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5B6B85"/>
                </a:solidFill>
                <a:latin typeface="JetBrains Mono"/>
                <a:cs typeface="JetBrains Mono"/>
              </a:rPr>
              <a:t>P = Personen, S = Systeme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4114800"/>
            <a:ext cx="51389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9632" y="4114800"/>
            <a:ext cx="5138928" cy="91440"/>
          </a:xfrm>
          <a:prstGeom prst="roundRect">
            <a:avLst>
              <a:gd name="adj" fmla="val 50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4352544"/>
            <a:ext cx="4590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A9367"/>
                </a:solidFill>
                <a:latin typeface="Inter"/>
                <a:cs typeface="Inter"/>
              </a:rPr>
              <a:t>Phase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718304"/>
            <a:ext cx="459028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0E1735"/>
                </a:solidFill>
                <a:latin typeface="Inter"/>
                <a:cs typeface="Inter"/>
              </a:rPr>
              <a:t>Zeitabschnitt, dem Meilensteine zugeordnet werden. Gibt den Rhythmus.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3952" y="5394960"/>
            <a:ext cx="4590288" cy="329184"/>
          </a:xfrm>
          <a:prstGeom prst="roundRect">
            <a:avLst>
              <a:gd name="adj" fmla="val 20000"/>
            </a:avLst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2" y="5394960"/>
            <a:ext cx="436168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5B6B85"/>
                </a:solidFill>
                <a:latin typeface="JetBrains Mono"/>
                <a:cs typeface="JetBrains Mono"/>
              </a:rPr>
              <a:t>PH1 · PH2 · PH3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21</a:t>
            </a:r>
          </a:p>
        </p:txBody>
      </p:sp>
      <p:pic>
        <p:nvPicPr>
          <p:cNvPr id="32" name="Picture 31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BEST PRACTICES · ZGPM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Verantwortlichkeit (PVM) &amp; Risiko-Ampel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554480"/>
            <a:ext cx="534924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PVM-Codes (RACI-Vorläufer)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194560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85416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JetBrains Mono"/>
                <a:cs typeface="JetBrains Mono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85416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führt aus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633472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24328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JetBrains Mono"/>
                <a:cs typeface="JetBrains Mono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624328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wird beteiligt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072384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063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JetBrains Mono"/>
                <a:cs typeface="JetBrains Mono"/>
              </a:rPr>
              <a:t>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063240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entscheidet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511296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502152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JetBrains Mono"/>
                <a:cs typeface="JetBrains Mono"/>
              </a:rPr>
              <a:t>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502152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entscheidet mit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3950208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941064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JetBrains Mono"/>
                <a:cs typeface="JetBrains Mono"/>
              </a:rPr>
              <a:t>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941064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steuert Fortschritt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389120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379976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JetBrains Mono"/>
                <a:cs typeface="JetBrains Mono"/>
              </a:rPr>
              <a:t>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379976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leitet &amp; steuert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4828032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818888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JetBrains Mono"/>
                <a:cs typeface="JetBrains Mono"/>
              </a:rPr>
              <a:t>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818888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wird informiert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266944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25780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JetBrains Mono"/>
                <a:cs typeface="JetBrains Mono"/>
              </a:rPr>
              <a:t>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5257800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ist verfügbar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554480"/>
            <a:ext cx="4937760" cy="26060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56832" y="173736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ADCFC"/>
                </a:solidFill>
                <a:latin typeface="Inter"/>
                <a:cs typeface="Inter"/>
              </a:rPr>
              <a:t>Harte Konsistenzregeln</a:t>
            </a:r>
          </a:p>
        </p:txBody>
      </p:sp>
      <p:sp>
        <p:nvSpPr>
          <p:cNvPr id="33" name="Oval 32"/>
          <p:cNvSpPr/>
          <p:nvPr/>
        </p:nvSpPr>
        <p:spPr>
          <a:xfrm>
            <a:off x="6675120" y="2185415"/>
            <a:ext cx="109728" cy="10972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21031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Inter"/>
                <a:cs typeface="Inter"/>
              </a:rPr>
              <a:t>Mindestens ein A pro Meilenstein und Aktivität.</a:t>
            </a:r>
          </a:p>
        </p:txBody>
      </p:sp>
      <p:sp>
        <p:nvSpPr>
          <p:cNvPr id="35" name="Oval 34"/>
          <p:cNvSpPr/>
          <p:nvPr/>
        </p:nvSpPr>
        <p:spPr>
          <a:xfrm>
            <a:off x="6675120" y="2587751"/>
            <a:ext cx="109728" cy="10972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250545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Inter"/>
                <a:cs typeface="Inter"/>
              </a:rPr>
              <a:t>Genau ein F oder L — nie mehr.</a:t>
            </a:r>
          </a:p>
        </p:txBody>
      </p:sp>
      <p:sp>
        <p:nvSpPr>
          <p:cNvPr id="37" name="Oval 36"/>
          <p:cNvSpPr/>
          <p:nvPr/>
        </p:nvSpPr>
        <p:spPr>
          <a:xfrm>
            <a:off x="6675120" y="2990087"/>
            <a:ext cx="109728" cy="10972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2907791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Inter"/>
                <a:cs typeface="Inter"/>
              </a:rPr>
              <a:t>Ein „e“ steht nie allein, immer mit einem E.</a:t>
            </a:r>
          </a:p>
        </p:txBody>
      </p:sp>
      <p:sp>
        <p:nvSpPr>
          <p:cNvPr id="39" name="Oval 38"/>
          <p:cNvSpPr/>
          <p:nvPr/>
        </p:nvSpPr>
        <p:spPr>
          <a:xfrm>
            <a:off x="6675120" y="3392423"/>
            <a:ext cx="109728" cy="10972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3310127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Inter"/>
                <a:cs typeface="Inter"/>
              </a:rPr>
              <a:t>E häufiger früh im Projekt als spät.</a:t>
            </a:r>
          </a:p>
        </p:txBody>
      </p:sp>
      <p:sp>
        <p:nvSpPr>
          <p:cNvPr id="41" name="Oval 40"/>
          <p:cNvSpPr/>
          <p:nvPr/>
        </p:nvSpPr>
        <p:spPr>
          <a:xfrm>
            <a:off x="6675120" y="3794759"/>
            <a:ext cx="109728" cy="10972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3712463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Inter"/>
                <a:cs typeface="Inter"/>
              </a:rPr>
              <a:t>E häufiger bei Meilensteinen als bei Aktivitäten.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4297680"/>
            <a:ext cx="4937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56832" y="4462272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1735"/>
                </a:solidFill>
                <a:latin typeface="Inter"/>
                <a:cs typeface="Inter"/>
              </a:rPr>
              <a:t>Risiko-Ampel propagiert nach oben</a:t>
            </a:r>
          </a:p>
        </p:txBody>
      </p:sp>
      <p:sp>
        <p:nvSpPr>
          <p:cNvPr id="45" name="Oval 44"/>
          <p:cNvSpPr/>
          <p:nvPr/>
        </p:nvSpPr>
        <p:spPr>
          <a:xfrm>
            <a:off x="6675120" y="4892040"/>
            <a:ext cx="182880" cy="182880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67728" y="4846320"/>
            <a:ext cx="42062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grün — im Plan</a:t>
            </a:r>
          </a:p>
        </p:txBody>
      </p:sp>
      <p:sp>
        <p:nvSpPr>
          <p:cNvPr id="47" name="Oval 46"/>
          <p:cNvSpPr/>
          <p:nvPr/>
        </p:nvSpPr>
        <p:spPr>
          <a:xfrm>
            <a:off x="6675120" y="5221224"/>
            <a:ext cx="182880" cy="182880"/>
          </a:xfrm>
          <a:prstGeom prst="ellipse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67728" y="5175504"/>
            <a:ext cx="42062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gelb — achtgeben</a:t>
            </a:r>
          </a:p>
        </p:txBody>
      </p:sp>
      <p:sp>
        <p:nvSpPr>
          <p:cNvPr id="49" name="Oval 48"/>
          <p:cNvSpPr/>
          <p:nvPr/>
        </p:nvSpPr>
        <p:spPr>
          <a:xfrm>
            <a:off x="6675120" y="5550407"/>
            <a:ext cx="182880" cy="182880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67728" y="5504688"/>
            <a:ext cx="42062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rot — Lauf stoppt, du gibst frei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22</a:t>
            </a:r>
          </a:p>
        </p:txBody>
      </p:sp>
      <p:pic>
        <p:nvPicPr>
          <p:cNvPr id="53" name="Picture 52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9367"/>
                </a:solidFill>
                <a:latin typeface="Inter"/>
                <a:cs typeface="Inter"/>
              </a:rPr>
              <a:t>BEST PRACTICES · AGENT-HARNESS (ANTHROPIC)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Fünf Prinzipien für gute Agentensysteme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45920"/>
            <a:ext cx="10479024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645920"/>
            <a:ext cx="914400" cy="786384"/>
          </a:xfrm>
          <a:prstGeom prst="roundRect">
            <a:avLst>
              <a:gd name="adj" fmla="val 8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45920"/>
            <a:ext cx="914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773936"/>
            <a:ext cx="9052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Einfachheit vor Raffinesse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066544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So wenig Agenten wie nötig — Komplexität nur, wenn sie sich auszahlt.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505456"/>
            <a:ext cx="10479024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2505456"/>
            <a:ext cx="914400" cy="786384"/>
          </a:xfrm>
          <a:prstGeom prst="roundRect">
            <a:avLst>
              <a:gd name="adj" fmla="val 8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05456"/>
            <a:ext cx="914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633472"/>
            <a:ext cx="9052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Transparenz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926080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Der geplante Denkweg der Agenten ist sichtbar, nicht versteckt.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364992"/>
            <a:ext cx="10479024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3364992"/>
            <a:ext cx="914400" cy="786384"/>
          </a:xfrm>
          <a:prstGeom prst="roundRect">
            <a:avLst>
              <a:gd name="adj" fmla="val 8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364992"/>
            <a:ext cx="914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P3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3493008"/>
            <a:ext cx="9052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Agent-Computer-Interface zuerst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785616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Werkzeuge so gestalten, dass Agenten sie eindeutig nutzen können.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224528"/>
            <a:ext cx="10479024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4224528"/>
            <a:ext cx="914400" cy="786384"/>
          </a:xfrm>
          <a:prstGeom prst="roundRect">
            <a:avLst>
              <a:gd name="adj" fmla="val 8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224528"/>
            <a:ext cx="914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P4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4352544"/>
            <a:ext cx="9052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Kontext teilen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4645152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Volle Verläufe weitergeben, nicht nur einzelne Nachrichten.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5084064"/>
            <a:ext cx="10479024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" y="5084064"/>
            <a:ext cx="914400" cy="786384"/>
          </a:xfrm>
          <a:prstGeom prst="roundRect">
            <a:avLst>
              <a:gd name="adj" fmla="val 8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084064"/>
            <a:ext cx="914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P5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5212080"/>
            <a:ext cx="9052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Handlungen tragen Entscheidungen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5504688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Jede Aktion eines Agenten ist implizit eine Entscheidung — Konflikte vermeiden.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23</a:t>
            </a:r>
          </a:p>
        </p:txBody>
      </p:sp>
      <p:pic>
        <p:nvPicPr>
          <p:cNvPr id="32" name="Picture 31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9367"/>
                </a:solidFill>
                <a:latin typeface="Inter"/>
                <a:cs typeface="Inter"/>
              </a:rPr>
              <a:t>BEST PRACTICES · AGENT-HARNESS (ANTHROPIC)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Pflicht-Muster in jedem Harness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45920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2416" y="1920240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920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91056" y="1792224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Orchestrator-Worker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1056" y="2084832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Lead zerlegt &amp; delegiert mit klarem Auftrag und Output-Schema.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45920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1920240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792224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Evaluator-Optimizer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084832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Reviewer prüft gegen Regeln; max 3 Runden, dann HITL.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2779776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2416" y="3054096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30540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926080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Parallel-Tool-Calling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1056" y="3218688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Unabhängige Werkzeuge laufen gleichzeitig — bis zu 90% Zeit gespart.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2779776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3054096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0540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926080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Filesystem-Artifact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218688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Große Ergebnisse in Dateien, nur Referenz zurückgeben.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3913632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2416" y="4187952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418795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91056" y="4059936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Checkpoint &amp; Resume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91056" y="4352544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Zustand nach jedem Knoten sichern; nach Absturz fortsetzen.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913632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0" y="4187952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18795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059936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Sectioning der Guardrails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352544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Leitplanken als eigener Prüf-Aufruf, nicht im Worker-Prompt.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" y="5047488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2416" y="5321807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6" y="5321807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91056" y="5193792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HITL an festen Punkten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91056" y="5486400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Meilenstein, rotes Risiko, neue Skill, Budget-Überschreitung.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99632" y="5047488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5321807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5321807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193792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End-State-Evaluation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486400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Endzustand je Meilenstein bewerten — nicht jeden Zwischenschritt.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24</a:t>
            </a:r>
          </a:p>
        </p:txBody>
      </p:sp>
      <p:pic>
        <p:nvPicPr>
          <p:cNvPr id="47" name="Picture 46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3423F"/>
                </a:solidFill>
                <a:latin typeface="Inter"/>
                <a:cs typeface="Inter"/>
              </a:rPr>
              <a:t>BEST PRACTICES · AGENT-HARNESS (ANTHROPIC)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Anti-Muster, die der Reviewer hart flaggt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45920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2416" y="1865376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8653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737360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Vage Delegation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029968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„Recherchiere X“ ohne Ziel, Schema und Grenzen.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45920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1865376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653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4576" y="1737360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Über-Spawning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4576" y="2029968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50 Subagenten für eine einfache Anfrage.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2542032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2416" y="2761488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27614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2633472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Routing im 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2926080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Steuerlogik gehört in Code, nicht in den Prompt.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2542032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2761488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7614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2633472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Eine LLM-Antwort für alles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926080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Guardrail und Inhalt im selben Aufruf vermischt.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3438144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2416" y="3657600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365760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36192" y="3529584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Kein Checkpoint/Retry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6192" y="3822191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Kein Wiederaufsetzen nach Fehlern.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438144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0" y="3657600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65760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3529584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Sequenziell statt parallel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94576" y="3822191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Werkzeuge nacheinander, obwohl parallel möglich.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" y="4334256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2416" y="4553712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6" y="455371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" y="4425696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Endlosschleifen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4718304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Keine Stop-Bedingung, kein Iterations-Limit.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99632" y="4334256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4553712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55371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94576" y="4425696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Skills triggern zu breit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94576" y="4718304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Fähigkeiten greifen, wo sie nicht sollen.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1248" y="5230368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42416" y="5449824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2416" y="54498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36192" y="5321807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Relative Pfade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36192" y="5614416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In zustandsbehafteten Agenten brechen sie.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99632" y="5230368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400800" y="5449824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54498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94576" y="5321807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Token-Budget ohne Prüfung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94576" y="5614416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Budgets, die nie validiert werden.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25</a:t>
            </a:r>
          </a:p>
        </p:txBody>
      </p:sp>
      <p:pic>
        <p:nvPicPr>
          <p:cNvPr id="57" name="Picture 56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REFERENZ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Glossar — ZGPM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554480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554480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645920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Meilenstein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901952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Erreichter Zustand zu einem Termin (Verb im Perfekt).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554480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554480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645920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Aktivität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1901952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Arbeit, die vor dem Meilenstein erledigt sein muss.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542032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2542032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633472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Ergebnispfad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889504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Strang gleichartiger Ergebnisse (z. B. P/S/O).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542032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2542032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2633472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Phase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889504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Zeitabschnitt, der Meilensteine bündelt.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3529584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3529584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3621024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MSP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3877056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Meilensteinplan — Phasen, Pfade, Ampel auf einen Blick.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3529584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3529584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3621024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PVM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3877056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Projektverantwortlichkeitsmatrix (RACI-Vorläufer).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4517136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" y="4517136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4608576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PRL / MRL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864608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Projekt- bzw. Meilenstein-Risikoliste.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4517136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9632" y="4517136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6" y="4608576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Ampel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7376" y="4864608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Risiko-Status grün/gelb/rot, propagiert nach oben.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26</a:t>
            </a:r>
          </a:p>
        </p:txBody>
      </p:sp>
      <p:pic>
        <p:nvPicPr>
          <p:cNvPr id="39" name="Picture 38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REFERENZ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Glossar — Agentik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554480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554480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645920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901952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Digitaler Mitarbeiter mit Rolle, Auftrag und Werkzeugen.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554480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554480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645920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Subagent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1901952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Agent mit isoliertem Kontext für abgegrenzte Arbeit.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542032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2542032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633472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Skill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889504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Wiederverwendbares Wissen/Werkzeug als SKILL.md.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542032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2542032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2633472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Hook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889504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Deterministische Regel (z. B. Stopp bei rotem Risiko).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3529584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3529584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3621024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Orchestrator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3877056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Lead-Agent, der zerlegt und delegiert (hier: PMO).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3529584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3529584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3621024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HITL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3877056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Human-in-the-Loop — du als Freigabe-Instanz.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4517136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" y="4517136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4608576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Harness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864608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Portables Paket aus CLAUDE.md, Skills, Agenten, Plan.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4517136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9632" y="4517136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6" y="4608576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Cowork / Claude 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7376" y="4864608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Umgebung, in der das Harness läuft.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27</a:t>
            </a:r>
          </a:p>
        </p:txBody>
      </p:sp>
      <p:pic>
        <p:nvPicPr>
          <p:cNvPr id="39" name="Picture 38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703A"/>
                </a:solidFill>
                <a:latin typeface="Inter"/>
                <a:cs typeface="Inter"/>
              </a:rPr>
              <a:t>REFERENZ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Schnellreferenz: der ganze Weg auf einer Seite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554480"/>
            <a:ext cx="640080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Die neun Schritte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148840"/>
            <a:ext cx="310896" cy="310896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130552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Projekt in eigenen Worten beschreiben.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546604"/>
            <a:ext cx="310896" cy="310896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466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528316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Schärfungs-Interview beantworten (McK).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2944368"/>
            <a:ext cx="310896" cy="310896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94436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926080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Verständnis &amp; Agentenstruktur freigeben.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334213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3421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323844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Projekte verwalten — speichern, kopieren, löschen.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73989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" y="3721608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Leitplanken kennen — was geht, was nicht.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4137659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137659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4119372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ZGPM-Plan lesen: Gantt, RACI, Risiko, Token.</a:t>
            </a:r>
          </a:p>
        </p:txBody>
      </p:sp>
      <p:sp>
        <p:nvSpPr>
          <p:cNvPr id="25" name="Oval 24"/>
          <p:cNvSpPr/>
          <p:nvPr/>
        </p:nvSpPr>
        <p:spPr>
          <a:xfrm>
            <a:off x="1097280" y="4535423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53542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17136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Am Bildschirm anpassen — Text &amp; Sprache.</a:t>
            </a:r>
          </a:p>
        </p:txBody>
      </p:sp>
      <p:sp>
        <p:nvSpPr>
          <p:cNvPr id="28" name="Oval 27"/>
          <p:cNvSpPr/>
          <p:nvPr/>
        </p:nvSpPr>
        <p:spPr>
          <a:xfrm>
            <a:off x="1097280" y="4933187"/>
            <a:ext cx="310896" cy="310896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933187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4914899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Harness mitgestalten — Artefakte &amp; Kommandos.</a:t>
            </a:r>
          </a:p>
        </p:txBody>
      </p:sp>
      <p:sp>
        <p:nvSpPr>
          <p:cNvPr id="31" name="Oval 30"/>
          <p:cNvSpPr/>
          <p:nvPr/>
        </p:nvSpPr>
        <p:spPr>
          <a:xfrm>
            <a:off x="1097280" y="5330951"/>
            <a:ext cx="310896" cy="310896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330951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36192" y="5312663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Als Zip exportieren → Claude Cowork / Code.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06640" y="1554480"/>
            <a:ext cx="3931920" cy="21488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62672" y="1719072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CADCFC"/>
                </a:solidFill>
                <a:latin typeface="Inter"/>
                <a:cs typeface="Inter"/>
              </a:rPr>
              <a:t>Deine 3 Kontrollpunkte</a:t>
            </a:r>
          </a:p>
        </p:txBody>
      </p:sp>
      <p:sp>
        <p:nvSpPr>
          <p:cNvPr id="36" name="Oval 35"/>
          <p:cNvSpPr/>
          <p:nvPr/>
        </p:nvSpPr>
        <p:spPr>
          <a:xfrm>
            <a:off x="7662672" y="2148840"/>
            <a:ext cx="310896" cy="310896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62672" y="21488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1735"/>
                </a:solidFill>
                <a:latin typeface="Inter"/>
                <a:cs typeface="Inter"/>
              </a:rPr>
              <a:t>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212140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Inter"/>
                <a:cs typeface="Inter"/>
              </a:rPr>
              <a:t>Meilenstein-Freigabe</a:t>
            </a:r>
          </a:p>
        </p:txBody>
      </p:sp>
      <p:sp>
        <p:nvSpPr>
          <p:cNvPr id="39" name="Oval 38"/>
          <p:cNvSpPr/>
          <p:nvPr/>
        </p:nvSpPr>
        <p:spPr>
          <a:xfrm>
            <a:off x="7662672" y="2624328"/>
            <a:ext cx="310896" cy="310896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62672" y="26243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1735"/>
                </a:solidFill>
                <a:latin typeface="Inter"/>
                <a:cs typeface="Inter"/>
              </a:rPr>
              <a:t>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83296" y="2596896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Inter"/>
                <a:cs typeface="Inter"/>
              </a:rPr>
              <a:t>Rote Risiko-Ampel</a:t>
            </a:r>
          </a:p>
        </p:txBody>
      </p:sp>
      <p:sp>
        <p:nvSpPr>
          <p:cNvPr id="42" name="Oval 41"/>
          <p:cNvSpPr/>
          <p:nvPr/>
        </p:nvSpPr>
        <p:spPr>
          <a:xfrm>
            <a:off x="7662672" y="3099816"/>
            <a:ext cx="310896" cy="310896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62672" y="3099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1735"/>
                </a:solidFill>
                <a:latin typeface="Inter"/>
                <a:cs typeface="Inter"/>
              </a:rPr>
              <a:t>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83296" y="3072384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Inter"/>
                <a:cs typeface="Inter"/>
              </a:rPr>
              <a:t>Skill-Aufnahme ins Harness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06640" y="3886200"/>
            <a:ext cx="39319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4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62672" y="4041648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C3423F"/>
                </a:solidFill>
                <a:latin typeface="Inter"/>
                <a:cs typeface="Inter"/>
              </a:rPr>
              <a:t>Was nie geht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99248" y="440740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3423F"/>
                </a:solidFill>
                <a:latin typeface="Inter"/>
                <a:cs typeface="Inter"/>
              </a:rPr>
              <a:t>✕  </a:t>
            </a: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Waffen &amp; Dual-Use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9248" y="4690872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3423F"/>
                </a:solidFill>
                <a:latin typeface="Inter"/>
                <a:cs typeface="Inter"/>
              </a:rPr>
              <a:t>✕  </a:t>
            </a: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Bio/Chemie/Nuklear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99248" y="4974336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3423F"/>
                </a:solidFill>
                <a:latin typeface="Inter"/>
                <a:cs typeface="Inter"/>
              </a:rPr>
              <a:t>✕  </a:t>
            </a: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Diskriminierung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99248" y="525780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3423F"/>
                </a:solidFill>
                <a:latin typeface="Inter"/>
                <a:cs typeface="Inter"/>
              </a:rPr>
              <a:t>✕  </a:t>
            </a: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Malware &amp; Exploits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99248" y="5541264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3423F"/>
                </a:solidFill>
                <a:latin typeface="Inter"/>
                <a:cs typeface="Inter"/>
              </a:rPr>
              <a:t>✕  </a:t>
            </a: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EU-AI-Act-Verbote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28</a:t>
            </a:r>
          </a:p>
        </p:txBody>
      </p:sp>
      <p:pic>
        <p:nvPicPr>
          <p:cNvPr id="54" name="Picture 53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egira-lockup-white-transparent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58368"/>
            <a:ext cx="2617740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205740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Inter"/>
                <a:cs typeface="Inter"/>
              </a:rPr>
              <a:t>Du startest mit Worten.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CADCFC"/>
                </a:solidFill>
                <a:latin typeface="Inter"/>
                <a:cs typeface="Inter"/>
              </a:rPr>
              <a:t>Du endest mit einem lauffähigen Agententeam.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114800"/>
            <a:ext cx="822960" cy="457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443484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162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4645152"/>
            <a:ext cx="384048" cy="38404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464515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4645152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cs typeface="Inter"/>
              </a:rPr>
              <a:t>Beschreiben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513892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CADCFC"/>
                </a:solidFill>
                <a:latin typeface="Inter"/>
                <a:cs typeface="Inter"/>
              </a:rPr>
              <a:t>Öffne den Planner und beschreibe dein Projekt.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443484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162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09160" y="4645152"/>
            <a:ext cx="384048" cy="38404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464515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4645152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cs typeface="Inter"/>
              </a:rPr>
              <a:t>Freigeben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513892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CADCFC"/>
                </a:solidFill>
                <a:latin typeface="Inter"/>
                <a:cs typeface="Inter"/>
              </a:rPr>
              <a:t>Schärfe das Verständnis und gib es frei.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443484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162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2752" y="4645152"/>
            <a:ext cx="384048" cy="384048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464515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392" y="4645152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cs typeface="Inter"/>
              </a:rPr>
              <a:t>Bauen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513892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CADCFC"/>
                </a:solidFill>
                <a:latin typeface="Inter"/>
                <a:cs typeface="Inter"/>
              </a:rPr>
              <a:t>Lass den Harness bauen und exportiere ihn.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627278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A93A6"/>
                </a:solidFill>
                <a:latin typeface="Inter"/>
                <a:cs typeface="Inter"/>
              </a:rPr>
              <a:t>exmachinAI · AEGIRA AI Trust Platform · zgpm.aegira.ai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PHASE PLANEN · SCHRITT 2A · CLOUD-QUELLE</a:t>
            </a:r>
          </a:p>
          <a:p>
            <a:pPr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Inter"/>
              </a:rPr>
              <a:t>Dropbox verbinden — Schritt für Schritt (1 /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766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00" b="0">
                <a:solidFill>
                  <a:srgbClr val="5B6B85"/>
                </a:solidFill>
                <a:latin typeface="Inter"/>
              </a:rPr>
              <a:t>Ziel: einen Dropbox-Ordner als Quelle anbinden. Einmalige Einrichtung — danach genügt der Ordnerpfad. Für Anwender mit etwas technischem Mut.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Inter"/>
              </a:rPr>
              <a:t>App anlegen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2B33D"/>
                </a:solidFill>
                <a:latin typeface="Inter"/>
              </a:rPr>
              <a:t>1  </a:t>
            </a:r>
            <a:r>
              <a:rPr sz="1250" b="0">
                <a:solidFill>
                  <a:srgbClr val="0E1735"/>
                </a:solidFill>
                <a:latin typeface="Inter"/>
              </a:rPr>
              <a:t>Auf dropbox.com/developers → App Console öffnen, „Create app“ klicken.</a:t>
            </a:r>
          </a:p>
          <a:p>
            <a:pPr>
              <a:spcAft>
                <a:spcPts val="1200"/>
              </a:spcAft>
            </a:pPr>
            <a:r>
              <a:rPr b="1" sz="1250">
                <a:solidFill>
                  <a:srgbClr val="F2B33D"/>
                </a:solidFill>
                <a:latin typeface="Inter"/>
              </a:rPr>
              <a:t>2  </a:t>
            </a:r>
            <a:r>
              <a:rPr sz="1250" b="0">
                <a:solidFill>
                  <a:srgbClr val="0E1735"/>
                </a:solidFill>
                <a:latin typeface="Inter"/>
              </a:rPr>
              <a:t>„Scoped access“ wählen · Zugriff „Full Dropbox“ (oder „App folder“) · App benennen.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Inter"/>
              </a:rPr>
              <a:t>Berechtigungen &amp; Schlüssel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2B33D"/>
                </a:solidFill>
                <a:latin typeface="Inter"/>
              </a:rPr>
              <a:t>3  </a:t>
            </a:r>
            <a:r>
              <a:rPr sz="1250" b="0">
                <a:solidFill>
                  <a:srgbClr val="0E1735"/>
                </a:solidFill>
                <a:latin typeface="Inter"/>
              </a:rPr>
              <a:t>Reiter „Permissions“: files.metadata.read und files.content.read aktivieren → „Submit“.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2B33D"/>
                </a:solidFill>
                <a:latin typeface="Inter"/>
              </a:rPr>
              <a:t>4  </a:t>
            </a:r>
            <a:r>
              <a:rPr sz="1250" b="0">
                <a:solidFill>
                  <a:srgbClr val="0E1735"/>
                </a:solidFill>
                <a:latin typeface="Inter"/>
              </a:rPr>
              <a:t>Reiter „Settings“: „App key“ und „App secret“ notieren — das sind DROPBOX_APP_KEY und DROPBOX_APP_SECRET.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16368" y="1344168"/>
            <a:ext cx="4352544" cy="288950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t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6" y="1417320"/>
            <a:ext cx="3950208" cy="2743200"/>
          </a:xfrm>
          <a:prstGeom prst="rect">
            <a:avLst/>
          </a:prstGeom>
          <a:ln w="9525">
            <a:solidFill>
              <a:srgbClr val="D5D9E2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7589520" y="4572000"/>
            <a:ext cx="4206240" cy="82296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F2B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E8703A"/>
                </a:solidFill>
                <a:latin typeface="Inter"/>
              </a:rPr>
              <a:t>TRUST-HINWEIS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0E1735"/>
                </a:solidFill>
                <a:latin typeface="Inter"/>
              </a:rPr>
              <a:t>Ohne gesetzte Secrets bleibt der Connector ehrlich blockiert (kein Fake-Connect). SharePoint/OneDrive/Azure Blob sind bewusst noch gesperrt.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PHASE PLANEN · SCHRITT 2A · CLOUD-QUELLE</a:t>
            </a:r>
          </a:p>
          <a:p>
            <a:pPr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Inter"/>
              </a:rPr>
              <a:t>Dropbox verbinden — Schritt für Schritt (2 /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Inter"/>
              </a:rPr>
              <a:t>Refresh-Token erzeugen (einmalig)</a:t>
            </a:r>
          </a:p>
          <a:p>
            <a:pPr>
              <a:spcAft>
                <a:spcPts val="400"/>
              </a:spcAft>
            </a:pPr>
            <a:r>
              <a:rPr b="1" sz="1250">
                <a:solidFill>
                  <a:srgbClr val="F2B33D"/>
                </a:solidFill>
                <a:latin typeface="Inter"/>
              </a:rPr>
              <a:t>5  </a:t>
            </a:r>
            <a:r>
              <a:rPr sz="1250" b="0">
                <a:solidFill>
                  <a:srgbClr val="0E1735"/>
                </a:solidFill>
                <a:latin typeface="Inter"/>
              </a:rPr>
              <a:t>Diese URL im Browser öffnen (APP_KEY einsetzen), Zugriff erlauben, den angezeigten Code kopieren: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514600"/>
            <a:ext cx="10607040" cy="475488"/>
          </a:xfrm>
          <a:prstGeom prst="roundRect">
            <a:avLst/>
          </a:prstGeom>
          <a:solidFill>
            <a:srgbClr val="0E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CFD6E6"/>
                </a:solidFill>
                <a:latin typeface="Consolas"/>
              </a:rPr>
              <a:t>https://www.dropbox.com/oauth2/authorize?client_id=APP_KEY&amp;response_type=code&amp;token_access_type=offline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272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250">
                <a:solidFill>
                  <a:srgbClr val="F2B33D"/>
                </a:solidFill>
                <a:latin typeface="Inter"/>
              </a:rPr>
              <a:t>6  </a:t>
            </a:r>
            <a:r>
              <a:rPr sz="1250" b="0">
                <a:solidFill>
                  <a:srgbClr val="0E1735"/>
                </a:solidFill>
                <a:latin typeface="Inter"/>
              </a:rPr>
              <a:t>Code gegen den Refresh-Token tauschen (Terminal) — Feld „refresh_token“ = DROPBOX_REFRESH_TOKEN: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858768"/>
            <a:ext cx="10607040" cy="1060704"/>
          </a:xfrm>
          <a:prstGeom prst="roundRect">
            <a:avLst/>
          </a:prstGeom>
          <a:solidFill>
            <a:srgbClr val="0E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CFD6E6"/>
                </a:solidFill>
                <a:latin typeface="Consolas"/>
              </a:rPr>
              <a:t>curl https://api.dropbox.com/oauth2/token \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FD6E6"/>
                </a:solidFill>
                <a:latin typeface="Consolas"/>
              </a:rPr>
              <a:t>  -d code=CODE -d grant_type=authorization_code \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FD6E6"/>
                </a:solidFill>
                <a:latin typeface="Consolas"/>
              </a:rPr>
              <a:t>  -u APP_KEY:APP_SECRET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02352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Inter"/>
              </a:rPr>
              <a:t>In Betrieb nehmen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2B33D"/>
                </a:solidFill>
                <a:latin typeface="Inter"/>
              </a:rPr>
              <a:t>7  </a:t>
            </a:r>
            <a:r>
              <a:rPr sz="1250" b="0">
                <a:solidFill>
                  <a:srgbClr val="0E1735"/>
                </a:solidFill>
                <a:latin typeface="Inter"/>
              </a:rPr>
              <a:t>DROPBOX_APP_KEY / _SECRET / _REFRESH_TOKEN in .env eintragen (niemals echte Secrets ins Repo).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2B33D"/>
                </a:solidFill>
                <a:latin typeface="Inter"/>
              </a:rPr>
              <a:t>8  </a:t>
            </a:r>
            <a:r>
              <a:rPr sz="1250" b="0">
                <a:solidFill>
                  <a:srgbClr val="0E1735"/>
                </a:solidFill>
                <a:latin typeface="Inter"/>
              </a:rPr>
              <a:t>Im Planner (Schritt 2 · Cloud-Quelle) zeigt Dropbox „bereit“ → Ordnerpfad eingeben → „Ordner einlesen“. Inhalte werden ephemer verarbeitet; nur Name + Hash bleiben (Gate-1-Freeze).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