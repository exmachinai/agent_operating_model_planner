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9308592" y="1536192"/>
            <a:ext cx="1463040" cy="6400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9308592" y="1536192"/>
            <a:ext cx="640080" cy="17373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771632" y="2176272"/>
            <a:ext cx="548640" cy="155448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48672" y="3273552"/>
            <a:ext cx="1371600" cy="45720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9491472" y="3273552"/>
            <a:ext cx="457200" cy="146304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10863072" y="3730752"/>
            <a:ext cx="457200" cy="128016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491472" y="4736592"/>
            <a:ext cx="1371600" cy="274320"/>
          </a:xfrm>
          <a:prstGeom prst="bentConnector3">
            <a:avLst/>
          </a:prstGeom>
          <a:ln w="15875">
            <a:solidFill>
              <a:srgbClr val="2A35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144000" y="13716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07040" y="201168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0" y="3108960"/>
            <a:ext cx="329184" cy="3291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356616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326880" y="457200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698480" y="4846320"/>
            <a:ext cx="329184" cy="329184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76656"/>
            <a:ext cx="2718423" cy="4937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8680" y="133502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AI TRUST PLATFORM · exmachinAI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78892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CADCFC"/>
                </a:solidFill>
                <a:latin typeface="Inter"/>
                <a:cs typeface="Inter"/>
              </a:rPr>
              <a:t>Agent Operating Model 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8778240" cy="155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400"/>
              </a:spcAft>
            </a:pPr>
            <a:r>
              <a:rPr sz="6600" b="1" i="0">
                <a:solidFill>
                  <a:srgbClr val="FFFFFF"/>
                </a:solidFill>
                <a:latin typeface="Inter"/>
                <a:cs typeface="Inter"/>
              </a:rPr>
              <a:t>User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526280"/>
            <a:ext cx="813816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Von der Projektidee zum lauffähigen Agententeam — Planung → Prototyp → Product.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370832"/>
            <a:ext cx="822960" cy="4572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8A93A6"/>
                </a:solidFill>
                <a:latin typeface="Inter"/>
                <a:cs typeface="Inter"/>
              </a:rPr>
              <a:t>Für Anwender ohne Programmiererfahrung  ·  ZGPM-konform  ·  Stand 06/2026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Wie du diesen Guide liest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Dieser Guide richtet sich an Anwender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ohne Programmiererfahrung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. Jeder der neun Schritte folgt demselben Aufbau — sobald du das Muster einmal kennst, findest du dich überall sofort zurecht.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77440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377440"/>
            <a:ext cx="68580" cy="786384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87168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34056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in diesem Schritt erreicht wird.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3310128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3310128"/>
            <a:ext cx="68580" cy="7863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666744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Was du tust — meist nur lesen, klicken, bestätigen.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4242816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" y="4242816"/>
            <a:ext cx="68580" cy="786384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352544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599432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Welche Agenten im Hintergrund für dich arbeiten.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5175504"/>
            <a:ext cx="5486400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" y="5175504"/>
            <a:ext cx="68580" cy="786384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285232"/>
            <a:ext cx="5074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532120"/>
            <a:ext cx="504748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Wo du entscheidest. Nichts geht ohne deine Freigabe weiter.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377440"/>
            <a:ext cx="46177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5160" y="254203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Zwei wiederkehrende Elemente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95160" y="3017520"/>
            <a:ext cx="4069080" cy="13258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995160" y="3017520"/>
            <a:ext cx="4069080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95160" y="3200400"/>
            <a:ext cx="4069080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59752" y="315010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42631" y="315010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525512" y="315010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63840" y="3108960"/>
            <a:ext cx="260604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80" y="3086100"/>
            <a:ext cx="251460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356616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78040" y="3886200"/>
            <a:ext cx="347472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178040" y="4114800"/>
            <a:ext cx="3108960" cy="146304"/>
          </a:xfrm>
          <a:prstGeom prst="roundRect">
            <a:avLst>
              <a:gd name="adj" fmla="val 50000"/>
            </a:avLst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692640" y="354787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92640" y="3543300"/>
            <a:ext cx="114300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34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645152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Skizze des echten Bildschirms zu jedem Schritt.</a:t>
            </a:r>
          </a:p>
        </p:txBody>
      </p:sp>
      <p:sp>
        <p:nvSpPr>
          <p:cNvPr id="39" name="Oval 38"/>
          <p:cNvSpPr/>
          <p:nvPr/>
        </p:nvSpPr>
        <p:spPr>
          <a:xfrm>
            <a:off x="709117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65492" y="517550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89520" y="5175504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914131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18845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6277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709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01141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85732" y="5175504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95160" y="534009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B6B85"/>
                </a:solidFill>
                <a:latin typeface="Inter"/>
                <a:cs typeface="Inter"/>
              </a:rPr>
              <a:t>Die Punkte unten zeigen, wo im 9-Schritt-Weg du gerade bist.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ORIENTIERUNG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du nach diesem Guide kannst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5568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5648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Projekt in eigenen Worten beschreiben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5648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und vom System methodisch schärfen lassen.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16002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547104" y="20345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47104" y="20345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87184" y="1892807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präzises Projektverständnis freigeben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87184" y="23865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inkl. der dafür nötigen Agentenstruktur.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15568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5648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Einen ZGPM-Plan lesen und anpassen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Meilensteine, RACI, Risiken, Zeit, Kosten.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32004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47104" y="3634739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47104" y="363473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7184" y="34930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Leitplanken verstehen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39867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was erlaubt ist — und was das System verweigert.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5568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55648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Den Agenten-Harness mitgestalten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55648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Artefakte editieren, Struktur per Kommando verbessern.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72784" y="4800600"/>
            <a:ext cx="5138928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547104" y="5234940"/>
            <a:ext cx="457200" cy="457200"/>
          </a:xfrm>
          <a:prstGeom prst="ellipse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47104" y="523494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87184" y="5093208"/>
            <a:ext cx="39959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 lauffähiges Paket exportieren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87184" y="5586984"/>
            <a:ext cx="3995928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als Zip mit Setup für Claude Cowork &amp; Claude Code.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3</a:t>
            </a:r>
          </a:p>
        </p:txBody>
      </p:sp>
      <p:pic>
        <p:nvPicPr>
          <p:cNvPr id="37" name="Picture 3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DAS PRODUKT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Was ist der AEGIRA Planner?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10497312" cy="10515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664208"/>
            <a:ext cx="9875520" cy="86868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Ein </a:t>
            </a:r>
            <a:r>
              <a:rPr sz="1700" b="1" i="0">
                <a:solidFill>
                  <a:srgbClr val="FFFFFF"/>
                </a:solidFill>
                <a:latin typeface="Inter"/>
                <a:cs typeface="Inter"/>
              </a:rPr>
              <a:t>Project-to-Agent-Compiler</a:t>
            </a:r>
            <a:r>
              <a:rPr sz="1700" b="0" i="0">
                <a:solidFill>
                  <a:srgbClr val="CADCFC"/>
                </a:solidFill>
                <a:latin typeface="Inter"/>
                <a:cs typeface="Inter"/>
              </a:rPr>
              <a:t>: Aus deiner Projektidee entsteht über methodisch saubere Stufen ein vollständiger Bauplan — und daraus ein lauffähiges Agentensystem.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E2761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Projektauftrag wird zum ZGPM-Plan:
Meilensteine, Rollen, Risiken.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96511" y="3840480"/>
            <a:ext cx="329185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89704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9704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B6B8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Der Plan wird zu einem Paket aus
CLAUDE.md, Skills und Agenten.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44968" y="3840480"/>
            <a:ext cx="329184" cy="0"/>
          </a:xfrm>
          <a:prstGeom prst="bentConnector3">
            <a:avLst/>
          </a:prstGeom>
          <a:ln w="31750">
            <a:solidFill>
              <a:srgbClr val="E870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138160" y="3063240"/>
            <a:ext cx="32004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38160" y="3063240"/>
            <a:ext cx="3200400" cy="109728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335584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5A9367"/>
                </a:solidFill>
                <a:latin typeface="Inter"/>
                <a:cs typeface="Inter"/>
              </a:rPr>
              <a:t>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3776472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0E1735"/>
                </a:solidFill>
                <a:latin typeface="Inter"/>
                <a:cs typeface="Inter"/>
              </a:rPr>
              <a:t>Das Paket läuft auf deinem Rechner
in Claude Code / Cowork.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4892040"/>
            <a:ext cx="10497312" cy="123444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201168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E2761"/>
                </a:solidFill>
                <a:latin typeface="Inter"/>
                <a:cs typeface="Inter"/>
              </a:rPr>
              <a:t>Warum?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5029200"/>
            <a:ext cx="8229600" cy="10058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0E1735"/>
                </a:solidFill>
                <a:latin typeface="Inter"/>
                <a:cs typeface="Inter"/>
              </a:rPr>
              <a:t>Wer heute Agenten baut, startet technisch — Prompt, Tool, Workflow. Was fehlt, ist die organisatorische Vorarbeit: Plan, Rollen, RACI, Governance. Solo-Builder haben kein Projektteam. Der Planner liefert genau diese organisatorische Intelligenz.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4</a:t>
            </a:r>
          </a:p>
        </p:txBody>
      </p:sp>
      <p:pic>
        <p:nvPicPr>
          <p:cNvPr id="26" name="Picture 2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DAS MENTALE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Agenten sind digitale Mitarbeiter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Wenn Agenten wie Mitarbeiter arbeiten, brauchen sie, was jedes gute Team braucht: Rollen, Verantwortlichkeiten, Fähigkeiten und Governance. Genau dort setzt der Planner 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5B6B85"/>
                </a:solidFill>
                <a:latin typeface="Inter"/>
                <a:cs typeface="Inter"/>
              </a:rPr>
              <a:t>Üblicher Start: technisch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97180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67228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5584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685032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68046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Tool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690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A93A6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4398264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ECEF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93692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5B6B85"/>
                </a:solidFill>
                <a:latin typeface="Inter"/>
                <a:cs typeface="Inter"/>
              </a:rPr>
              <a:t>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1208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8A93A6"/>
                </a:solidFill>
                <a:latin typeface="Inter"/>
                <a:cs typeface="Inter"/>
              </a:rPr>
              <a:t>Ergebnis: technisch lauffähig, aber ohne organisatorische Klarheit.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24028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423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ADCFC"/>
                </a:solidFill>
                <a:latin typeface="Inter"/>
                <a:cs typeface="Inter"/>
              </a:rPr>
              <a:t>AEGIRA-Start: organisatorisch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73952" y="2907792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3952" y="2903220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Projektplan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64408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73952" y="34747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73952" y="347014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Rollenmodell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3133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4041648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037076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Skill-Matrix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398264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4608576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3952" y="4604004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RACI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4965192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CADCFC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73952" y="5175504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170932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Agentenstruktur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2907792"/>
            <a:ext cx="1737360" cy="2743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CADCFC"/>
                </a:solidFill>
                <a:latin typeface="Inter"/>
                <a:cs typeface="Inter"/>
              </a:rPr>
              <a:t>Aus dem
Plan wird
die Technik
abgeleitet —
nicht
umgekehrt.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5</a:t>
            </a:r>
          </a:p>
        </p:txBody>
      </p:sp>
      <p:pic>
        <p:nvPicPr>
          <p:cNvPr id="36" name="Picture 35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DER WEG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Die Reise auf einen Blick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017520" cy="457200"/>
          </a:xfrm>
          <a:prstGeom prst="roundRect">
            <a:avLst>
              <a:gd name="adj" fmla="val 18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30175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42416" y="2660904"/>
            <a:ext cx="493776" cy="49377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01952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03120" y="2660904"/>
            <a:ext cx="493776" cy="49377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62656" y="2441448"/>
            <a:ext cx="896112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63824" y="2660904"/>
            <a:ext cx="493776" cy="49377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6382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80944" y="3401568"/>
            <a:ext cx="859536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9663" y="1783080"/>
            <a:ext cx="4389120" cy="457200"/>
          </a:xfrm>
          <a:prstGeom prst="roundRect">
            <a:avLst>
              <a:gd name="adj" fmla="val 1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9663" y="1783080"/>
            <a:ext cx="438912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69663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09694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0969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87951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8092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548121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48121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26379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46520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686550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8655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4948" y="2441448"/>
            <a:ext cx="973836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824978" y="2660904"/>
            <a:ext cx="493776" cy="49377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24978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03236" y="3401568"/>
            <a:ext cx="937259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1783080"/>
            <a:ext cx="2468880" cy="457200"/>
          </a:xfrm>
          <a:prstGeom prst="roundRect">
            <a:avLst>
              <a:gd name="adj" fmla="val 1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178308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198864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8864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7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186415" y="2441448"/>
            <a:ext cx="1152144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5600" y="2660904"/>
            <a:ext cx="493776" cy="49377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15600" y="266090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04703" y="3401568"/>
            <a:ext cx="11155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41248" y="4572000"/>
            <a:ext cx="10479024" cy="0"/>
          </a:xfrm>
          <a:prstGeom prst="bentConnector3">
            <a:avLst/>
          </a:prstGeom>
          <a:ln w="25400">
            <a:solidFill>
              <a:srgbClr val="AFC6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Drei Makro-Phasen, neun Schritte. An jedem farbigen Übergang entscheidest </a:t>
            </a: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du</a:t>
            </a: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 — der Weg ist jederzeit umkehrbar.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6</a:t>
            </a:r>
          </a:p>
        </p:txBody>
      </p:sp>
      <p:pic>
        <p:nvPicPr>
          <p:cNvPr id="51" name="Picture 5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DEIN PRINZIP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Du behältst die Kontrolle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4241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Der Planner arbeitet </a:t>
            </a: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Human-in-the-Loop</a:t>
            </a:r>
            <a:r>
              <a:rPr sz="1400" b="0" i="0">
                <a:solidFill>
                  <a:srgbClr val="5B6B85"/>
                </a:solidFill>
                <a:latin typeface="Inter"/>
                <a:cs typeface="Inter"/>
              </a:rPr>
              <a:t>: Agenten schlagen vor, du entscheidest. An drei Stellen darf das System dich nie übersteuern.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" y="2606040"/>
            <a:ext cx="512064" cy="51206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Jeder Phasenübergang wartet auf deine manuelle Bestätigung.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8" y="2606040"/>
            <a:ext cx="512064" cy="51206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Steht ein Risiko auf Rot, stoppt der Lauf. Nur du gibst ihn explizit frei.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2286000"/>
            <a:ext cx="33467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73568" y="2286000"/>
            <a:ext cx="3346704" cy="1097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47888" y="2606040"/>
            <a:ext cx="512064" cy="51206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2606040"/>
            <a:ext cx="512064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246120"/>
            <a:ext cx="279806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E1735"/>
                </a:solidFill>
                <a:latin typeface="Inter"/>
                <a:cs typeface="Inter"/>
              </a:rPr>
              <a:t>Skill-Aufnahme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3657600"/>
            <a:ext cx="2843784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B6B85"/>
                </a:solidFill>
                <a:latin typeface="Inter"/>
                <a:cs typeface="Inter"/>
              </a:rPr>
              <a:t>Jede neue SKILL.md, die ins Harness kommt, braucht deinen Review.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4617720"/>
            <a:ext cx="5138928" cy="14173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773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120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1735"/>
                </a:solidFill>
                <a:latin typeface="Inter"/>
                <a:cs typeface="Inter"/>
              </a:rPr>
              <a:t>Du siehst die Agenten live denken und arbeiten — kein Spinner, der etwas verbirgt. Jede Aktion landet im Audit-Trail.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9632" y="4617720"/>
            <a:ext cx="5138928" cy="141732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5664" y="47731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E2761"/>
                </a:solidFill>
                <a:latin typeface="Inter"/>
                <a:cs typeface="Inter"/>
              </a:rPr>
              <a:t>Umkehrbarkeit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55664" y="5120640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0E1735"/>
                </a:solidFill>
                <a:latin typeface="Inter"/>
                <a:cs typeface="Inter"/>
              </a:rPr>
              <a:t>Jede Planversion bleibt erhalten. Du kannst zurück, vergleichen und neu planen — nichts wird unwiderruflich überschrieben.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7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VERSTEHEN   ·   SCHRITT 1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Beschreibe dein Projekt in eigenen Worten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Das System erfährt, was du vorhast — formlos, in deiner Sprache.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schreibst frei drauflos. Keine Fachbegriffe, keine Struktur nötig.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liest mit und bereitet die erste Rückfrage vor — nichts wird gespeichert ohne dich.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klickst „Weiter“, wenn deine Beschreibung steht.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zgpm.aegira.ai/projects/neu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95728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735"/>
                </a:solidFill>
                <a:latin typeface="Inter"/>
                <a:cs typeface="Inter"/>
              </a:rPr>
              <a:t>Neues Projekt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44768" y="269748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Erzähl in eigenen Worten, was entstehen soll.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3063239"/>
            <a:ext cx="4919472" cy="1600200"/>
          </a:xfrm>
          <a:prstGeom prst="roundRect">
            <a:avLst>
              <a:gd name="adj" fmla="val 5000"/>
            </a:avLst>
          </a:prstGeom>
          <a:solidFill>
            <a:srgbClr val="F2F6FD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27648" y="3218688"/>
            <a:ext cx="4553712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Ich möchte einen Newsletter automatisieren: Themen sammeln, Entwürfe schreiben, freigeben lassen und wöchentlich versenden. Qualität und Tonalität sollen stimmen, und ich will am Ende selbst freigeben.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47731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1">
                <a:solidFill>
                  <a:srgbClr val="8A93A6"/>
                </a:solidFill>
                <a:latin typeface="Inter"/>
                <a:cs typeface="Inter"/>
              </a:rPr>
              <a:t>Beispielprojekt „Newsletter-Automatisierung“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38360" y="4736592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38360" y="4732020"/>
            <a:ext cx="132588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cs typeface="Inter"/>
              </a:rPr>
              <a:t>Weiter 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VERSTEHEN   ·   SCHRITT 2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Das Schärfungs-Interview (McKinsey-Methode)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der Idee wird ein präzises Verständnis: Projektart, Umfang, Skills.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beantwortest gezielte Rückfragen — eine nach der anderen.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fragt MECE und hypothesengeleitet nach und macht aktiv Vorschläge.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kannst jeden Vorschlag annehmen, ändern oder verwerfen.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1155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9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zgpm.aegira.ai/projects/…/interview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423160"/>
            <a:ext cx="4005072" cy="713232"/>
          </a:xfrm>
          <a:prstGeom prst="roundRect">
            <a:avLst>
              <a:gd name="adj" fmla="val 14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7648" y="2505456"/>
            <a:ext cx="3685032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FFFFFF"/>
                </a:solidFill>
                <a:latin typeface="Inter"/>
                <a:cs typeface="Inter"/>
              </a:rPr>
              <a:t>Soll der Versand vollautomatisch laufen oder erst nach deiner Freigabe?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3182112"/>
            <a:ext cx="868680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44768" y="3177540"/>
            <a:ext cx="8686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E2761"/>
                </a:solidFill>
                <a:latin typeface="Inter"/>
                <a:cs typeface="Inter"/>
              </a:rPr>
              <a:t>MECE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077456" y="3182112"/>
            <a:ext cx="1234440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77456" y="3177540"/>
            <a:ext cx="123444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1E2761"/>
                </a:solidFill>
                <a:latin typeface="Inter"/>
                <a:cs typeface="Inter"/>
              </a:rPr>
              <a:t>Hypothese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73567" y="3520439"/>
            <a:ext cx="3090672" cy="457200"/>
          </a:xfrm>
          <a:prstGeom prst="roundRect">
            <a:avLst>
              <a:gd name="adj" fmla="val 20000"/>
            </a:avLst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10728" y="3520439"/>
            <a:ext cx="28163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0E1735"/>
                </a:solidFill>
                <a:latin typeface="Inter"/>
                <a:cs typeface="Inter"/>
              </a:rPr>
              <a:t>Erst nach meiner Freigabe.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4096512"/>
            <a:ext cx="4919472" cy="1280160"/>
          </a:xfrm>
          <a:prstGeom prst="roundRect">
            <a:avLst>
              <a:gd name="adj" fmla="val 6000"/>
            </a:avLst>
          </a:prstGeom>
          <a:solidFill>
            <a:srgbClr val="FBF1EA"/>
          </a:solidFill>
          <a:ln w="12700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27648" y="4206240"/>
            <a:ext cx="45537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E6B32F"/>
                </a:solidFill>
                <a:latin typeface="Inter"/>
                <a:cs typeface="Inter"/>
              </a:rPr>
              <a:t>VORSCHLAG DES SYSTEMS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27648" y="4443983"/>
            <a:ext cx="455371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Projektart: </a:t>
            </a:r>
            <a:r>
              <a:rPr sz="1050" b="0" i="0">
                <a:solidFill>
                  <a:srgbClr val="0E1735"/>
                </a:solidFill>
                <a:latin typeface="Inter"/>
                <a:cs typeface="Inter"/>
              </a:rPr>
              <a:t>Hybrid (Konzept + Technik). </a:t>
            </a: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Skills: </a:t>
            </a:r>
            <a:r>
              <a:rPr sz="1050" b="0" i="0">
                <a:solidFill>
                  <a:srgbClr val="0E1735"/>
                </a:solidFill>
                <a:latin typeface="Inter"/>
                <a:cs typeface="Inter"/>
              </a:rPr>
              <a:t>Themen-Research, Text-Entwurf, Tonalitäts-Check, Freigabe-Workflow, Versand.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327648" y="5047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8" y="5042916"/>
            <a:ext cx="11887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Annehmen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07808" y="5047488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07808" y="5042916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Inter"/>
                <a:cs typeface="Inter"/>
              </a:rPr>
              <a:t>Ändern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VERSTEHEN   ·   SCHRITT 3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Projektverständnis freigeben — Gate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Eine pre-finale Zusammenfassung — plus die Agenten, die deinen Plan bauen.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liest, korrigierst Details und gibst frei.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verdichtet alles und leitet ab, welche Planungs-Agenten nötig sind.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Ohne deine Freigabe startet keine Planung.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3898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10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zgpm.aegira.ai/projects/…/verständnis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77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Projektverständnis (pre-final)</a:t>
            </a:r>
          </a:p>
        </p:txBody>
      </p:sp>
      <p:sp>
        <p:nvSpPr>
          <p:cNvPr id="45" name="Oval 44"/>
          <p:cNvSpPr/>
          <p:nvPr/>
        </p:nvSpPr>
        <p:spPr>
          <a:xfrm>
            <a:off x="6163056" y="2761488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5936" y="2651760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Ziel: wöchentlicher Newsletter, halb-automatisch</a:t>
            </a:r>
          </a:p>
        </p:txBody>
      </p:sp>
      <p:sp>
        <p:nvSpPr>
          <p:cNvPr id="47" name="Oval 46"/>
          <p:cNvSpPr/>
          <p:nvPr/>
        </p:nvSpPr>
        <p:spPr>
          <a:xfrm>
            <a:off x="6163056" y="3145536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5936" y="30358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Art: Hybrid (Konzept + Technik)</a:t>
            </a:r>
          </a:p>
        </p:txBody>
      </p:sp>
      <p:sp>
        <p:nvSpPr>
          <p:cNvPr id="49" name="Oval 48"/>
          <p:cNvSpPr/>
          <p:nvPr/>
        </p:nvSpPr>
        <p:spPr>
          <a:xfrm>
            <a:off x="6163056" y="3529584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341985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5 Kernfähigkeiten identifiziert</a:t>
            </a:r>
          </a:p>
        </p:txBody>
      </p:sp>
      <p:sp>
        <p:nvSpPr>
          <p:cNvPr id="51" name="Oval 50"/>
          <p:cNvSpPr/>
          <p:nvPr/>
        </p:nvSpPr>
        <p:spPr>
          <a:xfrm>
            <a:off x="6163056" y="3913632"/>
            <a:ext cx="91440" cy="9144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5936" y="380390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Freigabe durch Mensch zwingend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116567" y="2377440"/>
            <a:ext cx="0" cy="2880360"/>
          </a:xfrm>
          <a:prstGeom prst="bentConnector3">
            <a:avLst/>
          </a:prstGeom>
          <a:ln w="12700">
            <a:solidFill>
              <a:srgbClr val="E3E6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9299448" y="23774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Vorgeschlagene Agenten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99448" y="2761488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9400032" y="2852928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37776" y="2752344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PMO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Orchestrierung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299448" y="3182112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400032" y="3273552"/>
            <a:ext cx="164592" cy="16459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37776" y="3172968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Architecture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Rollen &amp; PVM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99448" y="3602736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400032" y="3694176"/>
            <a:ext cx="164592" cy="16459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37776" y="3593592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Skill-Mapping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Fähigkeiten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99448" y="4023360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400032" y="4114800"/>
            <a:ext cx="164592" cy="16459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37776" y="4014216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Risk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Risiken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99448" y="4443984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400032" y="4535424"/>
            <a:ext cx="164592" cy="16459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637776" y="4434840"/>
            <a:ext cx="1554480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Reviewer  </a:t>
            </a:r>
            <a:r>
              <a:rPr sz="850" b="0" i="0">
                <a:solidFill>
                  <a:srgbClr val="5B6B85"/>
                </a:solidFill>
                <a:latin typeface="Inter"/>
                <a:cs typeface="Inter"/>
              </a:rPr>
              <a:t>Konsistenz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646920" y="4983479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46920" y="4978907"/>
            <a:ext cx="14173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Inter"/>
                <a:cs typeface="Inter"/>
              </a:rPr>
              <a:t>Freigeben  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4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Deine Projekte verwalten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Jedes Projekt bleibt erhalten — in jeder Phase, jederzeit auffindbar.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Öffnen, kopieren als Vorlage oder löschen — alles mit einem Klick.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speichert jede Phase als eigene Version und zeigt den Status.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Löschen wird immer noch einmal von dir bestätigt.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664207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11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  ·  Meine Projekte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7744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0E1735"/>
                </a:solidFill>
                <a:latin typeface="Inter"/>
                <a:cs typeface="Inter"/>
              </a:rPr>
              <a:t>Meine Projekte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75520" y="235915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75520" y="2354580"/>
            <a:ext cx="118872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Inter"/>
              </a:rPr>
              <a:t>+ Neu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144768" y="2834639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09360" y="283463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Newsletter-Automatisierung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933688" y="293522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33688" y="2930651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Inter"/>
                <a:cs typeface="Inter"/>
              </a:rPr>
              <a:t>planning</a:t>
            </a:r>
          </a:p>
        </p:txBody>
      </p:sp>
      <p:sp>
        <p:nvSpPr>
          <p:cNvPr id="51" name="Oval 50"/>
          <p:cNvSpPr/>
          <p:nvPr/>
        </p:nvSpPr>
        <p:spPr>
          <a:xfrm>
            <a:off x="10186416" y="293522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86416" y="293522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86416" y="293522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488168" y="293522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88168" y="293522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488168" y="293522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789920" y="293522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9920" y="293522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789920" y="293522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6144768" y="3383279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09360" y="338327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Onboarding-Assistent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933688" y="3483863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33688" y="3479291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reviewing</a:t>
            </a:r>
          </a:p>
        </p:txBody>
      </p:sp>
      <p:sp>
        <p:nvSpPr>
          <p:cNvPr id="64" name="Oval 63"/>
          <p:cNvSpPr/>
          <p:nvPr/>
        </p:nvSpPr>
        <p:spPr>
          <a:xfrm>
            <a:off x="10186416" y="348386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86416" y="34838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86416" y="348386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0488168" y="348386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488168" y="34838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488168" y="348386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0789920" y="3483863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789920" y="3483863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0789920" y="3483863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144768" y="3931920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3931920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Vertrags-Prüfer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933688" y="403250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933688" y="402793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approved</a:t>
            </a:r>
          </a:p>
        </p:txBody>
      </p:sp>
      <p:sp>
        <p:nvSpPr>
          <p:cNvPr id="77" name="Oval 76"/>
          <p:cNvSpPr/>
          <p:nvPr/>
        </p:nvSpPr>
        <p:spPr>
          <a:xfrm>
            <a:off x="10186416" y="40325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86416" y="40325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186416" y="403250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488168" y="40325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488168" y="40325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488168" y="403250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789920" y="403250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89920" y="403250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789920" y="403250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6144768" y="4480559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309360" y="4480559"/>
            <a:ext cx="25146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Markt-Report Bot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933688" y="4581144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33688" y="4576572"/>
            <a:ext cx="10515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compiled</a:t>
            </a:r>
          </a:p>
        </p:txBody>
      </p:sp>
      <p:sp>
        <p:nvSpPr>
          <p:cNvPr id="90" name="Oval 89"/>
          <p:cNvSpPr/>
          <p:nvPr/>
        </p:nvSpPr>
        <p:spPr>
          <a:xfrm>
            <a:off x="10186416" y="45811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186416" y="45811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0186416" y="458114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88168" y="45811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488168" y="45811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⧉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10488168" y="458114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89920" y="4581144"/>
            <a:ext cx="256032" cy="25603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789920" y="458114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3423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0789920" y="4581144"/>
            <a:ext cx="256032" cy="256032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144768" y="5102352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JetBrains Mono"/>
                <a:cs typeface="JetBrains Mono"/>
              </a:rPr>
              <a:t>Status: planning → reviewing → approved → compiled → archived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5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Die Leitplanken: was geht — und was nicht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5532120" cy="39136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783080"/>
            <a:ext cx="5532120" cy="109728"/>
          </a:xfrm>
          <a:prstGeom prst="roundRect">
            <a:avLst>
              <a:gd name="adj" fmla="val 50000"/>
            </a:avLst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75104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3423F"/>
                </a:solidFill>
                <a:latin typeface="Inter"/>
                <a:cs typeface="Inter"/>
              </a:rPr>
              <a:t>Was das System verweigert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395728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957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35915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Waffen &amp; gefährliches Dual-Use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3347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Bau, Beschaffung, Anleitung.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3054096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0540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01752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Bio-, Chemie- &amp; Nuklear-Gefahren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91839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Hilfe zu Herstellung oder Einsatz.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712463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7124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675887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Diskriminierung &amp; unfaire Benachteiligung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950207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keine Pläne, die Menschen herabsetzen.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370831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083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34255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Malware, Exploits &amp; Spoofing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4608575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kein Schadcode, keine Täuschungs-Sites.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" y="5029199"/>
            <a:ext cx="274320" cy="27432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291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992623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EU-AI-Act: verbotene Praktiken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266943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B6B85"/>
                </a:solidFill>
                <a:latin typeface="Inter"/>
                <a:cs typeface="Inter"/>
              </a:rPr>
              <a:t>z. B. Social Scoring, manipulatives Profiling, biometrische Massenüberwachung.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1783080"/>
            <a:ext cx="4754880" cy="3913632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1975104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CADCFC"/>
                </a:solidFill>
                <a:latin typeface="Inter"/>
                <a:cs typeface="Inter"/>
              </a:rPr>
              <a:t>Was geht: Software &amp; Konzepte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7744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CADCFC"/>
                </a:solidFill>
                <a:latin typeface="Inter"/>
                <a:cs typeface="Inter"/>
              </a:rPr>
              <a:t>Der Planner unterscheidet zu Beginn die Projektart — und passt die Skills daran 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063240"/>
            <a:ext cx="4206240" cy="786384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59168" y="315468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6B32F"/>
                </a:solidFill>
                <a:latin typeface="Inter"/>
                <a:cs typeface="Inter"/>
              </a:rPr>
              <a:t>KONZEPT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59168" y="3392424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CADCFC"/>
                </a:solidFill>
                <a:latin typeface="Inter"/>
                <a:cs typeface="Inter"/>
              </a:rPr>
              <a:t>Methodik &amp; Dokumente: docx-, pptx-, markdown-, MECE- und Pyramid-Skills.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0" y="3941064"/>
            <a:ext cx="4206240" cy="786384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59168" y="403250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6B32F"/>
                </a:solidFill>
                <a:latin typeface="Inter"/>
                <a:cs typeface="Inter"/>
              </a:rPr>
              <a:t>TECHNIK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427024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CADCFC"/>
                </a:solidFill>
                <a:latin typeface="Inter"/>
                <a:cs typeface="Inter"/>
              </a:rPr>
              <a:t>Architektur &amp; Code: Systemdesign, Tools, Schnittstellen, Tests.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4818888"/>
            <a:ext cx="4206240" cy="786384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59168" y="49103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E6B32F"/>
                </a:solidFill>
                <a:latin typeface="Inter"/>
                <a:cs typeface="Inter"/>
              </a:rPr>
              <a:t>HYBRID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59168" y="514807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CADCFC"/>
                </a:solidFill>
                <a:latin typeface="Inter"/>
                <a:cs typeface="Inter"/>
              </a:rPr>
              <a:t>Beides kombiniert — wie im Newsletter-Beispiel.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788152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5B6B85"/>
                </a:solidFill>
                <a:latin typeface="Inter"/>
                <a:cs typeface="Inter"/>
              </a:rPr>
              <a:t>Grenzfälle werden zur Prüfung an dich eskaliert — nicht still entschieden.</a:t>
            </a:r>
          </a:p>
        </p:txBody>
      </p:sp>
      <p:sp>
        <p:nvSpPr>
          <p:cNvPr id="43" name="Oval 42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93852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12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Der ZGPM-Plan entsteht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Verständnis bauen die Agenten einen vollständigen, methodischen Plan.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verfolgst die Agenten live und wartest auf die Vorlage.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PMO zerlegt in Phasen &amp; Meilensteine; Worker füllen Rollen, Risiken, Aufwände.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Der Reviewer prüft; bei Rot oder Konflikt entscheidest du.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13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37744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144768" y="2372868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Meilensteinplan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34656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13064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13064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Risiken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91472" y="23774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91472" y="2372868"/>
            <a:ext cx="8686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Inter"/>
                <a:cs typeface="Inter"/>
              </a:rPr>
              <a:t>Aktivitäten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44768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PH1 Setup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84592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84592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PH2 Aufbau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424416" y="2834639"/>
            <a:ext cx="1566672" cy="292608"/>
          </a:xfrm>
          <a:prstGeom prst="roundRect">
            <a:avLst>
              <a:gd name="adj" fmla="val 1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24416" y="2834639"/>
            <a:ext cx="1566672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1E2761"/>
                </a:solidFill>
                <a:latin typeface="Inter"/>
                <a:cs typeface="Inter"/>
              </a:rPr>
              <a:t>PH3 Betrieb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3218687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36207" y="3319271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37376" y="3218687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M1 Quellen angebunden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621023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236207" y="3721607"/>
            <a:ext cx="128016" cy="128016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37376" y="3621023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M2 Entwurfs-Engine steht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784592" y="4023359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876032" y="4123944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77200" y="4023359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M3 Freigabe-Workflow live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424416" y="4425696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515856" y="4526280"/>
            <a:ext cx="128016" cy="12801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717024" y="4425696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M4 Erstausgabe versendet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424416" y="4828032"/>
            <a:ext cx="1530096" cy="3291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515856" y="4928616"/>
            <a:ext cx="128016" cy="128016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717024" y="4828032"/>
            <a:ext cx="118262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0E1735"/>
                </a:solidFill>
                <a:latin typeface="Inter"/>
                <a:cs typeface="Inter"/>
              </a:rPr>
              <a:t>M5 Betrieb stabil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144768" y="5120640"/>
            <a:ext cx="49194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Meilenstein = Zustand im Perfekt · Ampel propagiert nach oben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6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Was du im fertigen Plan siehst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Gantt — Meilensteine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2416" y="2468880"/>
            <a:ext cx="182880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956816" y="2852928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505456" y="3236976"/>
            <a:ext cx="1280160" cy="201168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16552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Risk-Matrix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90872" y="2468880"/>
            <a:ext cx="265176" cy="265176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01768" y="2468880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12664" y="2468880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90872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2779776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2664" y="2779776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90872" y="3090672"/>
            <a:ext cx="265176" cy="265176"/>
          </a:xfrm>
          <a:prstGeom prst="rect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01768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12664" y="3090672"/>
            <a:ext cx="265176" cy="265176"/>
          </a:xfrm>
          <a:prstGeom prst="rect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349240" y="2487168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E1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2" y="2487168"/>
            <a:ext cx="14630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Eintritt ×
Auswirkung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1755648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1901952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RACI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0456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7384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>Du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2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>PMO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41401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5B6B85"/>
                </a:solidFill>
                <a:latin typeface="JetBrains Mono"/>
                <a:cs typeface="JetBrains Mono"/>
              </a:rPr>
              <a:t>Risk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0456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JetBrains Mono"/>
                <a:cs typeface="JetBrains Mono"/>
              </a:rPr>
              <a:t>M1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7384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6B32F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67004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85"/>
                </a:solidFill>
                <a:latin typeface="JetBrains Mono"/>
                <a:cs typeface="JetBrains Mono"/>
              </a:rPr>
              <a:t>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JetBrains Mono"/>
                <a:cs typeface="JetBrains Mono"/>
              </a:rPr>
              <a:t>M2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7384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6B32F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4312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E6B32F"/>
                </a:solidFill>
                <a:latin typeface="JetBrains Mono"/>
                <a:cs typeface="JetBrains Mono"/>
              </a:rPr>
              <a:t>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3035808"/>
            <a:ext cx="5669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E2761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0456" y="3401568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8A93A6"/>
                </a:solidFill>
                <a:latin typeface="Inter"/>
                <a:cs typeface="Inter"/>
              </a:rPr>
              <a:t>E=entscheidet · A=führt aus · L=leitet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42416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Zeitplanung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15568" y="4983480"/>
            <a:ext cx="2889504" cy="0"/>
          </a:xfrm>
          <a:prstGeom prst="bentConnector3">
            <a:avLst/>
          </a:prstGeom>
          <a:ln w="2540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116128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669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842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196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9864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3405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KW28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30168" y="4892040"/>
            <a:ext cx="146304" cy="14630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65576" y="5120640"/>
            <a:ext cx="50292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80" b="0" i="0">
                <a:solidFill>
                  <a:srgbClr val="5B6B85"/>
                </a:solidFill>
                <a:latin typeface="JetBrains Mono"/>
                <a:cs typeface="JetBrains Mono"/>
              </a:rPr>
              <a:t>KW32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Start- und Endtermine je Meilenstein.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16552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17720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Kosten — Token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90872" y="4709160"/>
            <a:ext cx="2798064" cy="23774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690872" y="4709160"/>
            <a:ext cx="1734799" cy="237744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90872" y="5029200"/>
            <a:ext cx="2889504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Inter"/>
                <a:cs typeface="Inter"/>
              </a:rPr>
              <a:t>Token-Budget je Agent &amp; Knoten — live mitgezählt.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90872" y="544068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Warnung bei Überschreitung.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991856" y="3931920"/>
            <a:ext cx="3346704" cy="19751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93024" y="4078224"/>
            <a:ext cx="298094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Agenten-Ressourcen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66176" y="462686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0E1735"/>
                </a:solidFill>
                <a:latin typeface="Inter"/>
                <a:cs typeface="Inter"/>
              </a:rPr>
              <a:t>PMO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546336" y="4663440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546336" y="4663440"/>
            <a:ext cx="1152144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66176" y="499262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0E1735"/>
                </a:solidFill>
                <a:latin typeface="Inter"/>
                <a:cs typeface="Inter"/>
              </a:rPr>
              <a:t>Architecture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546336" y="5029200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546336" y="5029200"/>
            <a:ext cx="768096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66176" y="5358384"/>
            <a:ext cx="12801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0">
                <a:solidFill>
                  <a:srgbClr val="0E1735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546336" y="5394960"/>
            <a:ext cx="1280160" cy="146304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546336" y="5394960"/>
            <a:ext cx="512063" cy="14630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66176" y="5760720"/>
            <a:ext cx="2889504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1">
                <a:solidFill>
                  <a:srgbClr val="8A93A6"/>
                </a:solidFill>
                <a:latin typeface="Inter"/>
                <a:cs typeface="Inter"/>
              </a:rPr>
              <a:t>Welcher Agent wie stark ausgelastet ist.</a:t>
            </a:r>
          </a:p>
        </p:txBody>
      </p:sp>
      <p:sp>
        <p:nvSpPr>
          <p:cNvPr id="70" name="Oval 69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221284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14</a:t>
            </a:r>
          </a:p>
        </p:txBody>
      </p:sp>
      <p:pic>
        <p:nvPicPr>
          <p:cNvPr id="81" name="Picture 80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   ·   SCHRITT 7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Review &amp; Freigabe — Gate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machst den Plan zu deinem Plan — Wortlaut, Sprache, Details.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Text anklicken und ändern, Sprache umschalten (DE/EN), Werte anpassen.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zeigt jede Änderung als Vorher/Nachher und versioniert sie.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macht aus der Version den gültigen Plan.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8716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15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zgpm.aegira.ai/projects/…/plan  ·  bearbeiten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2395728"/>
            <a:ext cx="137160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B6B85"/>
                </a:solidFill>
                <a:latin typeface="Inter"/>
                <a:cs typeface="Inter"/>
              </a:rPr>
              <a:t>Sprache: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9168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9168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DE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44967" y="2377440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44967" y="2372868"/>
            <a:ext cx="64008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B6B85"/>
                </a:solidFill>
                <a:latin typeface="Inter"/>
                <a:cs typeface="Inter"/>
              </a:rPr>
              <a:t>EN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44768" y="2852928"/>
            <a:ext cx="4919472" cy="457200"/>
          </a:xfrm>
          <a:prstGeom prst="roundRect">
            <a:avLst>
              <a:gd name="adj" fmla="val 10000"/>
            </a:avLst>
          </a:prstGeom>
          <a:solidFill>
            <a:srgbClr val="F2F6FD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2852928"/>
            <a:ext cx="41879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0E1735"/>
                </a:solidFill>
                <a:latin typeface="Inter"/>
                <a:cs typeface="Inter"/>
              </a:rPr>
              <a:t>M2  Entwurfs-Engine steht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87000" y="292608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87000" y="2921508"/>
            <a:ext cx="777240" cy="25603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ändern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44768" y="349300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0E1735"/>
                </a:solidFill>
                <a:latin typeface="Inter"/>
                <a:cs typeface="Inter"/>
              </a:rPr>
              <a:t>Änderungs-Vorschau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4768" y="3785615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FB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81928" y="3785615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C3423F"/>
                </a:solidFill>
                <a:latin typeface="JetBrains Mono"/>
                <a:cs typeface="JetBrains Mono"/>
              </a:rPr>
              <a:t>−  „Entwurfs-Engine steht“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261104"/>
            <a:ext cx="4919472" cy="420624"/>
          </a:xfrm>
          <a:prstGeom prst="roundRect">
            <a:avLst>
              <a:gd name="adj" fmla="val 8000"/>
            </a:avLst>
          </a:prstGeom>
          <a:solidFill>
            <a:srgbClr val="EC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81928" y="4261104"/>
            <a:ext cx="4645152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A9367"/>
                </a:solidFill>
                <a:latin typeface="JetBrains Mono"/>
                <a:cs typeface="JetBrains Mono"/>
              </a:rPr>
              <a:t>+  „Entwurfs-Engine getestet &amp; freigegeben“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484632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44768" y="4841748"/>
            <a:ext cx="13716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Inter"/>
                <a:cs typeface="Inter"/>
              </a:rPr>
              <a:t>Übernehmen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626096" y="4846320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26096" y="4841748"/>
            <a:ext cx="1143000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Verwerfen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4882896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Version v3 · v2 bleibt erhalten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Agenten-Harness bauen — mit Reifegrad-Stufe (Prototyp)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Aus dem Plan wird ein lauffähiges Agententeam — visuell nachvollziehbar.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betrachtest die Struktur: wer orchestriert, wer arbeitet, wo du freigibst.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kompiliert Rollen zu Agenten, Aktivitäten zu Aufgaben, Risiken zu Quality-Gates.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Die HITL-Knoten zeigen, wo dein Sign-off verankert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16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7242048" y="2971800"/>
            <a:ext cx="1362456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458200" y="2971800"/>
            <a:ext cx="146304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604504" y="2971800"/>
            <a:ext cx="1069848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604504" y="2971800"/>
            <a:ext cx="2286000" cy="6400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7242048" y="4069080"/>
            <a:ext cx="1362456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8458200" y="4069080"/>
            <a:ext cx="146304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H="1">
            <a:off x="8604504" y="4069080"/>
            <a:ext cx="1069848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8604504" y="4069080"/>
            <a:ext cx="2286000" cy="411480"/>
          </a:xfrm>
          <a:prstGeom prst="bentConnector3">
            <a:avLst/>
          </a:prstGeom>
          <a:ln w="19050">
            <a:solidFill>
              <a:srgbClr val="AFC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8604504" y="4937760"/>
            <a:ext cx="0" cy="256032"/>
          </a:xfrm>
          <a:prstGeom prst="bentConnector3">
            <a:avLst/>
          </a:prstGeom>
          <a:ln w="25400">
            <a:solidFill>
              <a:srgbClr val="E870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07224" y="251460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07224" y="2514600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FFFFFF"/>
                </a:solidFill>
                <a:latin typeface="Inter"/>
                <a:cs typeface="Inter"/>
              </a:rPr>
              <a:t>PMO · Orchestrator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93408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93408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Architektur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909560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09560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Skills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125712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25712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Risk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0341864" y="3611880"/>
            <a:ext cx="1097280" cy="457200"/>
          </a:xfrm>
          <a:prstGeom prst="roundRect">
            <a:avLst>
              <a:gd name="adj" fmla="val 2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41864" y="3611880"/>
            <a:ext cx="10972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i="0">
                <a:solidFill>
                  <a:srgbClr val="FFFFFF"/>
                </a:solidFill>
                <a:latin typeface="Inter"/>
                <a:cs typeface="Inter"/>
              </a:rPr>
              <a:t>Reviewer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232904" y="4480560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2A35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32904" y="448056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Konsistenz-Check · max 3×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07224" y="5193792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07224" y="5193792"/>
            <a:ext cx="219456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◆ HITL-Freigabe</a:t>
            </a:r>
          </a:p>
        </p:txBody>
      </p:sp>
      <p:sp>
        <p:nvSpPr>
          <p:cNvPr id="67" name="Oval 66"/>
          <p:cNvSpPr/>
          <p:nvPr/>
        </p:nvSpPr>
        <p:spPr>
          <a:xfrm>
            <a:off x="6144768" y="2450591"/>
            <a:ext cx="118872" cy="118872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18504" y="239572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69" name="Oval 68"/>
          <p:cNvSpPr/>
          <p:nvPr/>
        </p:nvSpPr>
        <p:spPr>
          <a:xfrm>
            <a:off x="6144768" y="2724911"/>
            <a:ext cx="118872" cy="118872"/>
          </a:xfrm>
          <a:prstGeom prst="ellipse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18504" y="267004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Worker</a:t>
            </a:r>
          </a:p>
        </p:txBody>
      </p:sp>
      <p:sp>
        <p:nvSpPr>
          <p:cNvPr id="71" name="Oval 70"/>
          <p:cNvSpPr/>
          <p:nvPr/>
        </p:nvSpPr>
        <p:spPr>
          <a:xfrm>
            <a:off x="6144768" y="2999232"/>
            <a:ext cx="118872" cy="118872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18504" y="2944368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B6B85"/>
                </a:solidFill>
                <a:latin typeface="Inter"/>
                <a:cs typeface="Inter"/>
              </a:rPr>
              <a:t>Dein Kontrollpunkt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8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Artefakte editieren &amp; Struktur per Kommando verbessern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verfeinerst jedes Artefakt und die Gesamtstruktur, bis sie passt.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Datei öffnen und ändern — oder im Kommandofeld sagen, was besser wäre.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macht neue Vorschläge (Sequenz, Parallel, neuer Skill, weiterer Agent) — x Iterationen.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Erst deine Freigabe beendet die Schleife.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76148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086100" y="6053328"/>
            <a:ext cx="91440" cy="91440"/>
          </a:xfrm>
          <a:prstGeom prst="ellipse">
            <a:avLst/>
          </a:prstGeom>
          <a:solidFill>
            <a:srgbClr val="AFC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17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editor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99048" y="2377440"/>
            <a:ext cx="1783080" cy="2240280"/>
          </a:xfrm>
          <a:prstGeom prst="roundRect">
            <a:avLst>
              <a:gd name="adj" fmla="val 6000"/>
            </a:avLst>
          </a:prstGeom>
          <a:solidFill>
            <a:srgbClr val="F4F6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44768" y="2450591"/>
            <a:ext cx="1691640" cy="237744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36208" y="2468879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271576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plan/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36208" y="296265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msp.yaml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36208" y="3209544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pvm.yaml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36208" y="3456432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1" i="0">
                <a:solidFill>
                  <a:srgbClr val="1E2761"/>
                </a:solidFill>
                <a:latin typeface="JetBrains Mono"/>
                <a:cs typeface="JetBrains Mono"/>
              </a:rPr>
              <a:t>.claude/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36208" y="3703320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agents/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8" y="3950208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skills/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36208" y="4197096"/>
            <a:ext cx="1554480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5B6B85"/>
                </a:solidFill>
                <a:latin typeface="JetBrains Mono"/>
                <a:cs typeface="JetBrains Mono"/>
              </a:rPr>
              <a:t>  hooks/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19288" y="2377440"/>
            <a:ext cx="3044952" cy="2240280"/>
          </a:xfrm>
          <a:prstGeom prst="roundRect">
            <a:avLst>
              <a:gd name="adj" fmla="val 6000"/>
            </a:avLst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02167" y="248716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6B32F"/>
                </a:solidFill>
                <a:latin typeface="JetBrains Mono"/>
                <a:cs typeface="JetBrains Mono"/>
              </a:rPr>
              <a:t># CLAUDE.md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02167" y="270662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7" y="292607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6B32F"/>
                </a:solidFill>
                <a:latin typeface="JetBrains Mono"/>
                <a:cs typeface="JetBrains Mono"/>
              </a:rPr>
              <a:t>## Mission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02167" y="3145535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Newsletter-Pipeline,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02167" y="3364991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>halb-automatisch.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02167" y="3584448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B8C2DA"/>
                </a:solidFill>
                <a:latin typeface="JetBrains Mono"/>
                <a:cs typeface="JetBrains Mono"/>
              </a:rPr>
              <a:t/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02167" y="3803904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E6B32F"/>
                </a:solidFill>
                <a:latin typeface="JetBrains Mono"/>
                <a:cs typeface="JetBrains Mono"/>
              </a:rPr>
              <a:t>## Agenten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02167" y="4023359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pmo (Orchestrator)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02167" y="4242816"/>
            <a:ext cx="2816352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CADCFC"/>
                </a:solidFill>
                <a:latin typeface="JetBrains Mono"/>
                <a:cs typeface="JetBrains Mono"/>
              </a:rPr>
              <a:t>- reviewer (max 3×)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9048" y="4773168"/>
            <a:ext cx="50109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E87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81928" y="4773168"/>
            <a:ext cx="3273552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E1735"/>
                </a:solidFill>
                <a:latin typeface="Inter"/>
                <a:cs typeface="Inter"/>
              </a:rPr>
              <a:t>Mach die Risiko-Prüfung parallel zur Architektur.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9646920" y="4846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46920" y="4841748"/>
            <a:ext cx="1417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Vorschlag holen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99048" y="5321808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0" i="1">
                <a:solidFill>
                  <a:srgbClr val="8A93A6"/>
                </a:solidFill>
                <a:latin typeface="Inter"/>
                <a:cs typeface="Inter"/>
              </a:rPr>
              <a:t>Kommandofeld — Sequenz · Parallel · Skill · weiterer Agent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   ·   SCHRITT 9 VON 9</a:t>
            </a:r>
          </a:p>
        </p:txBody>
      </p:sp>
      <p:sp>
        <p:nvSpPr>
          <p:cNvPr id="4" name="Oval 3"/>
          <p:cNvSpPr/>
          <p:nvPr/>
        </p:nvSpPr>
        <p:spPr>
          <a:xfrm>
            <a:off x="841248" y="822960"/>
            <a:ext cx="566928" cy="56692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822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91056" y="822960"/>
            <a:ext cx="941832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 i="0">
                <a:solidFill>
                  <a:srgbClr val="0E1735"/>
                </a:solidFill>
                <a:latin typeface="Inter"/>
                <a:cs typeface="Inter"/>
              </a:rPr>
              <a:t>Export — Gate 3: Zip + Setup für Claude Code / Cowork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828800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ZIEL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85416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Du erhältst ein portables Paket, das ohne den Planner läuft.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2770632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1248" y="2770632"/>
            <a:ext cx="68580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2880360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1E2761"/>
                </a:solidFill>
                <a:latin typeface="Inter"/>
                <a:cs typeface="Inter"/>
              </a:rPr>
              <a:t>DEINE AKTION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Herunterladen, entpacken, in Claude Cowork / Claude Code öffnen.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712464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" y="3712464"/>
            <a:ext cx="68580" cy="822960"/>
          </a:xfrm>
          <a:prstGeom prst="rect">
            <a:avLst/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822192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B6B85"/>
                </a:solidFill>
                <a:latin typeface="Inter"/>
                <a:cs typeface="Inter"/>
              </a:rPr>
              <a:t>WAS DAS SYSTEM TUT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069080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Es schnürt CLAUDE.md, Skills, Agenten, Plan &amp; Setup in eine signierte Zip.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4654296"/>
            <a:ext cx="4736592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4654296"/>
            <a:ext cx="68580" cy="82296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764024"/>
            <a:ext cx="4325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E6B32F"/>
                </a:solidFill>
                <a:latin typeface="Inter"/>
                <a:cs typeface="Inter"/>
              </a:rPr>
              <a:t>DEIN KONTROLLPUNKT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10912"/>
            <a:ext cx="429767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Prüfsumme bestätigt, dass dein Paket unverändert 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1517904"/>
            <a:ext cx="546811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5B6B85"/>
                </a:solidFill>
                <a:latin typeface="Inter"/>
                <a:cs typeface="Inter"/>
              </a:rPr>
              <a:t>WAS DU SIEHST</a:t>
            </a:r>
          </a:p>
        </p:txBody>
      </p:sp>
      <p:sp>
        <p:nvSpPr>
          <p:cNvPr id="24" name="Oval 23"/>
          <p:cNvSpPr/>
          <p:nvPr/>
        </p:nvSpPr>
        <p:spPr>
          <a:xfrm>
            <a:off x="8915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658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401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14499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98882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26314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53746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811780" y="605332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035808" y="6053328"/>
            <a:ext cx="20116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18</a:t>
            </a:r>
          </a:p>
        </p:txBody>
      </p:sp>
      <p:pic>
        <p:nvPicPr>
          <p:cNvPr id="35" name="Picture 34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870448" y="1828800"/>
            <a:ext cx="5468112" cy="3621024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5875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70448" y="1828800"/>
            <a:ext cx="5468112" cy="3657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70448" y="2011680"/>
            <a:ext cx="5468112" cy="18288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5040" y="1961388"/>
            <a:ext cx="100584" cy="100584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217920" y="1961388"/>
            <a:ext cx="100584" cy="1005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1961388"/>
            <a:ext cx="100584" cy="1005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39128" y="1920240"/>
            <a:ext cx="2926080" cy="1828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1897380"/>
            <a:ext cx="283464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5B6B85"/>
                </a:solidFill>
                <a:latin typeface="JetBrains Mono"/>
                <a:cs typeface="JetBrains Mono"/>
              </a:rPr>
              <a:t>zgpm.aegira.ai/projects/…/harness  ·  download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4768" y="2423160"/>
            <a:ext cx="4919472" cy="731520"/>
          </a:xfrm>
          <a:prstGeom prst="roundRect">
            <a:avLst>
              <a:gd name="adj" fmla="val 1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73368" y="2505456"/>
            <a:ext cx="345643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FFFFFF"/>
                </a:solidFill>
                <a:latin typeface="JetBrains Mono"/>
                <a:cs typeface="JetBrains Mono"/>
              </a:rPr>
              <a:t>newsletter-automatisierung_…_a3f1c2.harness.zip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73368" y="2816352"/>
            <a:ext cx="345643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30" b="0" i="0">
                <a:solidFill>
                  <a:srgbClr val="DFEFE3"/>
                </a:solidFill>
                <a:latin typeface="JetBrains Mono"/>
                <a:cs typeface="JetBrains Mono"/>
              </a:rPr>
              <a:t>checksums.txt · shasum -a 256 -c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738360" y="260604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38360" y="2601468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5A9367"/>
                </a:solidFill>
                <a:latin typeface="Inter"/>
                <a:cs typeface="Inter"/>
              </a:rPr>
              <a:t>↓ Download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44768" y="33649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E1735"/>
                </a:solidFill>
                <a:latin typeface="Inter"/>
                <a:cs typeface="Inter"/>
              </a:rPr>
              <a:t>Inhalt der Zip</a:t>
            </a:r>
          </a:p>
        </p:txBody>
      </p:sp>
      <p:sp>
        <p:nvSpPr>
          <p:cNvPr id="50" name="Oval 49"/>
          <p:cNvSpPr/>
          <p:nvPr/>
        </p:nvSpPr>
        <p:spPr>
          <a:xfrm>
            <a:off x="6181344" y="3785615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45936" y="369417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CLAUDE.md</a:t>
            </a:r>
          </a:p>
        </p:txBody>
      </p:sp>
      <p:sp>
        <p:nvSpPr>
          <p:cNvPr id="52" name="Oval 51"/>
          <p:cNvSpPr/>
          <p:nvPr/>
        </p:nvSpPr>
        <p:spPr>
          <a:xfrm>
            <a:off x="6181344" y="4032504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45936" y="3941064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INSTALL.md · USERGUIDE.md</a:t>
            </a:r>
          </a:p>
        </p:txBody>
      </p:sp>
      <p:sp>
        <p:nvSpPr>
          <p:cNvPr id="54" name="Oval 53"/>
          <p:cNvSpPr/>
          <p:nvPr/>
        </p:nvSpPr>
        <p:spPr>
          <a:xfrm>
            <a:off x="6181344" y="4279392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45936" y="4187952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plan/ (msp · pvm · risks)</a:t>
            </a:r>
          </a:p>
        </p:txBody>
      </p:sp>
      <p:sp>
        <p:nvSpPr>
          <p:cNvPr id="56" name="Oval 55"/>
          <p:cNvSpPr/>
          <p:nvPr/>
        </p:nvSpPr>
        <p:spPr>
          <a:xfrm>
            <a:off x="6181344" y="4526279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45936" y="443484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.claude/agents/ (7 Rollen)</a:t>
            </a:r>
          </a:p>
        </p:txBody>
      </p:sp>
      <p:sp>
        <p:nvSpPr>
          <p:cNvPr id="58" name="Oval 57"/>
          <p:cNvSpPr/>
          <p:nvPr/>
        </p:nvSpPr>
        <p:spPr>
          <a:xfrm>
            <a:off x="6181344" y="4773168"/>
            <a:ext cx="82296" cy="822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45936" y="4681728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.claude/skills · commands · hooks</a:t>
            </a:r>
          </a:p>
        </p:txBody>
      </p:sp>
      <p:sp>
        <p:nvSpPr>
          <p:cNvPr id="60" name="Oval 59"/>
          <p:cNvSpPr/>
          <p:nvPr/>
        </p:nvSpPr>
        <p:spPr>
          <a:xfrm>
            <a:off x="6181344" y="5020056"/>
            <a:ext cx="82296" cy="8229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45936" y="4928616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60" b="0" i="0">
                <a:solidFill>
                  <a:srgbClr val="0E1735"/>
                </a:solidFill>
                <a:latin typeface="JetBrains Mono"/>
                <a:cs typeface="JetBrains Mono"/>
              </a:rPr>
              <a:t>.claude/…/plugin.json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482328" y="3364991"/>
            <a:ext cx="1581912" cy="1938528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83496" y="3474720"/>
            <a:ext cx="1261872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E2761"/>
                </a:solidFill>
                <a:latin typeface="Inter"/>
                <a:cs typeface="Inter"/>
              </a:rPr>
              <a:t>→ In Claude Cowork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683496" y="3822191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1   Zip entpacken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83496" y="4151376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2   plugin.json wird erkannt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83496" y="4480559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3   /run-harness ausführen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683496" y="4809744"/>
            <a:ext cx="1307592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0E1735"/>
                </a:solidFill>
                <a:latin typeface="Inter"/>
                <a:cs typeface="Inter"/>
              </a:rPr>
              <a:t>4   Team läuft in Claude Code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PROZESS · DOKUMENTIERT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Der Prozessablauf — nach McKinsey optimiert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91640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91640"/>
            <a:ext cx="82296" cy="1170432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1801368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VERSTEHEN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15768" y="2112264"/>
            <a:ext cx="329184" cy="3291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15768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Beschreiben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178807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416552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26280" y="2112264"/>
            <a:ext cx="329184" cy="3291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Interview ↺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89320" y="2276856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27064" y="2002536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36792" y="2112264"/>
            <a:ext cx="329184" cy="329184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2112264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9984" y="2002536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Verständnis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9831" y="2276856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1965960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80" y="1965960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7ECCD"/>
                </a:solidFill>
                <a:latin typeface="Inter"/>
                <a:cs typeface="Inter"/>
              </a:rPr>
              <a:t>Verständnis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127248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3127248"/>
            <a:ext cx="82296" cy="1170432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3236976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PLANEN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06040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15768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15768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Verwalten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78807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416552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19472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Leitplanken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89320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27064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36792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4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ZGPM-Plan ↺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99831" y="3712463"/>
            <a:ext cx="201169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037576" y="3438144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147304" y="3547872"/>
            <a:ext cx="329184" cy="329184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47304" y="3547872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0496" y="3438144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Review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10344" y="3712463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0012680" y="3401568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012680" y="3401568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7ECCD"/>
                </a:solidFill>
                <a:latin typeface="Inter"/>
                <a:cs typeface="Inter"/>
              </a:rPr>
              <a:t>Plan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41248" y="4562856"/>
            <a:ext cx="10479024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1248" y="4562856"/>
            <a:ext cx="82296" cy="1170432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0704" y="4672584"/>
            <a:ext cx="1463040" cy="9601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06040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715768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15768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08960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Harness ↺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4178807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4416552" y="4873752"/>
            <a:ext cx="1554480" cy="548640"/>
          </a:xfrm>
          <a:prstGeom prst="roundRect">
            <a:avLst>
              <a:gd name="adj" fmla="val 14000"/>
            </a:avLst>
          </a:prstGeom>
          <a:solidFill>
            <a:srgbClr val="F7F7F2"/>
          </a:solidFill>
          <a:ln w="12700">
            <a:solidFill>
              <a:srgbClr val="AFC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4526280" y="4983480"/>
            <a:ext cx="329184" cy="329184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26280" y="4983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19472" y="4873752"/>
            <a:ext cx="1005840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0E1735"/>
                </a:solidFill>
                <a:latin typeface="Inter"/>
                <a:cs typeface="Inter"/>
              </a:rPr>
              <a:t>Export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5989320" y="5148072"/>
            <a:ext cx="201168" cy="0"/>
          </a:xfrm>
          <a:prstGeom prst="bentConnector3">
            <a:avLst/>
          </a:prstGeom>
          <a:ln w="22225">
            <a:solidFill>
              <a:srgbClr val="5B6B8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10012680" y="4837176"/>
            <a:ext cx="1143000" cy="621792"/>
          </a:xfrm>
          <a:prstGeom prst="roundRect">
            <a:avLst>
              <a:gd name="adj" fmla="val 16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012680" y="4837176"/>
            <a:ext cx="1143000" cy="62179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Inter"/>
                <a:cs typeface="Inter"/>
              </a:rPr>
              <a:t>◆ GATE 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F7ECCD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41248" y="5897880"/>
            <a:ext cx="10479024" cy="457200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97280" y="5897880"/>
            <a:ext cx="10058400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Drei Freigabe-Gates </a:t>
            </a:r>
            <a:r>
              <a:rPr sz="1100" b="1" i="0">
                <a:solidFill>
                  <a:srgbClr val="E6B32F"/>
                </a:solidFill>
                <a:latin typeface="Inter"/>
                <a:cs typeface="Inter"/>
              </a:rPr>
              <a:t>◆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— nichts geht ohne dich weiter.   Drei Schleifen </a:t>
            </a:r>
            <a:r>
              <a:rPr sz="1100" b="1" i="0">
                <a:solidFill>
                  <a:srgbClr val="1E2761"/>
                </a:solidFill>
                <a:latin typeface="Inter"/>
                <a:cs typeface="Inter"/>
              </a:rPr>
              <a:t>↺</a:t>
            </a:r>
            <a:r>
              <a:rPr sz="1100" b="0" i="0">
                <a:solidFill>
                  <a:srgbClr val="1E2761"/>
                </a:solidFill>
                <a:latin typeface="Inter"/>
                <a:cs typeface="Inter"/>
              </a:rPr>
              <a:t>  : Interview, Reviewer (max 3×), Iteration.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19</a:t>
            </a:r>
          </a:p>
        </p:txBody>
      </p:sp>
      <p:pic>
        <p:nvPicPr>
          <p:cNvPr id="69" name="Picture 6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PROZESS · BEGRÜNDUNG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Warum dieser Ablauf nach McKinsey trägt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600200"/>
            <a:ext cx="64008" cy="96012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MECE-Phasen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Verstehen, Planen, Bauen — lückenlos und überschneidungsfrei.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600200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600200"/>
            <a:ext cx="64008" cy="96012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17190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Hypothesengeleitet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002536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Das Interview testet Annahmen, statt nur offen zu sammeln.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706624"/>
            <a:ext cx="64008" cy="96012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Pyramid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Jeder Meilenstein-Status nennt die Kernaussage zuerst.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706624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706624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82549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Front-loaded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3108960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Projektart &amp; Leitplanken werden vor der Planung geklärt.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 statt Solo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PMO delegiert; Worker arbeiten parallel — schneller, robuster.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813048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813048"/>
            <a:ext cx="64008" cy="96012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5664" y="3931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Evaluator-Loop mit Limit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4215384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Reviewer prüft max. 3×, dann entscheidest du. Keine Endlosschleife.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Bewertet wird das Ergebnis je Meilenstein, nicht jeder einzelne Zug.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919472"/>
            <a:ext cx="5138928" cy="960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919472"/>
            <a:ext cx="64008" cy="960120"/>
          </a:xfrm>
          <a:prstGeom prst="rect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5664" y="503834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Reversibilität by design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321808"/>
            <a:ext cx="46817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5B6B85"/>
                </a:solidFill>
                <a:latin typeface="Inter"/>
                <a:cs typeface="Inter"/>
              </a:rPr>
              <a:t>Jede Version bleibt erhalten — neu planen statt überschreiben.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20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ZGPM-Grundlagen: die vier Bausteine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173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B85"/>
                </a:solidFill>
                <a:latin typeface="Inter"/>
                <a:cs typeface="Inter"/>
              </a:rPr>
              <a:t>ZGPM (Zielgeführtes Generatives Projekt Management; Methodik nach Glasner et al., PwC) liefert intern das Vokabular. In der App ist RACI der angezeigte Standard.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E6B32F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Ein Zustand, der bis zu einem Termin erreicht sein muss. Sprachform: Verb im Perfekt.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„Datenschutzkonzept freigegeben“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219456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99632" y="219456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243230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279806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Konkrete Arbeit, die vor dem Meilenstein erledigt sein muss. Mit Aufwand &amp; Verantwortlichen.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73952" y="347472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47472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„Quellen anbinden — 3 PT“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41248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B6B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B6B85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Vertikaler Strang gleichartiger Ergebnisse. Klassisch P/S/O.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15568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52728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 = Personen, S = Systeme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4114800"/>
            <a:ext cx="5138928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9632" y="4114800"/>
            <a:ext cx="5138928" cy="91440"/>
          </a:xfrm>
          <a:prstGeom prst="roundRect">
            <a:avLst>
              <a:gd name="adj" fmla="val 50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4352544"/>
            <a:ext cx="459028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5A9367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718304"/>
            <a:ext cx="4590288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0E1735"/>
                </a:solidFill>
                <a:latin typeface="Inter"/>
                <a:cs typeface="Inter"/>
              </a:rPr>
              <a:t>Zeitabschnitt, dem Meilensteine zugeordnet werden. Gibt den Rhythmus.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5394960"/>
            <a:ext cx="4590288" cy="329184"/>
          </a:xfrm>
          <a:prstGeom prst="roundRect">
            <a:avLst>
              <a:gd name="adj" fmla="val 20000"/>
            </a:avLst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1112" y="5394960"/>
            <a:ext cx="436168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1">
                <a:solidFill>
                  <a:srgbClr val="5B6B85"/>
                </a:solidFill>
                <a:latin typeface="JetBrains Mono"/>
                <a:cs typeface="JetBrains Mono"/>
              </a:rPr>
              <a:t>PH1 · PH2 · PH3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21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BEST PRACTICES · ZGPM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Verantwortlichkeit (RACI) &amp; Risiko-Ampel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34924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RACI-Codes · Anzeige-Standard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8541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18541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führt aus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63347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2432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62432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beteiligt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307238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6324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06324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3511296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502152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502152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entscheidet mit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950208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941064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941064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steuert Fortschritt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389120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79976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JetBrains Mono"/>
                <a:cs typeface="JetBrains Mono"/>
              </a:rPr>
              <a:t>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379976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leitet &amp; steuert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97280" y="4828032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818888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4818888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wird informiert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5266944"/>
            <a:ext cx="457200" cy="310896"/>
          </a:xfrm>
          <a:prstGeom prst="roundRect">
            <a:avLst>
              <a:gd name="adj" fmla="val 20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5257800"/>
            <a:ext cx="4572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E2761"/>
                </a:solidFill>
                <a:latin typeface="JetBrains Mono"/>
                <a:cs typeface="JetBrains Mono"/>
              </a:rPr>
              <a:t>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5257800"/>
            <a:ext cx="420624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ist verfügbar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554480"/>
            <a:ext cx="4937760" cy="26060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56832" y="17373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CADCFC"/>
                </a:solidFill>
                <a:latin typeface="Inter"/>
                <a:cs typeface="Inter"/>
              </a:rPr>
              <a:t>Harte Konsistenzregeln</a:t>
            </a:r>
          </a:p>
        </p:txBody>
      </p:sp>
      <p:sp>
        <p:nvSpPr>
          <p:cNvPr id="33" name="Oval 32"/>
          <p:cNvSpPr/>
          <p:nvPr/>
        </p:nvSpPr>
        <p:spPr>
          <a:xfrm>
            <a:off x="6675120" y="2185415"/>
            <a:ext cx="109728" cy="1097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103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Mindestens ein A pro Meilenstein und Aktivität.</a:t>
            </a:r>
          </a:p>
        </p:txBody>
      </p:sp>
      <p:sp>
        <p:nvSpPr>
          <p:cNvPr id="35" name="Oval 34"/>
          <p:cNvSpPr/>
          <p:nvPr/>
        </p:nvSpPr>
        <p:spPr>
          <a:xfrm>
            <a:off x="6675120" y="2587751"/>
            <a:ext cx="109728" cy="1097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505456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Genau ein F oder L — nie mehr.</a:t>
            </a:r>
          </a:p>
        </p:txBody>
      </p:sp>
      <p:sp>
        <p:nvSpPr>
          <p:cNvPr id="37" name="Oval 36"/>
          <p:cNvSpPr/>
          <p:nvPr/>
        </p:nvSpPr>
        <p:spPr>
          <a:xfrm>
            <a:off x="6675120" y="2990087"/>
            <a:ext cx="109728" cy="1097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907791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Ein „e“ steht nie allein, immer mit einem E.</a:t>
            </a:r>
          </a:p>
        </p:txBody>
      </p:sp>
      <p:sp>
        <p:nvSpPr>
          <p:cNvPr id="39" name="Oval 38"/>
          <p:cNvSpPr/>
          <p:nvPr/>
        </p:nvSpPr>
        <p:spPr>
          <a:xfrm>
            <a:off x="6675120" y="3392423"/>
            <a:ext cx="109728" cy="1097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3310127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früh im Projekt als spät.</a:t>
            </a:r>
          </a:p>
        </p:txBody>
      </p:sp>
      <p:sp>
        <p:nvSpPr>
          <p:cNvPr id="41" name="Oval 40"/>
          <p:cNvSpPr/>
          <p:nvPr/>
        </p:nvSpPr>
        <p:spPr>
          <a:xfrm>
            <a:off x="6675120" y="3794759"/>
            <a:ext cx="109728" cy="10972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712463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FFFFFF"/>
                </a:solidFill>
                <a:latin typeface="Inter"/>
                <a:cs typeface="Inter"/>
              </a:rPr>
              <a:t>E häufiger bei Meilensteinen als bei Aktivitäten.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4297680"/>
            <a:ext cx="49377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56832" y="4462272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0E1735"/>
                </a:solidFill>
                <a:latin typeface="Inter"/>
                <a:cs typeface="Inter"/>
              </a:rPr>
              <a:t>Risiko-Ampel propagiert nach oben</a:t>
            </a:r>
          </a:p>
        </p:txBody>
      </p:sp>
      <p:sp>
        <p:nvSpPr>
          <p:cNvPr id="45" name="Oval 44"/>
          <p:cNvSpPr/>
          <p:nvPr/>
        </p:nvSpPr>
        <p:spPr>
          <a:xfrm>
            <a:off x="6675120" y="4892040"/>
            <a:ext cx="182880" cy="182880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67728" y="4846320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grün — im Plan</a:t>
            </a:r>
          </a:p>
        </p:txBody>
      </p:sp>
      <p:sp>
        <p:nvSpPr>
          <p:cNvPr id="47" name="Oval 46"/>
          <p:cNvSpPr/>
          <p:nvPr/>
        </p:nvSpPr>
        <p:spPr>
          <a:xfrm>
            <a:off x="6675120" y="5221224"/>
            <a:ext cx="182880" cy="182880"/>
          </a:xfrm>
          <a:prstGeom prst="ellipse">
            <a:avLst/>
          </a:prstGeom>
          <a:solidFill>
            <a:srgbClr val="E8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967728" y="5175504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gelb — achtgeben</a:t>
            </a:r>
          </a:p>
        </p:txBody>
      </p:sp>
      <p:sp>
        <p:nvSpPr>
          <p:cNvPr id="49" name="Oval 48"/>
          <p:cNvSpPr/>
          <p:nvPr/>
        </p:nvSpPr>
        <p:spPr>
          <a:xfrm>
            <a:off x="6675120" y="5550407"/>
            <a:ext cx="182880" cy="182880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67728" y="5504688"/>
            <a:ext cx="4206240" cy="2743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rot — Lauf stoppt, du gibst frei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22</a:t>
            </a:r>
          </a:p>
        </p:txBody>
      </p:sp>
      <p:pic>
        <p:nvPicPr>
          <p:cNvPr id="53" name="Picture 52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Fünf Prinzipien für gute Agentensysteme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1645920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645920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773936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Einfachheit vor Raffinesse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2066544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So wenig Agenten wie nötig — Komplexität nur, wenn sie sich auszahlt.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505456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41248" y="2505456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505456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633472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Transparenz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926080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Der geplante Denkweg der Agenten ist sichtbar, nicht versteckt.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364992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" y="3364992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364992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493008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Agent-Computer-Interface zuerst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3785616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Werkzeuge so gestalten, dass Agenten sie eindeutig nutzen können.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4224528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4224528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24528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4352544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Kontext teilen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645152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Volle Verläufe weitergeben, nicht nur einzelne Nachrichten.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5084064"/>
            <a:ext cx="10479024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084064"/>
            <a:ext cx="914400" cy="786384"/>
          </a:xfrm>
          <a:prstGeom prst="roundRect">
            <a:avLst>
              <a:gd name="adj" fmla="val 8000"/>
            </a:avLst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084064"/>
            <a:ext cx="914400" cy="7863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Inter"/>
                <a:cs typeface="Inter"/>
              </a:rPr>
              <a:t>P5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5212080"/>
            <a:ext cx="90525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Handlungen tragen Entscheidungen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65960" y="5504688"/>
            <a:ext cx="90525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5B6B85"/>
                </a:solidFill>
                <a:latin typeface="Inter"/>
                <a:cs typeface="Inter"/>
              </a:rPr>
              <a:t>Jede Aktion eines Agenten ist implizit eine Entscheidung — Konflikte vermeiden.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23</a:t>
            </a:r>
          </a:p>
        </p:txBody>
      </p:sp>
      <p:pic>
        <p:nvPicPr>
          <p:cNvPr id="32" name="Picture 31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5A9367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Pflicht-Muster in jedem 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91056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Orchestrator-Worker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91056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Lead zerlegt &amp; delegiert mit klarem Auftrag und Output-Schema.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920240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792224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Evaluator-Optimizer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84832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Reviewer prüft gegen Regeln; max 3 Runden, dann HITL.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91056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Parallel-Tool-Calling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Unabhängige Werkzeuge laufen gleichzeitig — bis zu 90% Zeit gespart.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779776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3054096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0540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2926080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Filesystem-Artifact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218688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Große Ergebnisse in Dateien, nur Referenz zurückgeben.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91056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Checkpoint &amp; Resume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91056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Zustand nach jedem Knoten sichern; nach Absturz fortsetzen.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913632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4187952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879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059936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Sectioning der Guardrails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352544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Leitplanken als eigener Prüf-Aufruf, nicht im Worker-Prompt.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91056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HITL an festen Punkten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91056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Meilenstein, rotes Risiko, neue Skill, Budget-Überschreitung.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5047488"/>
            <a:ext cx="5138928" cy="987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5321807"/>
            <a:ext cx="384048" cy="384048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5321807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193792"/>
            <a:ext cx="422452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E1735"/>
                </a:solidFill>
                <a:latin typeface="Inter"/>
                <a:cs typeface="Inter"/>
              </a:rPr>
              <a:t>End-State-Evaluation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486400"/>
            <a:ext cx="4224528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030" b="0" i="0">
                <a:solidFill>
                  <a:srgbClr val="5B6B85"/>
                </a:solidFill>
                <a:latin typeface="Inter"/>
                <a:cs typeface="Inter"/>
              </a:rPr>
              <a:t>Endzustand je Meilenstein bewerten — nicht jeden Zwischenschritt.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24</a:t>
            </a:r>
          </a:p>
        </p:txBody>
      </p:sp>
      <p:pic>
        <p:nvPicPr>
          <p:cNvPr id="47" name="Picture 4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C3423F"/>
                </a:solidFill>
                <a:latin typeface="Inter"/>
                <a:cs typeface="Inter"/>
              </a:rPr>
              <a:t>BEST PRACTICES · AGENT-HARNESS (ANTHROPIC)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Anti-Muster, die der Reviewer hart flaggt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6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2416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Vage Delegation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„Recherchiere X“ ohne Ziel, Schema und Grenzen.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645920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0" y="1865376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653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576" y="1737360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Über-Spawning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4576" y="2029968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50 Subagenten für eine einfache Anfrage.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2416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Routing im Prompt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Steuerlogik gehört in Code, nicht in den Prompt.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2542032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0800" y="2761488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7614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633472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Eine LLM-Antwort für alles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926080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Guardrail und Inhalt im selben Aufruf vermischt.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42416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6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Kein Checkpoint/Retry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 Wiederaufsetzen nach Fehlern.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99632" y="3438144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00800" y="3657600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65760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3529584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Sequenziell statt parallel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94576" y="3822191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Werkzeuge nacheinander, obwohl parallel möglich.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2416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241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Endlosschleifen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Keine Stop-Bedingung, kein Iterations-Limit.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4334256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00800" y="4553712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4576" y="4425696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Skills triggern zu breit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94576" y="4718304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Fähigkeiten greifen, wo sie nicht sollen.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42416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42416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36192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Relative Pfade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36192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In zustandsbehafteten Agenten brechen sie.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199632" y="5230368"/>
            <a:ext cx="5138928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400800" y="5449824"/>
            <a:ext cx="347472" cy="347472"/>
          </a:xfrm>
          <a:prstGeom prst="ellipse">
            <a:avLst/>
          </a:prstGeom>
          <a:solidFill>
            <a:srgbClr val="C342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0" y="54498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94576" y="5321807"/>
            <a:ext cx="42702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E1735"/>
                </a:solidFill>
                <a:latin typeface="Inter"/>
                <a:cs typeface="Inter"/>
              </a:rPr>
              <a:t>Token-Budget ohne Prüfung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94576" y="5614416"/>
            <a:ext cx="4270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80" b="0" i="0">
                <a:solidFill>
                  <a:srgbClr val="5B6B85"/>
                </a:solidFill>
                <a:latin typeface="Inter"/>
                <a:cs typeface="Inter"/>
              </a:rPr>
              <a:t>Budgets, die nie validiert werden.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25</a:t>
            </a:r>
          </a:p>
        </p:txBody>
      </p:sp>
      <p:pic>
        <p:nvPicPr>
          <p:cNvPr id="57" name="Picture 56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ZGPM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Meilenstein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Erreichter Zustand zu einem Termin (Verb im Perfekt).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Aktivität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Arbeit, die vor dem Meilenstein erledigt sein muss.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Ergebnispfad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Strang gleichartiger Ergebnisse (z. B. P/S/O).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Phase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Zeitabschnitt, der Meilensteine bündelt.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MSP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Meilensteinplan — Phasen, Pfade, Ampel auf einen Blick.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PVM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Projektverantwortlichkeitsmatrix (RACI-Vorläufer).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PRL / MRL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Projekt- bzw. Meilenstein-Risikoliste.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Ampel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Risiko-Status grün/gelb/rot, propagiert nach oben.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26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E2761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Glossar — Agentik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Digitaler Mitarbeiter mit Rolle, Auftrag und Werkzeugen.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1554480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554480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1645920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Subagent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1901952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Agent mit isoliertem Kontext für abgegrenzte Arbeit.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Wiederverwendbares Wissen/Werkzeug als SKILL.md.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2542032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2542032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633472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889504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Deterministische Regel (z. B. Stopp bei rotem Risiko).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Orchestrator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Lead-Agent, der zerlegt und delegiert (hier: PMO).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3529584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2" y="3529584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7376" y="3621024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HITL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3877056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Human-in-the-Loop — du als Freigabe-Instanz.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Harness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Portables Paket aus CLAUDE.md, Skills, Agenten, Plan.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99632" y="4517136"/>
            <a:ext cx="5138928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4517136"/>
            <a:ext cx="64008" cy="841248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4608576"/>
            <a:ext cx="4727448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E2761"/>
                </a:solidFill>
                <a:latin typeface="Inter"/>
                <a:cs typeface="Inter"/>
              </a:rPr>
              <a:t>Cowork / Claude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7376" y="4864608"/>
            <a:ext cx="4681728" cy="47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19" b="0" i="0">
                <a:solidFill>
                  <a:srgbClr val="5B6B85"/>
                </a:solidFill>
                <a:latin typeface="Inter"/>
                <a:cs typeface="Inter"/>
              </a:rPr>
              <a:t>Umgebung, in der das Harness läuft.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27</a:t>
            </a:r>
          </a:p>
        </p:txBody>
      </p:sp>
      <p:pic>
        <p:nvPicPr>
          <p:cNvPr id="39" name="Picture 38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5486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E6B32F"/>
                </a:solidFill>
                <a:latin typeface="Inter"/>
                <a:cs typeface="Inter"/>
              </a:rPr>
              <a:t>REFERENZ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76656"/>
            <a:ext cx="1051560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0E1735"/>
                </a:solidFill>
                <a:latin typeface="Inter"/>
                <a:cs typeface="Inter"/>
              </a:rPr>
              <a:t>Schnellreferenz: der ganze Weg auf einer Seite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554480"/>
            <a:ext cx="64008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E1735"/>
                </a:solidFill>
                <a:latin typeface="Inter"/>
                <a:cs typeface="Inter"/>
              </a:rPr>
              <a:t>Die neun Schritte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48840"/>
            <a:ext cx="310896" cy="31089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13055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 in eigenen Worten beschreiben.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2546604"/>
            <a:ext cx="310896" cy="31089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4660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252831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Schärfungs-Interview beantworten (McK).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2944368"/>
            <a:ext cx="310896" cy="31089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4436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926080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Verständnis &amp; Agentenstruktur freigeben.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342132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34213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323844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Projekte verwalten — speichern, kopieren, löschen.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3739896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73989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36192" y="3721608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Leitplanken kennen — was geht, was nicht.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4137659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13765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119372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ZGPM-Plan lesen: Gantt, RACI, Risiko, Token.</a:t>
            </a:r>
          </a:p>
        </p:txBody>
      </p:sp>
      <p:sp>
        <p:nvSpPr>
          <p:cNvPr id="25" name="Oval 24"/>
          <p:cNvSpPr/>
          <p:nvPr/>
        </p:nvSpPr>
        <p:spPr>
          <a:xfrm>
            <a:off x="1097280" y="4535423"/>
            <a:ext cx="310896" cy="310896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97280" y="4535423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17136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Am Bildschirm anpassen — Text &amp; Sprache.</a:t>
            </a:r>
          </a:p>
        </p:txBody>
      </p:sp>
      <p:sp>
        <p:nvSpPr>
          <p:cNvPr id="28" name="Oval 27"/>
          <p:cNvSpPr/>
          <p:nvPr/>
        </p:nvSpPr>
        <p:spPr>
          <a:xfrm>
            <a:off x="1097280" y="4933187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933187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4914899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Harness mitgestalten — Artefakte &amp; Kommandos.</a:t>
            </a:r>
          </a:p>
        </p:txBody>
      </p:sp>
      <p:sp>
        <p:nvSpPr>
          <p:cNvPr id="31" name="Oval 30"/>
          <p:cNvSpPr/>
          <p:nvPr/>
        </p:nvSpPr>
        <p:spPr>
          <a:xfrm>
            <a:off x="1097280" y="5330951"/>
            <a:ext cx="310896" cy="310896"/>
          </a:xfrm>
          <a:prstGeom prst="ellipse">
            <a:avLst/>
          </a:prstGeom>
          <a:solidFill>
            <a:srgbClr val="5A93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30951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Inter"/>
                <a:cs typeface="Inter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6192" y="5312663"/>
            <a:ext cx="548640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0E1735"/>
                </a:solidFill>
                <a:latin typeface="Inter"/>
                <a:cs typeface="Inter"/>
              </a:rPr>
              <a:t>Als Zip exportieren → Claude Cowork / Code.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1554480"/>
            <a:ext cx="3931920" cy="214884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62672" y="1719072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ADCFC"/>
                </a:solidFill>
                <a:latin typeface="Inter"/>
                <a:cs typeface="Inter"/>
              </a:rPr>
              <a:t>Deine 3 Kontrollpunkte</a:t>
            </a:r>
          </a:p>
        </p:txBody>
      </p:sp>
      <p:sp>
        <p:nvSpPr>
          <p:cNvPr id="36" name="Oval 35"/>
          <p:cNvSpPr/>
          <p:nvPr/>
        </p:nvSpPr>
        <p:spPr>
          <a:xfrm>
            <a:off x="7662672" y="2148840"/>
            <a:ext cx="310896" cy="31089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62672" y="214884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83296" y="212140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Meilenstein-Freigabe</a:t>
            </a:r>
          </a:p>
        </p:txBody>
      </p:sp>
      <p:sp>
        <p:nvSpPr>
          <p:cNvPr id="39" name="Oval 38"/>
          <p:cNvSpPr/>
          <p:nvPr/>
        </p:nvSpPr>
        <p:spPr>
          <a:xfrm>
            <a:off x="7662672" y="2624328"/>
            <a:ext cx="310896" cy="31089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62672" y="2624328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83296" y="2596896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Rote Risiko-Ampel</a:t>
            </a:r>
          </a:p>
        </p:txBody>
      </p:sp>
      <p:sp>
        <p:nvSpPr>
          <p:cNvPr id="42" name="Oval 41"/>
          <p:cNvSpPr/>
          <p:nvPr/>
        </p:nvSpPr>
        <p:spPr>
          <a:xfrm>
            <a:off x="7662672" y="3099816"/>
            <a:ext cx="310896" cy="310896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62672" y="3099816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E1735"/>
                </a:solidFill>
                <a:latin typeface="Inter"/>
                <a:cs typeface="Inter"/>
              </a:rPr>
              <a:t>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83296" y="3072384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FFFFFF"/>
                </a:solidFill>
                <a:latin typeface="Inter"/>
                <a:cs typeface="Inter"/>
              </a:rPr>
              <a:t>Skill-Aufnahme ins Harness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886200"/>
            <a:ext cx="39319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342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62672" y="4041648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3423F"/>
                </a:solidFill>
                <a:latin typeface="Inter"/>
                <a:cs typeface="Inter"/>
              </a:rPr>
              <a:t>Was nie geht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99248" y="4407408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Waffen &amp; Dual-Use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99248" y="469087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Bio/Chemie/Nuklear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974336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Diskriminierung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525780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Malware &amp; Exploits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5541264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C3423F"/>
                </a:solidFill>
                <a:latin typeface="Inter"/>
                <a:cs typeface="Inter"/>
              </a:rPr>
              <a:t>✕  </a:t>
            </a:r>
            <a:r>
              <a:rPr sz="1080" b="0" i="0">
                <a:solidFill>
                  <a:srgbClr val="0E1735"/>
                </a:solidFill>
                <a:latin typeface="Inter"/>
                <a:cs typeface="Inter"/>
              </a:rPr>
              <a:t>EU-AI-Act-Verbote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" y="643737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A93A6"/>
                </a:solidFill>
                <a:latin typeface="Inter"/>
                <a:cs typeface="Inter"/>
              </a:rPr>
              <a:t>AEGIRA Agent Operating Model Planner · User Guide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607040" y="6437376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8A93A6"/>
                </a:solidFill>
                <a:latin typeface="Inter"/>
                <a:cs typeface="Inter"/>
              </a:rPr>
              <a:t>28</a:t>
            </a:r>
          </a:p>
        </p:txBody>
      </p:sp>
      <p:pic>
        <p:nvPicPr>
          <p:cNvPr id="54" name="Picture 53" descr="aegira-signet-navy-transparent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424" y="329184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egira-lockup-white-transparent-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658368"/>
            <a:ext cx="2617740" cy="4754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1248" y="20574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FFFFFF"/>
                </a:solidFill>
                <a:latin typeface="Inter"/>
                <a:cs typeface="Inter"/>
              </a:rPr>
              <a:t>Du startest mit Worten.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3600" b="1" i="0">
                <a:solidFill>
                  <a:srgbClr val="CADCFC"/>
                </a:solidFill>
                <a:latin typeface="Inter"/>
                <a:cs typeface="Inter"/>
              </a:rPr>
              <a:t>Du endest mit einem lauffähigen Agententeam.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114800"/>
            <a:ext cx="822960" cy="45720"/>
          </a:xfrm>
          <a:prstGeom prst="rect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1248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15568" y="4645152"/>
            <a:ext cx="384048" cy="38404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4208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Beschreiben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Öffne den Planner und beschreibe dein Projekt.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09160" y="4645152"/>
            <a:ext cx="384048" cy="38404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Freigeben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Schärfe das Verständnis und gib es frei.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4434840"/>
            <a:ext cx="3291840" cy="1234440"/>
          </a:xfrm>
          <a:prstGeom prst="roundRect">
            <a:avLst>
              <a:gd name="adj" fmla="val 8000"/>
            </a:avLst>
          </a:prstGeom>
          <a:solidFill>
            <a:srgbClr val="162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02752" y="4645152"/>
            <a:ext cx="384048" cy="384048"/>
          </a:xfrm>
          <a:prstGeom prst="ellipse">
            <a:avLst/>
          </a:prstGeom>
          <a:solidFill>
            <a:srgbClr val="E6B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464515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Inter"/>
                <a:cs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4645152"/>
            <a:ext cx="2286000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Inter"/>
                <a:cs typeface="Inter"/>
              </a:rPr>
              <a:t>Bauen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5138928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CADCFC"/>
                </a:solidFill>
                <a:latin typeface="Inter"/>
                <a:cs typeface="Inter"/>
              </a:rPr>
              <a:t>Lass den Harness bauen und exportiere ihn.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72784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8A93A6"/>
                </a:solidFill>
                <a:latin typeface="Inter"/>
                <a:cs typeface="Inter"/>
              </a:rPr>
              <a:t>exmachinAI · AEGIRA AI Trust Platform · zgpm.aegira.ai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